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320040" y="-137160"/>
            <a:ext cx="3886200" cy="1024128"/>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247888" y="5989320"/>
            <a:ext cx="4160520" cy="1024128"/>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985e423d-ca97-4670-a2c8-fc9a156df9ee.png"/>
          <p:cNvPicPr>
            <a:picLocks noChangeAspect="1"/>
          </p:cNvPicPr>
          <p:nvPr/>
        </p:nvPicPr>
        <p:blipFill>
          <a:blip r:embed="rId2"/>
          <a:stretch>
            <a:fillRect/>
          </a:stretch>
        </p:blipFill>
        <p:spPr>
          <a:xfrm>
            <a:off x="10302509" y="54864"/>
            <a:ext cx="1670033" cy="841248"/>
          </a:xfrm>
          <a:prstGeom prst="rect">
            <a:avLst/>
          </a:prstGeom>
        </p:spPr>
      </p:pic>
      <p:sp>
        <p:nvSpPr>
          <p:cNvPr id="5" name="TextBox 4"/>
          <p:cNvSpPr txBox="1"/>
          <p:nvPr/>
        </p:nvSpPr>
        <p:spPr>
          <a:xfrm>
            <a:off x="438912" y="1645920"/>
            <a:ext cx="11292840" cy="1554480"/>
          </a:xfrm>
          <a:prstGeom prst="rect">
            <a:avLst/>
          </a:prstGeom>
          <a:noFill/>
        </p:spPr>
        <p:txBody>
          <a:bodyPr wrap="none">
            <a:spAutoFit/>
          </a:bodyPr>
          <a:lstStyle/>
          <a:p>
            <a:pPr algn="ctr"/>
            <a:r>
              <a:rPr sz="3500" b="1">
                <a:solidFill>
                  <a:srgbClr val="0F3F6F"/>
                </a:solidFill>
                <a:latin typeface="Aptos Narrow"/>
              </a:rPr>
              <a:t>Xử lý, truy vấn, phân tích và
trực quan hóa dữ liệu lớn</a:t>
            </a:r>
          </a:p>
        </p:txBody>
      </p:sp>
      <p:sp>
        <p:nvSpPr>
          <p:cNvPr id="6" name="TextBox 5"/>
          <p:cNvSpPr txBox="1"/>
          <p:nvPr/>
        </p:nvSpPr>
        <p:spPr>
          <a:xfrm>
            <a:off x="438912" y="3182112"/>
            <a:ext cx="11292840" cy="2240280"/>
          </a:xfrm>
          <a:prstGeom prst="rect">
            <a:avLst/>
          </a:prstGeom>
          <a:noFill/>
        </p:spPr>
        <p:txBody>
          <a:bodyPr wrap="none">
            <a:spAutoFit/>
          </a:bodyPr>
          <a:lstStyle/>
          <a:p>
            <a:pPr algn="ctr"/>
            <a:r>
              <a:rPr sz="1320">
                <a:solidFill>
                  <a:srgbClr val="435266"/>
                </a:solidFill>
                <a:latin typeface="Aptos"/>
              </a:rPr>
              <a:t>3.1 Kiến trúc xử lý  •  3.2 Apache Spark  •  3.3 Kiến trúc Spark  •  3.4 Spark Ecosystem  •  3.5 PySpark
3.6 SQL  •  3.7 SQL → Pandas → PySpark  •  3.8 Kafka  •  3.9 Flink  •  3.10 NumPy/Pandas/PySpark
3.11 Vai trò trực quan hóa  •  3.12 Matplotlib  •  3.13 Seaborn  •  3.14 BI Tools  •  Thực hành
Bổ sung theo đề cương: kết nối Python với Spark/NoSQL, chọn công cụ theo quy mô và pipeline CSV → SQL/Pandas/PySpark → Visualization.</a:t>
            </a:r>
          </a:p>
        </p:txBody>
      </p:sp>
      <p:sp>
        <p:nvSpPr>
          <p:cNvPr id="7" name="TextBox 6"/>
          <p:cNvSpPr txBox="1"/>
          <p:nvPr/>
        </p:nvSpPr>
        <p:spPr>
          <a:xfrm>
            <a:off x="713232" y="6217920"/>
            <a:ext cx="2011680" cy="256032"/>
          </a:xfrm>
          <a:prstGeom prst="rect">
            <a:avLst/>
          </a:prstGeom>
          <a:noFill/>
        </p:spPr>
        <p:txBody>
          <a:bodyPr wrap="none">
            <a:spAutoFit/>
          </a:bodyPr>
          <a:lstStyle/>
          <a:p>
            <a:r>
              <a:rPr sz="1600" b="1">
                <a:solidFill>
                  <a:srgbClr val="FFFFFF"/>
                </a:solidFill>
                <a:latin typeface="Aptos Narrow"/>
              </a:rPr>
              <a:t>Bài 3</a:t>
            </a:r>
          </a:p>
        </p:txBody>
      </p:sp>
      <p:sp>
        <p:nvSpPr>
          <p:cNvPr id="8" name="TextBox 7"/>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Bài 3 tiếp nối trực tiếp Bài 2</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a:t>
            </a:r>
          </a:p>
        </p:txBody>
      </p:sp>
      <p:pic>
        <p:nvPicPr>
          <p:cNvPr id="8" name="Picture 7" descr="body-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Chương trình buổi học (4 giờ)</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a:t>
            </a:r>
          </a:p>
        </p:txBody>
      </p:sp>
      <p:pic>
        <p:nvPicPr>
          <p:cNvPr id="8" name="Picture 7" descr="body-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Mục tiêu học tập</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a:t>
            </a:r>
          </a:p>
        </p:txBody>
      </p:sp>
      <p:pic>
        <p:nvPicPr>
          <p:cNvPr id="8" name="Picture 7" descr="body-4.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Lộ trình khóa học Big Data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a:t>
            </a:r>
          </a:p>
        </p:txBody>
      </p:sp>
      <p:pic>
        <p:nvPicPr>
          <p:cNvPr id="8" name="Picture 7" descr="body-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3.1</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Kiến trúc xử lý dữ liệu lớn</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Batch, Stream, Real-time, Distributed và Parallel Processing</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Các mô hình xử lý dữ liệu lớn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7</a:t>
            </a:r>
          </a:p>
        </p:txBody>
      </p:sp>
      <p:pic>
        <p:nvPicPr>
          <p:cNvPr id="8" name="Picture 7" descr="body-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So sánh Batch và Streaming</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8</a:t>
            </a:r>
          </a:p>
        </p:txBody>
      </p:sp>
      <p:pic>
        <p:nvPicPr>
          <p:cNvPr id="8" name="Picture 7" descr="body-8.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Một pipeline xử lý dữ liệu lớn điển hình</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9</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Bài 3 chuyển từ kiến trúc lưu trữ ở Bài 2 sang cách dữ liệu thực sự được xử lý và đưa tới người dùng.</a:t>
            </a:r>
          </a:p>
        </p:txBody>
      </p:sp>
      <p:sp>
        <p:nvSpPr>
          <p:cNvPr id="9" name="Rounded Rectangle 8"/>
          <p:cNvSpPr/>
          <p:nvPr/>
        </p:nvSpPr>
        <p:spPr>
          <a:xfrm>
            <a:off x="5943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39112"/>
            <a:ext cx="1929384" cy="411480"/>
          </a:xfrm>
          <a:prstGeom prst="rect">
            <a:avLst/>
          </a:prstGeom>
          <a:noFill/>
        </p:spPr>
        <p:txBody>
          <a:bodyPr wrap="none">
            <a:spAutoFit/>
          </a:bodyPr>
          <a:lstStyle/>
          <a:p>
            <a:r>
              <a:rPr sz="1800" b="1">
                <a:solidFill>
                  <a:srgbClr val="0F3F6F"/>
                </a:solidFill>
                <a:latin typeface="Aptos Narrow"/>
              </a:rPr>
              <a:t>Nguồn</a:t>
            </a:r>
          </a:p>
        </p:txBody>
      </p:sp>
      <p:sp>
        <p:nvSpPr>
          <p:cNvPr id="11" name="TextBox 10"/>
          <p:cNvSpPr txBox="1"/>
          <p:nvPr/>
        </p:nvSpPr>
        <p:spPr>
          <a:xfrm>
            <a:off x="704088" y="2468879"/>
            <a:ext cx="1929384" cy="1920239"/>
          </a:xfrm>
          <a:prstGeom prst="rect">
            <a:avLst/>
          </a:prstGeom>
          <a:noFill/>
        </p:spPr>
        <p:txBody>
          <a:bodyPr wrap="square">
            <a:spAutoFit/>
          </a:bodyPr>
          <a:lstStyle/>
          <a:p>
            <a:r>
              <a:rPr sz="1420">
                <a:solidFill>
                  <a:srgbClr val="435266"/>
                </a:solidFill>
                <a:latin typeface="Aptos"/>
              </a:rPr>
              <a:t>• CSV / Database</a:t>
            </a:r>
          </a:p>
          <a:p>
            <a:r>
              <a:rPr sz="1420">
                <a:solidFill>
                  <a:srgbClr val="435266"/>
                </a:solidFill>
                <a:latin typeface="Aptos"/>
              </a:rPr>
              <a:t>• IoT / Log</a:t>
            </a:r>
          </a:p>
          <a:p>
            <a:r>
              <a:rPr sz="1420">
                <a:solidFill>
                  <a:srgbClr val="435266"/>
                </a:solidFill>
                <a:latin typeface="Aptos"/>
              </a:rPr>
              <a:t>• Transaction</a:t>
            </a:r>
          </a:p>
        </p:txBody>
      </p:sp>
      <p:cxnSp>
        <p:nvCxnSpPr>
          <p:cNvPr id="12" name="Connector 11"/>
          <p:cNvCxnSpPr/>
          <p:nvPr/>
        </p:nvCxnSpPr>
        <p:spPr>
          <a:xfrm>
            <a:off x="27432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874519"/>
            <a:ext cx="2148840" cy="265176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2039112"/>
            <a:ext cx="1929384" cy="411480"/>
          </a:xfrm>
          <a:prstGeom prst="rect">
            <a:avLst/>
          </a:prstGeom>
          <a:noFill/>
        </p:spPr>
        <p:txBody>
          <a:bodyPr wrap="none">
            <a:spAutoFit/>
          </a:bodyPr>
          <a:lstStyle/>
          <a:p>
            <a:r>
              <a:rPr sz="1800" b="1">
                <a:solidFill>
                  <a:srgbClr val="0F3F6F"/>
                </a:solidFill>
                <a:latin typeface="Aptos Narrow"/>
              </a:rPr>
              <a:t>Ingestion</a:t>
            </a:r>
          </a:p>
        </p:txBody>
      </p:sp>
      <p:sp>
        <p:nvSpPr>
          <p:cNvPr id="15" name="TextBox 14"/>
          <p:cNvSpPr txBox="1"/>
          <p:nvPr/>
        </p:nvSpPr>
        <p:spPr>
          <a:xfrm>
            <a:off x="3447288" y="2468879"/>
            <a:ext cx="1929384" cy="1920239"/>
          </a:xfrm>
          <a:prstGeom prst="rect">
            <a:avLst/>
          </a:prstGeom>
          <a:noFill/>
        </p:spPr>
        <p:txBody>
          <a:bodyPr wrap="square">
            <a:spAutoFit/>
          </a:bodyPr>
          <a:lstStyle/>
          <a:p>
            <a:r>
              <a:rPr sz="1420">
                <a:solidFill>
                  <a:srgbClr val="435266"/>
                </a:solidFill>
                <a:latin typeface="Aptos"/>
              </a:rPr>
              <a:t>• Batch file</a:t>
            </a:r>
          </a:p>
          <a:p>
            <a:r>
              <a:rPr sz="1420">
                <a:solidFill>
                  <a:srgbClr val="435266"/>
                </a:solidFill>
                <a:latin typeface="Aptos"/>
              </a:rPr>
              <a:t>• Kafka / API</a:t>
            </a:r>
          </a:p>
          <a:p>
            <a:r>
              <a:rPr sz="1420">
                <a:solidFill>
                  <a:srgbClr val="435266"/>
                </a:solidFill>
                <a:latin typeface="Aptos"/>
              </a:rPr>
              <a:t>• Thu nhận liên tục</a:t>
            </a:r>
          </a:p>
        </p:txBody>
      </p:sp>
      <p:cxnSp>
        <p:nvCxnSpPr>
          <p:cNvPr id="16" name="Connector 15"/>
          <p:cNvCxnSpPr/>
          <p:nvPr/>
        </p:nvCxnSpPr>
        <p:spPr>
          <a:xfrm>
            <a:off x="54864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1874519"/>
            <a:ext cx="2148840" cy="265176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39112"/>
            <a:ext cx="1929384" cy="411480"/>
          </a:xfrm>
          <a:prstGeom prst="rect">
            <a:avLst/>
          </a:prstGeom>
          <a:noFill/>
        </p:spPr>
        <p:txBody>
          <a:bodyPr wrap="none">
            <a:spAutoFit/>
          </a:bodyPr>
          <a:lstStyle/>
          <a:p>
            <a:r>
              <a:rPr sz="1800" b="1">
                <a:solidFill>
                  <a:srgbClr val="0F3F6F"/>
                </a:solidFill>
                <a:latin typeface="Aptos Narrow"/>
              </a:rPr>
              <a:t>Processing</a:t>
            </a:r>
          </a:p>
        </p:txBody>
      </p:sp>
      <p:sp>
        <p:nvSpPr>
          <p:cNvPr id="19" name="TextBox 18"/>
          <p:cNvSpPr txBox="1"/>
          <p:nvPr/>
        </p:nvSpPr>
        <p:spPr>
          <a:xfrm>
            <a:off x="6190488" y="2468879"/>
            <a:ext cx="1929384" cy="1920239"/>
          </a:xfrm>
          <a:prstGeom prst="rect">
            <a:avLst/>
          </a:prstGeom>
          <a:noFill/>
        </p:spPr>
        <p:txBody>
          <a:bodyPr wrap="square">
            <a:spAutoFit/>
          </a:bodyPr>
          <a:lstStyle/>
          <a:p>
            <a:r>
              <a:rPr sz="1420">
                <a:solidFill>
                  <a:srgbClr val="435266"/>
                </a:solidFill>
                <a:latin typeface="Aptos"/>
              </a:rPr>
              <a:t>• Pandas</a:t>
            </a:r>
          </a:p>
          <a:p>
            <a:r>
              <a:rPr sz="1420">
                <a:solidFill>
                  <a:srgbClr val="435266"/>
                </a:solidFill>
                <a:latin typeface="Aptos"/>
              </a:rPr>
              <a:t>• Spark</a:t>
            </a:r>
          </a:p>
          <a:p>
            <a:r>
              <a:rPr sz="1420">
                <a:solidFill>
                  <a:srgbClr val="435266"/>
                </a:solidFill>
                <a:latin typeface="Aptos"/>
              </a:rPr>
              <a:t>• Flink / Streaming</a:t>
            </a:r>
          </a:p>
        </p:txBody>
      </p:sp>
      <p:cxnSp>
        <p:nvCxnSpPr>
          <p:cNvPr id="20" name="Connector 19"/>
          <p:cNvCxnSpPr/>
          <p:nvPr/>
        </p:nvCxnSpPr>
        <p:spPr>
          <a:xfrm>
            <a:off x="82296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33688" y="2039112"/>
            <a:ext cx="1929384" cy="411480"/>
          </a:xfrm>
          <a:prstGeom prst="rect">
            <a:avLst/>
          </a:prstGeom>
          <a:noFill/>
        </p:spPr>
        <p:txBody>
          <a:bodyPr wrap="none">
            <a:spAutoFit/>
          </a:bodyPr>
          <a:lstStyle/>
          <a:p>
            <a:r>
              <a:rPr sz="1800" b="1">
                <a:solidFill>
                  <a:srgbClr val="0F3F6F"/>
                </a:solidFill>
                <a:latin typeface="Aptos Narrow"/>
              </a:rPr>
              <a:t>Output</a:t>
            </a:r>
          </a:p>
        </p:txBody>
      </p:sp>
      <p:sp>
        <p:nvSpPr>
          <p:cNvPr id="23" name="TextBox 22"/>
          <p:cNvSpPr txBox="1"/>
          <p:nvPr/>
        </p:nvSpPr>
        <p:spPr>
          <a:xfrm>
            <a:off x="8933688" y="2468879"/>
            <a:ext cx="1929384" cy="1920239"/>
          </a:xfrm>
          <a:prstGeom prst="rect">
            <a:avLst/>
          </a:prstGeom>
          <a:noFill/>
        </p:spPr>
        <p:txBody>
          <a:bodyPr wrap="square">
            <a:spAutoFit/>
          </a:bodyPr>
          <a:lstStyle/>
          <a:p>
            <a:r>
              <a:rPr sz="1420">
                <a:solidFill>
                  <a:srgbClr val="435266"/>
                </a:solidFill>
                <a:latin typeface="Aptos"/>
              </a:rPr>
              <a:t>• SQL result</a:t>
            </a:r>
          </a:p>
          <a:p>
            <a:r>
              <a:rPr sz="1420">
                <a:solidFill>
                  <a:srgbClr val="435266"/>
                </a:solidFill>
                <a:latin typeface="Aptos"/>
              </a:rPr>
              <a:t>• Dashboard</a:t>
            </a:r>
          </a:p>
          <a:p>
            <a:r>
              <a:rPr sz="1420">
                <a:solidFill>
                  <a:srgbClr val="435266"/>
                </a:solidFill>
                <a:latin typeface="Aptos"/>
              </a:rPr>
              <a:t>• Cảnh báo / báo cáo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3.2</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Apache Spark</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Spark là gì, vì sao ra đời và khác biệt so với Hadoop MapReduce</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Apache Spark là gì? Tại sao Spark ra đời?</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11</a:t>
            </a:r>
          </a:p>
        </p:txBody>
      </p:sp>
      <p:pic>
        <p:nvPicPr>
          <p:cNvPr id="8" name="Picture 7" descr="body-10.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Spark và Hadoop MapReduce</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12</a:t>
            </a:r>
          </a:p>
        </p:txBody>
      </p:sp>
      <p:pic>
        <p:nvPicPr>
          <p:cNvPr id="8" name="Picture 7" descr="body-11.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3.3</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Kiến trúc Spark</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Driver, Executor, Worker Node, Cluster Manager, Job, Stage, Task</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Sơ đồ kiến trúc cụm Spark</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15</a:t>
            </a:r>
          </a:p>
        </p:txBody>
      </p:sp>
      <p:pic>
        <p:nvPicPr>
          <p:cNvPr id="8" name="Picture 7" descr="body-1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3.4</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Spark Ecosystem</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Các thành phần: Spark Core, Spark SQL, Structured Streaming, MLlib, GraphX</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Các thành phần trong Spark Ecosystem</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17</a:t>
            </a:r>
          </a:p>
        </p:txBody>
      </p:sp>
      <p:pic>
        <p:nvPicPr>
          <p:cNvPr id="8" name="Picture 7" descr="body-1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Chọn thành phần Spark theo workload</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18</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Mục tiêu là nhận biết đúng module, không cần học sâu tất cả API ở Bài 3.</a:t>
            </a:r>
          </a:p>
        </p:txBody>
      </p:sp>
      <p:sp>
        <p:nvSpPr>
          <p:cNvPr id="9" name="Rectangle 8"/>
          <p:cNvSpPr/>
          <p:nvPr/>
        </p:nvSpPr>
        <p:spPr>
          <a:xfrm>
            <a:off x="685800" y="1554480"/>
            <a:ext cx="2971800"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Nhu cầu</a:t>
            </a:r>
          </a:p>
        </p:txBody>
      </p:sp>
      <p:sp>
        <p:nvSpPr>
          <p:cNvPr id="10" name="Rectangle 9"/>
          <p:cNvSpPr/>
          <p:nvPr/>
        </p:nvSpPr>
        <p:spPr>
          <a:xfrm>
            <a:off x="3840480" y="1554480"/>
            <a:ext cx="3429000"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Công cụ phù hợp</a:t>
            </a:r>
          </a:p>
        </p:txBody>
      </p:sp>
      <p:sp>
        <p:nvSpPr>
          <p:cNvPr id="11" name="Rectangle 10"/>
          <p:cNvSpPr/>
          <p:nvPr/>
        </p:nvSpPr>
        <p:spPr>
          <a:xfrm>
            <a:off x="7452360" y="1554480"/>
            <a:ext cx="3977639"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Lý do</a:t>
            </a:r>
          </a:p>
        </p:txBody>
      </p:sp>
      <p:sp>
        <p:nvSpPr>
          <p:cNvPr id="12" name="Rectangle 11"/>
          <p:cNvSpPr/>
          <p:nvPr/>
        </p:nvSpPr>
        <p:spPr>
          <a:xfrm>
            <a:off x="685800" y="2212848"/>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ETL / xử lý batch</a:t>
            </a:r>
          </a:p>
        </p:txBody>
      </p:sp>
      <p:sp>
        <p:nvSpPr>
          <p:cNvPr id="13" name="Rectangle 12"/>
          <p:cNvSpPr/>
          <p:nvPr/>
        </p:nvSpPr>
        <p:spPr>
          <a:xfrm>
            <a:off x="3840480" y="2212848"/>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Spark Core / DataFrame</a:t>
            </a:r>
          </a:p>
        </p:txBody>
      </p:sp>
      <p:sp>
        <p:nvSpPr>
          <p:cNvPr id="14" name="Rectangle 13"/>
          <p:cNvSpPr/>
          <p:nvPr/>
        </p:nvSpPr>
        <p:spPr>
          <a:xfrm>
            <a:off x="7452360" y="2212848"/>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Biến đổi dữ liệu phân tán</a:t>
            </a:r>
          </a:p>
        </p:txBody>
      </p:sp>
      <p:sp>
        <p:nvSpPr>
          <p:cNvPr id="15" name="Rectangle 14"/>
          <p:cNvSpPr/>
          <p:nvPr/>
        </p:nvSpPr>
        <p:spPr>
          <a:xfrm>
            <a:off x="685800" y="2871215"/>
            <a:ext cx="29718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Truy vấn SQL</a:t>
            </a:r>
          </a:p>
        </p:txBody>
      </p:sp>
      <p:sp>
        <p:nvSpPr>
          <p:cNvPr id="16" name="Rectangle 15"/>
          <p:cNvSpPr/>
          <p:nvPr/>
        </p:nvSpPr>
        <p:spPr>
          <a:xfrm>
            <a:off x="3840480" y="2871215"/>
            <a:ext cx="34290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Spark SQL</a:t>
            </a:r>
          </a:p>
        </p:txBody>
      </p:sp>
      <p:sp>
        <p:nvSpPr>
          <p:cNvPr id="17" name="Rectangle 16"/>
          <p:cNvSpPr/>
          <p:nvPr/>
        </p:nvSpPr>
        <p:spPr>
          <a:xfrm>
            <a:off x="7452360" y="2871215"/>
            <a:ext cx="3977639"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Dùng cú pháp SQL trên dữ liệu lớn</a:t>
            </a:r>
          </a:p>
        </p:txBody>
      </p:sp>
      <p:sp>
        <p:nvSpPr>
          <p:cNvPr id="18" name="Rectangle 17"/>
          <p:cNvSpPr/>
          <p:nvPr/>
        </p:nvSpPr>
        <p:spPr>
          <a:xfrm>
            <a:off x="685800" y="3529584"/>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Streaming</a:t>
            </a:r>
          </a:p>
        </p:txBody>
      </p:sp>
      <p:sp>
        <p:nvSpPr>
          <p:cNvPr id="19" name="Rectangle 18"/>
          <p:cNvSpPr/>
          <p:nvPr/>
        </p:nvSpPr>
        <p:spPr>
          <a:xfrm>
            <a:off x="3840480" y="3529584"/>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Structured Streaming</a:t>
            </a:r>
          </a:p>
        </p:txBody>
      </p:sp>
      <p:sp>
        <p:nvSpPr>
          <p:cNvPr id="20" name="Rectangle 19"/>
          <p:cNvSpPr/>
          <p:nvPr/>
        </p:nvSpPr>
        <p:spPr>
          <a:xfrm>
            <a:off x="7452360" y="3529584"/>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Xử lý luồng trên API DataFrame</a:t>
            </a:r>
          </a:p>
        </p:txBody>
      </p:sp>
      <p:sp>
        <p:nvSpPr>
          <p:cNvPr id="21" name="Rectangle 20"/>
          <p:cNvSpPr/>
          <p:nvPr/>
        </p:nvSpPr>
        <p:spPr>
          <a:xfrm>
            <a:off x="685800" y="4187952"/>
            <a:ext cx="29718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Machine Learning</a:t>
            </a:r>
          </a:p>
        </p:txBody>
      </p:sp>
      <p:sp>
        <p:nvSpPr>
          <p:cNvPr id="22" name="Rectangle 21"/>
          <p:cNvSpPr/>
          <p:nvPr/>
        </p:nvSpPr>
        <p:spPr>
          <a:xfrm>
            <a:off x="3840480" y="4187952"/>
            <a:ext cx="34290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MLlib</a:t>
            </a:r>
          </a:p>
        </p:txBody>
      </p:sp>
      <p:sp>
        <p:nvSpPr>
          <p:cNvPr id="23" name="Rectangle 22"/>
          <p:cNvSpPr/>
          <p:nvPr/>
        </p:nvSpPr>
        <p:spPr>
          <a:xfrm>
            <a:off x="7452360" y="4187952"/>
            <a:ext cx="3977639"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Pipeline ML phân tán</a:t>
            </a:r>
          </a:p>
        </p:txBody>
      </p:sp>
      <p:sp>
        <p:nvSpPr>
          <p:cNvPr id="24" name="Rectangle 23"/>
          <p:cNvSpPr/>
          <p:nvPr/>
        </p:nvSpPr>
        <p:spPr>
          <a:xfrm>
            <a:off x="685800" y="4846320"/>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Graph Analytics</a:t>
            </a:r>
          </a:p>
        </p:txBody>
      </p:sp>
      <p:sp>
        <p:nvSpPr>
          <p:cNvPr id="25" name="Rectangle 24"/>
          <p:cNvSpPr/>
          <p:nvPr/>
        </p:nvSpPr>
        <p:spPr>
          <a:xfrm>
            <a:off x="3840480" y="4846320"/>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GraphX</a:t>
            </a:r>
          </a:p>
        </p:txBody>
      </p:sp>
      <p:sp>
        <p:nvSpPr>
          <p:cNvPr id="26" name="Rectangle 25"/>
          <p:cNvSpPr/>
          <p:nvPr/>
        </p:nvSpPr>
        <p:spPr>
          <a:xfrm>
            <a:off x="7452360" y="4846320"/>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Xử lý dữ liệu dạng graph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3.5</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PySpark</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DataFrame, Transformation, Action, Lazy Evaluation và so sánh với Pandas</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PySpark là gì? Spark DataFrame</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20</a:t>
            </a:r>
          </a:p>
        </p:txBody>
      </p:sp>
      <p:pic>
        <p:nvPicPr>
          <p:cNvPr id="8" name="Picture 7" descr="body-1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Pandas DataFrame và Spark DataFrame</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21</a:t>
            </a:r>
          </a:p>
        </p:txBody>
      </p:sp>
      <p:pic>
        <p:nvPicPr>
          <p:cNvPr id="8" name="Picture 7" descr="body-18.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Workflow PySpark cơ bản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22</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Đây là cầu nối trực tiếp từ Python quen thuộc sang xử lý dữ liệu phân tán bằng PySpark.</a:t>
            </a:r>
          </a:p>
        </p:txBody>
      </p:sp>
      <p:sp>
        <p:nvSpPr>
          <p:cNvPr id="9" name="Rounded Rectangle 8"/>
          <p:cNvSpPr/>
          <p:nvPr/>
        </p:nvSpPr>
        <p:spPr>
          <a:xfrm>
            <a:off x="5943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39112"/>
            <a:ext cx="1929384" cy="411480"/>
          </a:xfrm>
          <a:prstGeom prst="rect">
            <a:avLst/>
          </a:prstGeom>
          <a:noFill/>
        </p:spPr>
        <p:txBody>
          <a:bodyPr wrap="none">
            <a:spAutoFit/>
          </a:bodyPr>
          <a:lstStyle/>
          <a:p>
            <a:r>
              <a:rPr sz="1800" b="1">
                <a:solidFill>
                  <a:srgbClr val="0F3F6F"/>
                </a:solidFill>
                <a:latin typeface="Aptos Narrow"/>
              </a:rPr>
              <a:t>1. Read</a:t>
            </a:r>
          </a:p>
        </p:txBody>
      </p:sp>
      <p:sp>
        <p:nvSpPr>
          <p:cNvPr id="11" name="TextBox 10"/>
          <p:cNvSpPr txBox="1"/>
          <p:nvPr/>
        </p:nvSpPr>
        <p:spPr>
          <a:xfrm>
            <a:off x="704088" y="2468879"/>
            <a:ext cx="1929384" cy="1920239"/>
          </a:xfrm>
          <a:prstGeom prst="rect">
            <a:avLst/>
          </a:prstGeom>
          <a:noFill/>
        </p:spPr>
        <p:txBody>
          <a:bodyPr wrap="square">
            <a:spAutoFit/>
          </a:bodyPr>
          <a:lstStyle/>
          <a:p>
            <a:r>
              <a:rPr sz="1420">
                <a:solidFill>
                  <a:srgbClr val="435266"/>
                </a:solidFill>
                <a:latin typeface="Aptos"/>
              </a:rPr>
              <a:t>• spark.read.csv()</a:t>
            </a:r>
          </a:p>
          <a:p>
            <a:r>
              <a:rPr sz="1420">
                <a:solidFill>
                  <a:srgbClr val="435266"/>
                </a:solidFill>
                <a:latin typeface="Aptos"/>
              </a:rPr>
              <a:t>• Đọc Parquet / JSON</a:t>
            </a:r>
          </a:p>
          <a:p>
            <a:r>
              <a:rPr sz="1420">
                <a:solidFill>
                  <a:srgbClr val="435266"/>
                </a:solidFill>
                <a:latin typeface="Aptos"/>
              </a:rPr>
              <a:t>• Khai báo schema khi cần</a:t>
            </a:r>
          </a:p>
        </p:txBody>
      </p:sp>
      <p:cxnSp>
        <p:nvCxnSpPr>
          <p:cNvPr id="12" name="Connector 11"/>
          <p:cNvCxnSpPr/>
          <p:nvPr/>
        </p:nvCxnSpPr>
        <p:spPr>
          <a:xfrm>
            <a:off x="27432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874519"/>
            <a:ext cx="2148840" cy="265176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2039112"/>
            <a:ext cx="1929384" cy="411480"/>
          </a:xfrm>
          <a:prstGeom prst="rect">
            <a:avLst/>
          </a:prstGeom>
          <a:noFill/>
        </p:spPr>
        <p:txBody>
          <a:bodyPr wrap="none">
            <a:spAutoFit/>
          </a:bodyPr>
          <a:lstStyle/>
          <a:p>
            <a:r>
              <a:rPr sz="1800" b="1">
                <a:solidFill>
                  <a:srgbClr val="0F3F6F"/>
                </a:solidFill>
                <a:latin typeface="Aptos Narrow"/>
              </a:rPr>
              <a:t>2. Transform</a:t>
            </a:r>
          </a:p>
        </p:txBody>
      </p:sp>
      <p:sp>
        <p:nvSpPr>
          <p:cNvPr id="15" name="TextBox 14"/>
          <p:cNvSpPr txBox="1"/>
          <p:nvPr/>
        </p:nvSpPr>
        <p:spPr>
          <a:xfrm>
            <a:off x="3447288" y="2468879"/>
            <a:ext cx="1929384" cy="1920239"/>
          </a:xfrm>
          <a:prstGeom prst="rect">
            <a:avLst/>
          </a:prstGeom>
          <a:noFill/>
        </p:spPr>
        <p:txBody>
          <a:bodyPr wrap="square">
            <a:spAutoFit/>
          </a:bodyPr>
          <a:lstStyle/>
          <a:p>
            <a:r>
              <a:rPr sz="1420">
                <a:solidFill>
                  <a:srgbClr val="435266"/>
                </a:solidFill>
                <a:latin typeface="Aptos"/>
              </a:rPr>
              <a:t>• select()</a:t>
            </a:r>
          </a:p>
          <a:p>
            <a:r>
              <a:rPr sz="1420">
                <a:solidFill>
                  <a:srgbClr val="435266"/>
                </a:solidFill>
                <a:latin typeface="Aptos"/>
              </a:rPr>
              <a:t>• filter()</a:t>
            </a:r>
          </a:p>
          <a:p>
            <a:r>
              <a:rPr sz="1420">
                <a:solidFill>
                  <a:srgbClr val="435266"/>
                </a:solidFill>
                <a:latin typeface="Aptos"/>
              </a:rPr>
              <a:t>• groupBy()</a:t>
            </a:r>
          </a:p>
        </p:txBody>
      </p:sp>
      <p:cxnSp>
        <p:nvCxnSpPr>
          <p:cNvPr id="16" name="Connector 15"/>
          <p:cNvCxnSpPr/>
          <p:nvPr/>
        </p:nvCxnSpPr>
        <p:spPr>
          <a:xfrm>
            <a:off x="54864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1874519"/>
            <a:ext cx="2148840" cy="265176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39112"/>
            <a:ext cx="1929384" cy="411480"/>
          </a:xfrm>
          <a:prstGeom prst="rect">
            <a:avLst/>
          </a:prstGeom>
          <a:noFill/>
        </p:spPr>
        <p:txBody>
          <a:bodyPr wrap="none">
            <a:spAutoFit/>
          </a:bodyPr>
          <a:lstStyle/>
          <a:p>
            <a:r>
              <a:rPr sz="1800" b="1">
                <a:solidFill>
                  <a:srgbClr val="0F3F6F"/>
                </a:solidFill>
                <a:latin typeface="Aptos Narrow"/>
              </a:rPr>
              <a:t>3. Action</a:t>
            </a:r>
          </a:p>
        </p:txBody>
      </p:sp>
      <p:sp>
        <p:nvSpPr>
          <p:cNvPr id="19" name="TextBox 18"/>
          <p:cNvSpPr txBox="1"/>
          <p:nvPr/>
        </p:nvSpPr>
        <p:spPr>
          <a:xfrm>
            <a:off x="6190488" y="2468879"/>
            <a:ext cx="1929384" cy="1920239"/>
          </a:xfrm>
          <a:prstGeom prst="rect">
            <a:avLst/>
          </a:prstGeom>
          <a:noFill/>
        </p:spPr>
        <p:txBody>
          <a:bodyPr wrap="square">
            <a:spAutoFit/>
          </a:bodyPr>
          <a:lstStyle/>
          <a:p>
            <a:r>
              <a:rPr sz="1420">
                <a:solidFill>
                  <a:srgbClr val="435266"/>
                </a:solidFill>
                <a:latin typeface="Aptos"/>
              </a:rPr>
              <a:t>• show()</a:t>
            </a:r>
          </a:p>
          <a:p>
            <a:r>
              <a:rPr sz="1420">
                <a:solidFill>
                  <a:srgbClr val="435266"/>
                </a:solidFill>
                <a:latin typeface="Aptos"/>
              </a:rPr>
              <a:t>• count()</a:t>
            </a:r>
          </a:p>
          <a:p>
            <a:r>
              <a:rPr sz="1420">
                <a:solidFill>
                  <a:srgbClr val="435266"/>
                </a:solidFill>
                <a:latin typeface="Aptos"/>
              </a:rPr>
              <a:t>• write()</a:t>
            </a:r>
          </a:p>
        </p:txBody>
      </p:sp>
      <p:cxnSp>
        <p:nvCxnSpPr>
          <p:cNvPr id="20" name="Connector 19"/>
          <p:cNvCxnSpPr/>
          <p:nvPr/>
        </p:nvCxnSpPr>
        <p:spPr>
          <a:xfrm>
            <a:off x="82296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33688" y="2039112"/>
            <a:ext cx="1929384" cy="411480"/>
          </a:xfrm>
          <a:prstGeom prst="rect">
            <a:avLst/>
          </a:prstGeom>
          <a:noFill/>
        </p:spPr>
        <p:txBody>
          <a:bodyPr wrap="none">
            <a:spAutoFit/>
          </a:bodyPr>
          <a:lstStyle/>
          <a:p>
            <a:r>
              <a:rPr sz="1800" b="1">
                <a:solidFill>
                  <a:srgbClr val="0F3F6F"/>
                </a:solidFill>
                <a:latin typeface="Aptos Narrow"/>
              </a:rPr>
              <a:t>4. Output</a:t>
            </a:r>
          </a:p>
        </p:txBody>
      </p:sp>
      <p:sp>
        <p:nvSpPr>
          <p:cNvPr id="23" name="TextBox 22"/>
          <p:cNvSpPr txBox="1"/>
          <p:nvPr/>
        </p:nvSpPr>
        <p:spPr>
          <a:xfrm>
            <a:off x="8933688" y="2468879"/>
            <a:ext cx="1929384" cy="1920239"/>
          </a:xfrm>
          <a:prstGeom prst="rect">
            <a:avLst/>
          </a:prstGeom>
          <a:noFill/>
        </p:spPr>
        <p:txBody>
          <a:bodyPr wrap="square">
            <a:spAutoFit/>
          </a:bodyPr>
          <a:lstStyle/>
          <a:p>
            <a:r>
              <a:rPr sz="1420">
                <a:solidFill>
                  <a:srgbClr val="435266"/>
                </a:solidFill>
                <a:latin typeface="Aptos"/>
              </a:rPr>
              <a:t>• CSV / Parquet</a:t>
            </a:r>
          </a:p>
          <a:p>
            <a:r>
              <a:rPr sz="1420">
                <a:solidFill>
                  <a:srgbClr val="435266"/>
                </a:solidFill>
                <a:latin typeface="Aptos"/>
              </a:rPr>
              <a:t>• Table</a:t>
            </a:r>
          </a:p>
          <a:p>
            <a:r>
              <a:rPr sz="1420">
                <a:solidFill>
                  <a:srgbClr val="435266"/>
                </a:solidFill>
                <a:latin typeface="Aptos"/>
              </a:rPr>
              <a:t>• Dashboard / ML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3.6</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Truy vấn dữ liệu bằng SQL</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Các câu lệnh SQL cốt lõi phục vụ phân tích dữ liệu</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Các câu lệnh SQL phục vụ phân tích dữ liệu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24</a:t>
            </a:r>
          </a:p>
        </p:txBody>
      </p:sp>
      <p:pic>
        <p:nvPicPr>
          <p:cNvPr id="8" name="Picture 7" descr="body-20.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SQL trong pipeline phân tích dữ liệu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25</a:t>
            </a:r>
          </a:p>
        </p:txBody>
      </p:sp>
      <p:sp>
        <p:nvSpPr>
          <p:cNvPr id="8" name="Rounded Rectangle 7"/>
          <p:cNvSpPr/>
          <p:nvPr/>
        </p:nvSpPr>
        <p:spPr>
          <a:xfrm>
            <a:off x="685800" y="987552"/>
            <a:ext cx="10698480" cy="50292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i="1">
                <a:solidFill>
                  <a:srgbClr val="0F3F6F"/>
                </a:solidFill>
                <a:latin typeface="Aptos"/>
              </a:rPr>
              <a:t>Đề cương yêu cầu truy vấn dữ liệu bằng SQL nhưng không biến Bài 3 thành một khóa SQL riêng.</a:t>
            </a:r>
          </a:p>
        </p:txBody>
      </p:sp>
      <p:sp>
        <p:nvSpPr>
          <p:cNvPr id="9" name="TextBox 8"/>
          <p:cNvSpPr txBox="1"/>
          <p:nvPr/>
        </p:nvSpPr>
        <p:spPr>
          <a:xfrm>
            <a:off x="868680" y="1691640"/>
            <a:ext cx="10195560" cy="4434840"/>
          </a:xfrm>
          <a:prstGeom prst="rect">
            <a:avLst/>
          </a:prstGeom>
          <a:noFill/>
        </p:spPr>
        <p:txBody>
          <a:bodyPr wrap="square">
            <a:spAutoFit/>
          </a:bodyPr>
          <a:lstStyle/>
          <a:p>
            <a:pPr>
              <a:spcAft>
                <a:spcPts val="700"/>
              </a:spcAft>
            </a:pPr>
            <a:r>
              <a:rPr sz="1800" b="1">
                <a:solidFill>
                  <a:srgbClr val="435266"/>
                </a:solidFill>
                <a:latin typeface="Aptos"/>
              </a:rPr>
              <a:t>SELECT / WHERE:</a:t>
            </a:r>
          </a:p>
          <a:p>
            <a:pPr>
              <a:spcAft>
                <a:spcPts val="700"/>
              </a:spcAft>
            </a:pPr>
            <a:r>
              <a:rPr sz="1800">
                <a:solidFill>
                  <a:srgbClr val="435266"/>
                </a:solidFill>
                <a:latin typeface="Aptos"/>
              </a:rPr>
              <a:t>Lọc đúng các cột và dòng cần thiết trước khi phân tích.</a:t>
            </a:r>
          </a:p>
          <a:p>
            <a:pPr>
              <a:spcAft>
                <a:spcPts val="700"/>
              </a:spcAft>
            </a:pPr>
            <a:r>
              <a:rPr sz="1800" b="1">
                <a:solidFill>
                  <a:srgbClr val="435266"/>
                </a:solidFill>
                <a:latin typeface="Aptos"/>
              </a:rPr>
              <a:t>GROUP BY / Aggregate:</a:t>
            </a:r>
          </a:p>
          <a:p>
            <a:pPr>
              <a:spcAft>
                <a:spcPts val="700"/>
              </a:spcAft>
            </a:pPr>
            <a:r>
              <a:rPr sz="1800">
                <a:solidFill>
                  <a:srgbClr val="435266"/>
                </a:solidFill>
                <a:latin typeface="Aptos"/>
              </a:rPr>
              <a:t>Tổng hợp doanh thu, số đơn hàng, trung bình, min/max theo nhóm.</a:t>
            </a:r>
          </a:p>
          <a:p>
            <a:pPr>
              <a:spcAft>
                <a:spcPts val="700"/>
              </a:spcAft>
            </a:pPr>
            <a:r>
              <a:rPr sz="1800" b="1">
                <a:solidFill>
                  <a:srgbClr val="435266"/>
                </a:solidFill>
                <a:latin typeface="Aptos"/>
              </a:rPr>
              <a:t>JOIN:</a:t>
            </a:r>
          </a:p>
          <a:p>
            <a:pPr>
              <a:spcAft>
                <a:spcPts val="700"/>
              </a:spcAft>
            </a:pPr>
            <a:r>
              <a:rPr sz="1800">
                <a:solidFill>
                  <a:srgbClr val="435266"/>
                </a:solidFill>
                <a:latin typeface="Aptos"/>
              </a:rPr>
              <a:t>Kết hợp dữ liệu từ nhiều bảng theo khóa chung.</a:t>
            </a:r>
          </a:p>
          <a:p>
            <a:pPr>
              <a:spcAft>
                <a:spcPts val="700"/>
              </a:spcAft>
            </a:pPr>
            <a:r>
              <a:rPr sz="1800" b="1">
                <a:solidFill>
                  <a:srgbClr val="435266"/>
                </a:solidFill>
                <a:latin typeface="Aptos"/>
              </a:rPr>
              <a:t>ORDER BY / LIMIT:</a:t>
            </a:r>
          </a:p>
          <a:p>
            <a:pPr>
              <a:spcAft>
                <a:spcPts val="700"/>
              </a:spcAft>
            </a:pPr>
            <a:r>
              <a:rPr sz="1800">
                <a:solidFill>
                  <a:srgbClr val="435266"/>
                </a:solidFill>
                <a:latin typeface="Aptos"/>
              </a:rPr>
              <a:t>Tìm top-N, sắp xếp kết quả phục vụ báo cáo.</a:t>
            </a:r>
          </a:p>
          <a:p>
            <a:pPr>
              <a:spcAft>
                <a:spcPts val="700"/>
              </a:spcAft>
            </a:pPr>
            <a:r>
              <a:rPr sz="1800">
                <a:solidFill>
                  <a:srgbClr val="435266"/>
                </a:solidFill>
                <a:latin typeface="Aptos"/>
              </a:rPr>
              <a:t>Thông điệp: SQL là ngôn ngữ chung giữa Database, Spark SQL và nhiều BI tool.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3.7</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Từ SQL sang Pandas và PySpark</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Cùng một bài toán phân tích, ba cách biểu diễn khác nhau</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Cùng một bài toán — ba cách biểu diễn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27</a:t>
            </a:r>
          </a:p>
        </p:txBody>
      </p:sp>
      <p:pic>
        <p:nvPicPr>
          <p:cNvPr id="8" name="Picture 7" descr="body-2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Khi nào dùng Pandas, khi nào chuyển sang PySpark?</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28</a:t>
            </a:r>
          </a:p>
        </p:txBody>
      </p:sp>
      <p:sp>
        <p:nvSpPr>
          <p:cNvPr id="8" name="Rounded Rectangle 7"/>
          <p:cNvSpPr/>
          <p:nvPr/>
        </p:nvSpPr>
        <p:spPr>
          <a:xfrm>
            <a:off x="658368" y="1234440"/>
            <a:ext cx="4983480" cy="448056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417320"/>
            <a:ext cx="4572000" cy="411480"/>
          </a:xfrm>
          <a:prstGeom prst="rect">
            <a:avLst/>
          </a:prstGeom>
          <a:noFill/>
        </p:spPr>
        <p:txBody>
          <a:bodyPr wrap="none">
            <a:spAutoFit/>
          </a:bodyPr>
          <a:lstStyle/>
          <a:p>
            <a:r>
              <a:rPr sz="2200" b="1">
                <a:solidFill>
                  <a:srgbClr val="0F3F6F"/>
                </a:solidFill>
                <a:latin typeface="Aptos Narrow"/>
              </a:rPr>
              <a:t>Pandas</a:t>
            </a:r>
          </a:p>
        </p:txBody>
      </p:sp>
      <p:sp>
        <p:nvSpPr>
          <p:cNvPr id="10" name="TextBox 9"/>
          <p:cNvSpPr txBox="1"/>
          <p:nvPr/>
        </p:nvSpPr>
        <p:spPr>
          <a:xfrm>
            <a:off x="841247" y="1874519"/>
            <a:ext cx="4572000" cy="3611880"/>
          </a:xfrm>
          <a:prstGeom prst="rect">
            <a:avLst/>
          </a:prstGeom>
          <a:noFill/>
        </p:spPr>
        <p:txBody>
          <a:bodyPr wrap="square">
            <a:spAutoFit/>
          </a:bodyPr>
          <a:lstStyle/>
          <a:p>
            <a:pPr>
              <a:spcAft>
                <a:spcPts val="500"/>
              </a:spcAft>
            </a:pPr>
            <a:r>
              <a:rPr sz="1650">
                <a:solidFill>
                  <a:srgbClr val="435266"/>
                </a:solidFill>
                <a:latin typeface="Aptos"/>
              </a:rPr>
              <a:t>• Dataset vừa/nhỏ, có thể xử lý trên RAM một máy.</a:t>
            </a:r>
          </a:p>
          <a:p>
            <a:pPr>
              <a:spcAft>
                <a:spcPts val="500"/>
              </a:spcAft>
            </a:pPr>
            <a:r>
              <a:rPr sz="1650">
                <a:solidFill>
                  <a:srgbClr val="435266"/>
                </a:solidFill>
                <a:latin typeface="Aptos"/>
              </a:rPr>
              <a:t>• Phù hợp khám phá dữ liệu nhanh và notebook cá nhân.</a:t>
            </a:r>
          </a:p>
          <a:p>
            <a:pPr>
              <a:spcAft>
                <a:spcPts val="500"/>
              </a:spcAft>
            </a:pPr>
            <a:r>
              <a:rPr sz="1650">
                <a:solidFill>
                  <a:srgbClr val="435266"/>
                </a:solidFill>
                <a:latin typeface="Aptos"/>
              </a:rPr>
              <a:t>• API đơn giản, hệ sinh thái Python rất phong phú.</a:t>
            </a:r>
          </a:p>
        </p:txBody>
      </p:sp>
      <p:sp>
        <p:nvSpPr>
          <p:cNvPr id="11" name="Rounded Rectangle 10"/>
          <p:cNvSpPr/>
          <p:nvPr/>
        </p:nvSpPr>
        <p:spPr>
          <a:xfrm>
            <a:off x="6144768" y="1234440"/>
            <a:ext cx="4983480" cy="4480560"/>
          </a:xfrm>
          <a:prstGeom prst="roundRect">
            <a:avLst/>
          </a:prstGeom>
          <a:solidFill>
            <a:srgbClr val="E9F3D6"/>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1417320"/>
            <a:ext cx="4572000" cy="411480"/>
          </a:xfrm>
          <a:prstGeom prst="rect">
            <a:avLst/>
          </a:prstGeom>
          <a:noFill/>
        </p:spPr>
        <p:txBody>
          <a:bodyPr wrap="none">
            <a:spAutoFit/>
          </a:bodyPr>
          <a:lstStyle/>
          <a:p>
            <a:r>
              <a:rPr sz="2200" b="1">
                <a:solidFill>
                  <a:srgbClr val="0F3F6F"/>
                </a:solidFill>
                <a:latin typeface="Aptos Narrow"/>
              </a:rPr>
              <a:t>PySpark</a:t>
            </a:r>
          </a:p>
        </p:txBody>
      </p:sp>
      <p:sp>
        <p:nvSpPr>
          <p:cNvPr id="13" name="TextBox 12"/>
          <p:cNvSpPr txBox="1"/>
          <p:nvPr/>
        </p:nvSpPr>
        <p:spPr>
          <a:xfrm>
            <a:off x="6327648" y="1874519"/>
            <a:ext cx="4572000" cy="3611880"/>
          </a:xfrm>
          <a:prstGeom prst="rect">
            <a:avLst/>
          </a:prstGeom>
          <a:noFill/>
        </p:spPr>
        <p:txBody>
          <a:bodyPr wrap="square">
            <a:spAutoFit/>
          </a:bodyPr>
          <a:lstStyle/>
          <a:p>
            <a:pPr>
              <a:spcAft>
                <a:spcPts val="500"/>
              </a:spcAft>
            </a:pPr>
            <a:r>
              <a:rPr sz="1650">
                <a:solidFill>
                  <a:srgbClr val="435266"/>
                </a:solidFill>
                <a:latin typeface="Aptos"/>
              </a:rPr>
              <a:t>• Dataset lớn, cần nhiều máy hoặc dữ liệu vượt RAM.</a:t>
            </a:r>
          </a:p>
          <a:p>
            <a:pPr>
              <a:spcAft>
                <a:spcPts val="500"/>
              </a:spcAft>
            </a:pPr>
            <a:r>
              <a:rPr sz="1650">
                <a:solidFill>
                  <a:srgbClr val="435266"/>
                </a:solidFill>
                <a:latin typeface="Aptos"/>
              </a:rPr>
              <a:t>• Cần kết hợp Spark SQL, streaming hoặc pipeline phân tán.</a:t>
            </a:r>
          </a:p>
          <a:p>
            <a:pPr>
              <a:spcAft>
                <a:spcPts val="500"/>
              </a:spcAft>
            </a:pPr>
            <a:r>
              <a:rPr sz="1650">
                <a:solidFill>
                  <a:srgbClr val="435266"/>
                </a:solidFill>
                <a:latin typeface="Aptos"/>
              </a:rPr>
              <a:t>• Phù hợp xử lý dữ liệu quy mô lớn trong doanh nghiệp.</a:t>
            </a:r>
          </a:p>
        </p:txBody>
      </p:sp>
      <p:sp>
        <p:nvSpPr>
          <p:cNvPr id="14" name="TextBox 13"/>
          <p:cNvSpPr txBox="1"/>
          <p:nvPr/>
        </p:nvSpPr>
        <p:spPr>
          <a:xfrm>
            <a:off x="822960" y="5897880"/>
            <a:ext cx="10515600" cy="384048"/>
          </a:xfrm>
          <a:prstGeom prst="rect">
            <a:avLst/>
          </a:prstGeom>
          <a:noFill/>
        </p:spPr>
        <p:txBody>
          <a:bodyPr wrap="none">
            <a:spAutoFit/>
          </a:bodyPr>
          <a:lstStyle/>
          <a:p>
            <a:pPr algn="ctr"/>
            <a:r>
              <a:rPr sz="1350" i="1">
                <a:solidFill>
                  <a:srgbClr val="0F3F6F"/>
                </a:solidFill>
                <a:latin typeface="Aptos"/>
              </a:rPr>
              <a:t>Một quy trình thực tế có thể dùng PySpark để xử lý lớn rồi chuyển một tập đã tổng hợp về Pandas để trực quan hóa.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Cùng bài toán — SQL → Pandas → PySpark</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29</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Đây là phần thực hành cốt lõi theo đề cương: kết nối tư duy SQL với Python và Spark.</a:t>
            </a:r>
          </a:p>
        </p:txBody>
      </p:sp>
      <p:sp>
        <p:nvSpPr>
          <p:cNvPr id="9" name="Rounded Rectangle 8"/>
          <p:cNvSpPr/>
          <p:nvPr/>
        </p:nvSpPr>
        <p:spPr>
          <a:xfrm>
            <a:off x="5943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39112"/>
            <a:ext cx="1929384" cy="411480"/>
          </a:xfrm>
          <a:prstGeom prst="rect">
            <a:avLst/>
          </a:prstGeom>
          <a:noFill/>
        </p:spPr>
        <p:txBody>
          <a:bodyPr wrap="none">
            <a:spAutoFit/>
          </a:bodyPr>
          <a:lstStyle/>
          <a:p>
            <a:r>
              <a:rPr sz="1800" b="1">
                <a:solidFill>
                  <a:srgbClr val="0F3F6F"/>
                </a:solidFill>
                <a:latin typeface="Aptos Narrow"/>
              </a:rPr>
              <a:t>SQL</a:t>
            </a:r>
          </a:p>
        </p:txBody>
      </p:sp>
      <p:sp>
        <p:nvSpPr>
          <p:cNvPr id="11" name="TextBox 10"/>
          <p:cNvSpPr txBox="1"/>
          <p:nvPr/>
        </p:nvSpPr>
        <p:spPr>
          <a:xfrm>
            <a:off x="704088" y="2468879"/>
            <a:ext cx="1929384" cy="1920239"/>
          </a:xfrm>
          <a:prstGeom prst="rect">
            <a:avLst/>
          </a:prstGeom>
          <a:noFill/>
        </p:spPr>
        <p:txBody>
          <a:bodyPr wrap="square">
            <a:spAutoFit/>
          </a:bodyPr>
          <a:lstStyle/>
          <a:p>
            <a:r>
              <a:rPr sz="1420">
                <a:solidFill>
                  <a:srgbClr val="435266"/>
                </a:solidFill>
                <a:latin typeface="Aptos"/>
              </a:rPr>
              <a:t>• SELECT</a:t>
            </a:r>
          </a:p>
          <a:p>
            <a:r>
              <a:rPr sz="1420">
                <a:solidFill>
                  <a:srgbClr val="435266"/>
                </a:solidFill>
                <a:latin typeface="Aptos"/>
              </a:rPr>
              <a:t>• GROUP BY</a:t>
            </a:r>
          </a:p>
          <a:p>
            <a:r>
              <a:rPr sz="1420">
                <a:solidFill>
                  <a:srgbClr val="435266"/>
                </a:solidFill>
                <a:latin typeface="Aptos"/>
              </a:rPr>
              <a:t>• SUM / COUNT</a:t>
            </a:r>
          </a:p>
        </p:txBody>
      </p:sp>
      <p:cxnSp>
        <p:nvCxnSpPr>
          <p:cNvPr id="12" name="Connector 11"/>
          <p:cNvCxnSpPr/>
          <p:nvPr/>
        </p:nvCxnSpPr>
        <p:spPr>
          <a:xfrm>
            <a:off x="27432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874519"/>
            <a:ext cx="2148840" cy="265176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2039112"/>
            <a:ext cx="1929384" cy="411480"/>
          </a:xfrm>
          <a:prstGeom prst="rect">
            <a:avLst/>
          </a:prstGeom>
          <a:noFill/>
        </p:spPr>
        <p:txBody>
          <a:bodyPr wrap="none">
            <a:spAutoFit/>
          </a:bodyPr>
          <a:lstStyle/>
          <a:p>
            <a:r>
              <a:rPr sz="1800" b="1">
                <a:solidFill>
                  <a:srgbClr val="0F3F6F"/>
                </a:solidFill>
                <a:latin typeface="Aptos Narrow"/>
              </a:rPr>
              <a:t>Pandas</a:t>
            </a:r>
          </a:p>
        </p:txBody>
      </p:sp>
      <p:sp>
        <p:nvSpPr>
          <p:cNvPr id="15" name="TextBox 14"/>
          <p:cNvSpPr txBox="1"/>
          <p:nvPr/>
        </p:nvSpPr>
        <p:spPr>
          <a:xfrm>
            <a:off x="3447288" y="2468879"/>
            <a:ext cx="1929384" cy="1920239"/>
          </a:xfrm>
          <a:prstGeom prst="rect">
            <a:avLst/>
          </a:prstGeom>
          <a:noFill/>
        </p:spPr>
        <p:txBody>
          <a:bodyPr wrap="square">
            <a:spAutoFit/>
          </a:bodyPr>
          <a:lstStyle/>
          <a:p>
            <a:r>
              <a:rPr sz="1420">
                <a:solidFill>
                  <a:srgbClr val="435266"/>
                </a:solidFill>
                <a:latin typeface="Aptos"/>
              </a:rPr>
              <a:t>• read_csv()</a:t>
            </a:r>
          </a:p>
          <a:p>
            <a:r>
              <a:rPr sz="1420">
                <a:solidFill>
                  <a:srgbClr val="435266"/>
                </a:solidFill>
                <a:latin typeface="Aptos"/>
              </a:rPr>
              <a:t>• groupby()</a:t>
            </a:r>
          </a:p>
          <a:p>
            <a:r>
              <a:rPr sz="1420">
                <a:solidFill>
                  <a:srgbClr val="435266"/>
                </a:solidFill>
                <a:latin typeface="Aptos"/>
              </a:rPr>
              <a:t>• agg()</a:t>
            </a:r>
          </a:p>
        </p:txBody>
      </p:sp>
      <p:cxnSp>
        <p:nvCxnSpPr>
          <p:cNvPr id="16" name="Connector 15"/>
          <p:cNvCxnSpPr/>
          <p:nvPr/>
        </p:nvCxnSpPr>
        <p:spPr>
          <a:xfrm>
            <a:off x="54864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1874519"/>
            <a:ext cx="2148840" cy="265176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39112"/>
            <a:ext cx="1929384" cy="411480"/>
          </a:xfrm>
          <a:prstGeom prst="rect">
            <a:avLst/>
          </a:prstGeom>
          <a:noFill/>
        </p:spPr>
        <p:txBody>
          <a:bodyPr wrap="none">
            <a:spAutoFit/>
          </a:bodyPr>
          <a:lstStyle/>
          <a:p>
            <a:r>
              <a:rPr sz="1800" b="1">
                <a:solidFill>
                  <a:srgbClr val="0F3F6F"/>
                </a:solidFill>
                <a:latin typeface="Aptos Narrow"/>
              </a:rPr>
              <a:t>PySpark</a:t>
            </a:r>
          </a:p>
        </p:txBody>
      </p:sp>
      <p:sp>
        <p:nvSpPr>
          <p:cNvPr id="19" name="TextBox 18"/>
          <p:cNvSpPr txBox="1"/>
          <p:nvPr/>
        </p:nvSpPr>
        <p:spPr>
          <a:xfrm>
            <a:off x="6190488" y="2468879"/>
            <a:ext cx="1929384" cy="1920239"/>
          </a:xfrm>
          <a:prstGeom prst="rect">
            <a:avLst/>
          </a:prstGeom>
          <a:noFill/>
        </p:spPr>
        <p:txBody>
          <a:bodyPr wrap="square">
            <a:spAutoFit/>
          </a:bodyPr>
          <a:lstStyle/>
          <a:p>
            <a:r>
              <a:rPr sz="1420">
                <a:solidFill>
                  <a:srgbClr val="435266"/>
                </a:solidFill>
                <a:latin typeface="Aptos"/>
              </a:rPr>
              <a:t>• spark.read</a:t>
            </a:r>
          </a:p>
          <a:p>
            <a:r>
              <a:rPr sz="1420">
                <a:solidFill>
                  <a:srgbClr val="435266"/>
                </a:solidFill>
                <a:latin typeface="Aptos"/>
              </a:rPr>
              <a:t>• groupBy()</a:t>
            </a:r>
          </a:p>
          <a:p>
            <a:r>
              <a:rPr sz="1420">
                <a:solidFill>
                  <a:srgbClr val="435266"/>
                </a:solidFill>
                <a:latin typeface="Aptos"/>
              </a:rPr>
              <a:t>• agg()</a:t>
            </a:r>
          </a:p>
        </p:txBody>
      </p:sp>
      <p:cxnSp>
        <p:nvCxnSpPr>
          <p:cNvPr id="20" name="Connector 19"/>
          <p:cNvCxnSpPr/>
          <p:nvPr/>
        </p:nvCxnSpPr>
        <p:spPr>
          <a:xfrm>
            <a:off x="82296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33688" y="2039112"/>
            <a:ext cx="1929384" cy="411480"/>
          </a:xfrm>
          <a:prstGeom prst="rect">
            <a:avLst/>
          </a:prstGeom>
          <a:noFill/>
        </p:spPr>
        <p:txBody>
          <a:bodyPr wrap="none">
            <a:spAutoFit/>
          </a:bodyPr>
          <a:lstStyle/>
          <a:p>
            <a:r>
              <a:rPr sz="1800" b="1">
                <a:solidFill>
                  <a:srgbClr val="0F3F6F"/>
                </a:solidFill>
                <a:latin typeface="Aptos Narrow"/>
              </a:rPr>
              <a:t>Kết quả</a:t>
            </a:r>
          </a:p>
        </p:txBody>
      </p:sp>
      <p:sp>
        <p:nvSpPr>
          <p:cNvPr id="23" name="TextBox 22"/>
          <p:cNvSpPr txBox="1"/>
          <p:nvPr/>
        </p:nvSpPr>
        <p:spPr>
          <a:xfrm>
            <a:off x="8933688" y="2468879"/>
            <a:ext cx="1929384" cy="1920239"/>
          </a:xfrm>
          <a:prstGeom prst="rect">
            <a:avLst/>
          </a:prstGeom>
          <a:noFill/>
        </p:spPr>
        <p:txBody>
          <a:bodyPr wrap="square">
            <a:spAutoFit/>
          </a:bodyPr>
          <a:lstStyle/>
          <a:p>
            <a:r>
              <a:rPr sz="1420">
                <a:solidFill>
                  <a:srgbClr val="435266"/>
                </a:solidFill>
                <a:latin typeface="Aptos"/>
              </a:rPr>
              <a:t>• Cùng logic nghiệp vụ</a:t>
            </a:r>
          </a:p>
          <a:p>
            <a:r>
              <a:rPr sz="1420">
                <a:solidFill>
                  <a:srgbClr val="435266"/>
                </a:solidFill>
                <a:latin typeface="Aptos"/>
              </a:rPr>
              <a:t>• Khác engine xử lý</a:t>
            </a:r>
          </a:p>
          <a:p>
            <a:r>
              <a:rPr sz="1420">
                <a:solidFill>
                  <a:srgbClr val="435266"/>
                </a:solidFill>
                <a:latin typeface="Aptos"/>
              </a:rPr>
              <a:t>• Chọn theo quy mô dữ liệu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3.8</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Apache Kafka</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Producer, Consumer, Broker, Topic, Partition, Offset</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Apache Kafka là gì?</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31</a:t>
            </a:r>
          </a:p>
        </p:txBody>
      </p:sp>
      <p:pic>
        <p:nvPicPr>
          <p:cNvPr id="8" name="Picture 7" descr="body-24.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Luồng dữ liệu qua Kafka</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32</a:t>
            </a:r>
          </a:p>
        </p:txBody>
      </p:sp>
      <p:pic>
        <p:nvPicPr>
          <p:cNvPr id="8" name="Picture 7" descr="body-2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Kafka trong một pipeline dữ liệu thời gian thực</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33</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Kafka chủ yếu là lớp truyền tải và đệm dữ liệu; engine xử lý thực sự có thể là Spark hoặc Flink.</a:t>
            </a:r>
          </a:p>
        </p:txBody>
      </p:sp>
      <p:sp>
        <p:nvSpPr>
          <p:cNvPr id="9" name="Rounded Rectangle 8"/>
          <p:cNvSpPr/>
          <p:nvPr/>
        </p:nvSpPr>
        <p:spPr>
          <a:xfrm>
            <a:off x="5943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39112"/>
            <a:ext cx="1929384" cy="411480"/>
          </a:xfrm>
          <a:prstGeom prst="rect">
            <a:avLst/>
          </a:prstGeom>
          <a:noFill/>
        </p:spPr>
        <p:txBody>
          <a:bodyPr wrap="none">
            <a:spAutoFit/>
          </a:bodyPr>
          <a:lstStyle/>
          <a:p>
            <a:r>
              <a:rPr sz="1800" b="1">
                <a:solidFill>
                  <a:srgbClr val="0F3F6F"/>
                </a:solidFill>
                <a:latin typeface="Aptos Narrow"/>
              </a:rPr>
              <a:t>Producer</a:t>
            </a:r>
          </a:p>
        </p:txBody>
      </p:sp>
      <p:sp>
        <p:nvSpPr>
          <p:cNvPr id="11" name="TextBox 10"/>
          <p:cNvSpPr txBox="1"/>
          <p:nvPr/>
        </p:nvSpPr>
        <p:spPr>
          <a:xfrm>
            <a:off x="704088" y="2468879"/>
            <a:ext cx="1929384" cy="1920239"/>
          </a:xfrm>
          <a:prstGeom prst="rect">
            <a:avLst/>
          </a:prstGeom>
          <a:noFill/>
        </p:spPr>
        <p:txBody>
          <a:bodyPr wrap="square">
            <a:spAutoFit/>
          </a:bodyPr>
          <a:lstStyle/>
          <a:p>
            <a:r>
              <a:rPr sz="1420">
                <a:solidFill>
                  <a:srgbClr val="435266"/>
                </a:solidFill>
                <a:latin typeface="Aptos"/>
              </a:rPr>
              <a:t>• Ứng dụng</a:t>
            </a:r>
          </a:p>
          <a:p>
            <a:r>
              <a:rPr sz="1420">
                <a:solidFill>
                  <a:srgbClr val="435266"/>
                </a:solidFill>
                <a:latin typeface="Aptos"/>
              </a:rPr>
              <a:t>• IoT sensor</a:t>
            </a:r>
          </a:p>
          <a:p>
            <a:r>
              <a:rPr sz="1420">
                <a:solidFill>
                  <a:srgbClr val="435266"/>
                </a:solidFill>
                <a:latin typeface="Aptos"/>
              </a:rPr>
              <a:t>• Transaction system</a:t>
            </a:r>
          </a:p>
        </p:txBody>
      </p:sp>
      <p:cxnSp>
        <p:nvCxnSpPr>
          <p:cNvPr id="12" name="Connector 11"/>
          <p:cNvCxnSpPr/>
          <p:nvPr/>
        </p:nvCxnSpPr>
        <p:spPr>
          <a:xfrm>
            <a:off x="27432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874519"/>
            <a:ext cx="2148840" cy="265176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2039112"/>
            <a:ext cx="1929384" cy="411480"/>
          </a:xfrm>
          <a:prstGeom prst="rect">
            <a:avLst/>
          </a:prstGeom>
          <a:noFill/>
        </p:spPr>
        <p:txBody>
          <a:bodyPr wrap="none">
            <a:spAutoFit/>
          </a:bodyPr>
          <a:lstStyle/>
          <a:p>
            <a:r>
              <a:rPr sz="1800" b="1">
                <a:solidFill>
                  <a:srgbClr val="0F3F6F"/>
                </a:solidFill>
                <a:latin typeface="Aptos Narrow"/>
              </a:rPr>
              <a:t>Kafka</a:t>
            </a:r>
          </a:p>
        </p:txBody>
      </p:sp>
      <p:sp>
        <p:nvSpPr>
          <p:cNvPr id="15" name="TextBox 14"/>
          <p:cNvSpPr txBox="1"/>
          <p:nvPr/>
        </p:nvSpPr>
        <p:spPr>
          <a:xfrm>
            <a:off x="3447288" y="2468879"/>
            <a:ext cx="1929384" cy="1920239"/>
          </a:xfrm>
          <a:prstGeom prst="rect">
            <a:avLst/>
          </a:prstGeom>
          <a:noFill/>
        </p:spPr>
        <p:txBody>
          <a:bodyPr wrap="square">
            <a:spAutoFit/>
          </a:bodyPr>
          <a:lstStyle/>
          <a:p>
            <a:r>
              <a:rPr sz="1420">
                <a:solidFill>
                  <a:srgbClr val="435266"/>
                </a:solidFill>
                <a:latin typeface="Aptos"/>
              </a:rPr>
              <a:t>• Topic</a:t>
            </a:r>
          </a:p>
          <a:p>
            <a:r>
              <a:rPr sz="1420">
                <a:solidFill>
                  <a:srgbClr val="435266"/>
                </a:solidFill>
                <a:latin typeface="Aptos"/>
              </a:rPr>
              <a:t>• Partition</a:t>
            </a:r>
          </a:p>
          <a:p>
            <a:r>
              <a:rPr sz="1420">
                <a:solidFill>
                  <a:srgbClr val="435266"/>
                </a:solidFill>
                <a:latin typeface="Aptos"/>
              </a:rPr>
              <a:t>• Lưu message theo offset</a:t>
            </a:r>
          </a:p>
        </p:txBody>
      </p:sp>
      <p:cxnSp>
        <p:nvCxnSpPr>
          <p:cNvPr id="16" name="Connector 15"/>
          <p:cNvCxnSpPr/>
          <p:nvPr/>
        </p:nvCxnSpPr>
        <p:spPr>
          <a:xfrm>
            <a:off x="54864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1874519"/>
            <a:ext cx="2148840" cy="265176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39112"/>
            <a:ext cx="1929384" cy="411480"/>
          </a:xfrm>
          <a:prstGeom prst="rect">
            <a:avLst/>
          </a:prstGeom>
          <a:noFill/>
        </p:spPr>
        <p:txBody>
          <a:bodyPr wrap="none">
            <a:spAutoFit/>
          </a:bodyPr>
          <a:lstStyle/>
          <a:p>
            <a:r>
              <a:rPr sz="1800" b="1">
                <a:solidFill>
                  <a:srgbClr val="0F3F6F"/>
                </a:solidFill>
                <a:latin typeface="Aptos Narrow"/>
              </a:rPr>
              <a:t>Processor</a:t>
            </a:r>
          </a:p>
        </p:txBody>
      </p:sp>
      <p:sp>
        <p:nvSpPr>
          <p:cNvPr id="19" name="TextBox 18"/>
          <p:cNvSpPr txBox="1"/>
          <p:nvPr/>
        </p:nvSpPr>
        <p:spPr>
          <a:xfrm>
            <a:off x="6190488" y="2468879"/>
            <a:ext cx="1929384" cy="1920239"/>
          </a:xfrm>
          <a:prstGeom prst="rect">
            <a:avLst/>
          </a:prstGeom>
          <a:noFill/>
        </p:spPr>
        <p:txBody>
          <a:bodyPr wrap="square">
            <a:spAutoFit/>
          </a:bodyPr>
          <a:lstStyle/>
          <a:p>
            <a:r>
              <a:rPr sz="1420">
                <a:solidFill>
                  <a:srgbClr val="435266"/>
                </a:solidFill>
                <a:latin typeface="Aptos"/>
              </a:rPr>
              <a:t>• Spark Streaming</a:t>
            </a:r>
          </a:p>
          <a:p>
            <a:r>
              <a:rPr sz="1420">
                <a:solidFill>
                  <a:srgbClr val="435266"/>
                </a:solidFill>
                <a:latin typeface="Aptos"/>
              </a:rPr>
              <a:t>• Flink</a:t>
            </a:r>
          </a:p>
          <a:p>
            <a:r>
              <a:rPr sz="1420">
                <a:solidFill>
                  <a:srgbClr val="435266"/>
                </a:solidFill>
                <a:latin typeface="Aptos"/>
              </a:rPr>
              <a:t>• Consumer service</a:t>
            </a:r>
          </a:p>
        </p:txBody>
      </p:sp>
      <p:cxnSp>
        <p:nvCxnSpPr>
          <p:cNvPr id="20" name="Connector 19"/>
          <p:cNvCxnSpPr/>
          <p:nvPr/>
        </p:nvCxnSpPr>
        <p:spPr>
          <a:xfrm>
            <a:off x="82296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33688" y="2039112"/>
            <a:ext cx="1929384" cy="411480"/>
          </a:xfrm>
          <a:prstGeom prst="rect">
            <a:avLst/>
          </a:prstGeom>
          <a:noFill/>
        </p:spPr>
        <p:txBody>
          <a:bodyPr wrap="none">
            <a:spAutoFit/>
          </a:bodyPr>
          <a:lstStyle/>
          <a:p>
            <a:r>
              <a:rPr sz="1800" b="1">
                <a:solidFill>
                  <a:srgbClr val="0F3F6F"/>
                </a:solidFill>
                <a:latin typeface="Aptos Narrow"/>
              </a:rPr>
              <a:t>Output</a:t>
            </a:r>
          </a:p>
        </p:txBody>
      </p:sp>
      <p:sp>
        <p:nvSpPr>
          <p:cNvPr id="23" name="TextBox 22"/>
          <p:cNvSpPr txBox="1"/>
          <p:nvPr/>
        </p:nvSpPr>
        <p:spPr>
          <a:xfrm>
            <a:off x="8933688" y="2468879"/>
            <a:ext cx="1929384" cy="1920239"/>
          </a:xfrm>
          <a:prstGeom prst="rect">
            <a:avLst/>
          </a:prstGeom>
          <a:noFill/>
        </p:spPr>
        <p:txBody>
          <a:bodyPr wrap="square">
            <a:spAutoFit/>
          </a:bodyPr>
          <a:lstStyle/>
          <a:p>
            <a:r>
              <a:rPr sz="1420">
                <a:solidFill>
                  <a:srgbClr val="435266"/>
                </a:solidFill>
                <a:latin typeface="Aptos"/>
              </a:rPr>
              <a:t>• Dashboard</a:t>
            </a:r>
          </a:p>
          <a:p>
            <a:r>
              <a:rPr sz="1420">
                <a:solidFill>
                  <a:srgbClr val="435266"/>
                </a:solidFill>
                <a:latin typeface="Aptos"/>
              </a:rPr>
              <a:t>• Alert</a:t>
            </a:r>
          </a:p>
          <a:p>
            <a:r>
              <a:rPr sz="1420">
                <a:solidFill>
                  <a:srgbClr val="435266"/>
                </a:solidFill>
                <a:latin typeface="Aptos"/>
              </a:rPr>
              <a:t>• Data Lake / Database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3.9</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Apache Flink</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Stream Processing, Stateful Processing, Event Time và so sánh với Spark</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Apache Flink là gì?</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35</a:t>
            </a:r>
          </a:p>
        </p:txBody>
      </p:sp>
      <p:pic>
        <p:nvPicPr>
          <p:cNvPr id="8" name="Picture 7" descr="body-2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Kafka, Spark và Flink — đừng nhầm vai trò</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36</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Các công nghệ thường kết hợp trong cùng kiến trúc thay vì thay thế hoàn toàn cho nhau.</a:t>
            </a:r>
          </a:p>
        </p:txBody>
      </p:sp>
      <p:sp>
        <p:nvSpPr>
          <p:cNvPr id="9" name="Rectangle 8"/>
          <p:cNvSpPr/>
          <p:nvPr/>
        </p:nvSpPr>
        <p:spPr>
          <a:xfrm>
            <a:off x="685800" y="1554480"/>
            <a:ext cx="2971800"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Nhu cầu</a:t>
            </a:r>
          </a:p>
        </p:txBody>
      </p:sp>
      <p:sp>
        <p:nvSpPr>
          <p:cNvPr id="10" name="Rectangle 9"/>
          <p:cNvSpPr/>
          <p:nvPr/>
        </p:nvSpPr>
        <p:spPr>
          <a:xfrm>
            <a:off x="3840480" y="1554480"/>
            <a:ext cx="3429000"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Công cụ phù hợp</a:t>
            </a:r>
          </a:p>
        </p:txBody>
      </p:sp>
      <p:sp>
        <p:nvSpPr>
          <p:cNvPr id="11" name="Rectangle 10"/>
          <p:cNvSpPr/>
          <p:nvPr/>
        </p:nvSpPr>
        <p:spPr>
          <a:xfrm>
            <a:off x="7452360" y="1554480"/>
            <a:ext cx="3977639"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Lý do</a:t>
            </a:r>
          </a:p>
        </p:txBody>
      </p:sp>
      <p:sp>
        <p:nvSpPr>
          <p:cNvPr id="12" name="Rectangle 11"/>
          <p:cNvSpPr/>
          <p:nvPr/>
        </p:nvSpPr>
        <p:spPr>
          <a:xfrm>
            <a:off x="685800" y="2212848"/>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Truyền dữ liệu streaming</a:t>
            </a:r>
          </a:p>
        </p:txBody>
      </p:sp>
      <p:sp>
        <p:nvSpPr>
          <p:cNvPr id="13" name="Rectangle 12"/>
          <p:cNvSpPr/>
          <p:nvPr/>
        </p:nvSpPr>
        <p:spPr>
          <a:xfrm>
            <a:off x="3840480" y="2212848"/>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Kafka</a:t>
            </a:r>
          </a:p>
        </p:txBody>
      </p:sp>
      <p:sp>
        <p:nvSpPr>
          <p:cNvPr id="14" name="Rectangle 13"/>
          <p:cNvSpPr/>
          <p:nvPr/>
        </p:nvSpPr>
        <p:spPr>
          <a:xfrm>
            <a:off x="7452360" y="2212848"/>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Message broker / event streaming platform</a:t>
            </a:r>
          </a:p>
        </p:txBody>
      </p:sp>
      <p:sp>
        <p:nvSpPr>
          <p:cNvPr id="15" name="Rectangle 14"/>
          <p:cNvSpPr/>
          <p:nvPr/>
        </p:nvSpPr>
        <p:spPr>
          <a:xfrm>
            <a:off x="685800" y="2871215"/>
            <a:ext cx="29718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Xử lý batch + SQL + ML</a:t>
            </a:r>
          </a:p>
        </p:txBody>
      </p:sp>
      <p:sp>
        <p:nvSpPr>
          <p:cNvPr id="16" name="Rectangle 15"/>
          <p:cNvSpPr/>
          <p:nvPr/>
        </p:nvSpPr>
        <p:spPr>
          <a:xfrm>
            <a:off x="3840480" y="2871215"/>
            <a:ext cx="34290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Spark</a:t>
            </a:r>
          </a:p>
        </p:txBody>
      </p:sp>
      <p:sp>
        <p:nvSpPr>
          <p:cNvPr id="17" name="Rectangle 16"/>
          <p:cNvSpPr/>
          <p:nvPr/>
        </p:nvSpPr>
        <p:spPr>
          <a:xfrm>
            <a:off x="7452360" y="2871215"/>
            <a:ext cx="3977639"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Engine đa dụng cho dữ liệu lớn</a:t>
            </a:r>
          </a:p>
        </p:txBody>
      </p:sp>
      <p:sp>
        <p:nvSpPr>
          <p:cNvPr id="18" name="Rectangle 17"/>
          <p:cNvSpPr/>
          <p:nvPr/>
        </p:nvSpPr>
        <p:spPr>
          <a:xfrm>
            <a:off x="685800" y="3529584"/>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Xử lý stream độ trễ thấp</a:t>
            </a:r>
          </a:p>
        </p:txBody>
      </p:sp>
      <p:sp>
        <p:nvSpPr>
          <p:cNvPr id="19" name="Rectangle 18"/>
          <p:cNvSpPr/>
          <p:nvPr/>
        </p:nvSpPr>
        <p:spPr>
          <a:xfrm>
            <a:off x="3840480" y="3529584"/>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Flink</a:t>
            </a:r>
          </a:p>
        </p:txBody>
      </p:sp>
      <p:sp>
        <p:nvSpPr>
          <p:cNvPr id="20" name="Rectangle 19"/>
          <p:cNvSpPr/>
          <p:nvPr/>
        </p:nvSpPr>
        <p:spPr>
          <a:xfrm>
            <a:off x="7452360" y="3529584"/>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Stream-first engine, stateful processing</a:t>
            </a:r>
          </a:p>
        </p:txBody>
      </p:sp>
      <p:sp>
        <p:nvSpPr>
          <p:cNvPr id="21" name="Rectangle 20"/>
          <p:cNvSpPr/>
          <p:nvPr/>
        </p:nvSpPr>
        <p:spPr>
          <a:xfrm>
            <a:off x="685800" y="4187952"/>
            <a:ext cx="29718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Lưu dữ liệu lâu dài</a:t>
            </a:r>
          </a:p>
        </p:txBody>
      </p:sp>
      <p:sp>
        <p:nvSpPr>
          <p:cNvPr id="22" name="Rectangle 21"/>
          <p:cNvSpPr/>
          <p:nvPr/>
        </p:nvSpPr>
        <p:spPr>
          <a:xfrm>
            <a:off x="3840480" y="4187952"/>
            <a:ext cx="34290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HDFS / Data Lake</a:t>
            </a:r>
          </a:p>
        </p:txBody>
      </p:sp>
      <p:sp>
        <p:nvSpPr>
          <p:cNvPr id="23" name="Rectangle 22"/>
          <p:cNvSpPr/>
          <p:nvPr/>
        </p:nvSpPr>
        <p:spPr>
          <a:xfrm>
            <a:off x="7452360" y="4187952"/>
            <a:ext cx="3977639"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Storage, không phải processing engine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3.10</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Công cụ phân tích dữ liệu</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NumPy, Pandas và PySpark — công cụ nền tảng cho phân tích dữ liệu</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NumPy — Nền tảng tính toán số học</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38</a:t>
            </a:r>
          </a:p>
        </p:txBody>
      </p:sp>
      <p:pic>
        <p:nvPicPr>
          <p:cNvPr id="8" name="Picture 7" descr="body-29.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Pandas — Xử lý dữ liệu dạng bảng</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39</a:t>
            </a:r>
          </a:p>
        </p:txBody>
      </p:sp>
      <p:pic>
        <p:nvPicPr>
          <p:cNvPr id="8" name="Picture 7" descr="body-30.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PySpark — Phân tích dữ liệu ở quy mô lớn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40</a:t>
            </a:r>
          </a:p>
        </p:txBody>
      </p:sp>
      <p:pic>
        <p:nvPicPr>
          <p:cNvPr id="8" name="Picture 7" descr="body-31.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Chọn công cụ phân tích theo quy mô</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41</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Không có công cụ duy nhất phù hợp cho mọi kích thước và mọi bài toán.</a:t>
            </a:r>
          </a:p>
        </p:txBody>
      </p:sp>
      <p:sp>
        <p:nvSpPr>
          <p:cNvPr id="9" name="Rectangle 8"/>
          <p:cNvSpPr/>
          <p:nvPr/>
        </p:nvSpPr>
        <p:spPr>
          <a:xfrm>
            <a:off x="685800" y="1554480"/>
            <a:ext cx="2971800"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Nhu cầu</a:t>
            </a:r>
          </a:p>
        </p:txBody>
      </p:sp>
      <p:sp>
        <p:nvSpPr>
          <p:cNvPr id="10" name="Rectangle 9"/>
          <p:cNvSpPr/>
          <p:nvPr/>
        </p:nvSpPr>
        <p:spPr>
          <a:xfrm>
            <a:off x="3840480" y="1554480"/>
            <a:ext cx="3429000"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Công cụ phù hợp</a:t>
            </a:r>
          </a:p>
        </p:txBody>
      </p:sp>
      <p:sp>
        <p:nvSpPr>
          <p:cNvPr id="11" name="Rectangle 10"/>
          <p:cNvSpPr/>
          <p:nvPr/>
        </p:nvSpPr>
        <p:spPr>
          <a:xfrm>
            <a:off x="7452360" y="1554480"/>
            <a:ext cx="3977639" cy="658368"/>
          </a:xfrm>
          <a:prstGeom prst="rect">
            <a:avLst/>
          </a:prstGeom>
          <a:solidFill>
            <a:srgbClr val="0F3F6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Lý do</a:t>
            </a:r>
          </a:p>
        </p:txBody>
      </p:sp>
      <p:sp>
        <p:nvSpPr>
          <p:cNvPr id="12" name="Rectangle 11"/>
          <p:cNvSpPr/>
          <p:nvPr/>
        </p:nvSpPr>
        <p:spPr>
          <a:xfrm>
            <a:off x="685800" y="2212848"/>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Tính toán vector / ma trận</a:t>
            </a:r>
          </a:p>
        </p:txBody>
      </p:sp>
      <p:sp>
        <p:nvSpPr>
          <p:cNvPr id="13" name="Rectangle 12"/>
          <p:cNvSpPr/>
          <p:nvPr/>
        </p:nvSpPr>
        <p:spPr>
          <a:xfrm>
            <a:off x="3840480" y="2212848"/>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NumPy</a:t>
            </a:r>
          </a:p>
        </p:txBody>
      </p:sp>
      <p:sp>
        <p:nvSpPr>
          <p:cNvPr id="14" name="Rectangle 13"/>
          <p:cNvSpPr/>
          <p:nvPr/>
        </p:nvSpPr>
        <p:spPr>
          <a:xfrm>
            <a:off x="7452360" y="2212848"/>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Nhanh, nền tảng số học của Python</a:t>
            </a:r>
          </a:p>
        </p:txBody>
      </p:sp>
      <p:sp>
        <p:nvSpPr>
          <p:cNvPr id="15" name="Rectangle 14"/>
          <p:cNvSpPr/>
          <p:nvPr/>
        </p:nvSpPr>
        <p:spPr>
          <a:xfrm>
            <a:off x="685800" y="2871215"/>
            <a:ext cx="29718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Dữ liệu bảng vừa và nhỏ</a:t>
            </a:r>
          </a:p>
        </p:txBody>
      </p:sp>
      <p:sp>
        <p:nvSpPr>
          <p:cNvPr id="16" name="Rectangle 15"/>
          <p:cNvSpPr/>
          <p:nvPr/>
        </p:nvSpPr>
        <p:spPr>
          <a:xfrm>
            <a:off x="3840480" y="2871215"/>
            <a:ext cx="34290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Pandas</a:t>
            </a:r>
          </a:p>
        </p:txBody>
      </p:sp>
      <p:sp>
        <p:nvSpPr>
          <p:cNvPr id="17" name="Rectangle 16"/>
          <p:cNvSpPr/>
          <p:nvPr/>
        </p:nvSpPr>
        <p:spPr>
          <a:xfrm>
            <a:off x="7452360" y="2871215"/>
            <a:ext cx="3977639"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Khám phá và biến đổi dữ liệu tiện lợi</a:t>
            </a:r>
          </a:p>
        </p:txBody>
      </p:sp>
      <p:sp>
        <p:nvSpPr>
          <p:cNvPr id="18" name="Rectangle 17"/>
          <p:cNvSpPr/>
          <p:nvPr/>
        </p:nvSpPr>
        <p:spPr>
          <a:xfrm>
            <a:off x="685800" y="3529584"/>
            <a:ext cx="29718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Dữ liệu lớn / phân tán</a:t>
            </a:r>
          </a:p>
        </p:txBody>
      </p:sp>
      <p:sp>
        <p:nvSpPr>
          <p:cNvPr id="19" name="Rectangle 18"/>
          <p:cNvSpPr/>
          <p:nvPr/>
        </p:nvSpPr>
        <p:spPr>
          <a:xfrm>
            <a:off x="3840480" y="3529584"/>
            <a:ext cx="3429000"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PySpark</a:t>
            </a:r>
          </a:p>
        </p:txBody>
      </p:sp>
      <p:sp>
        <p:nvSpPr>
          <p:cNvPr id="20" name="Rectangle 19"/>
          <p:cNvSpPr/>
          <p:nvPr/>
        </p:nvSpPr>
        <p:spPr>
          <a:xfrm>
            <a:off x="7452360" y="3529584"/>
            <a:ext cx="3977639" cy="658368"/>
          </a:xfrm>
          <a:prstGeom prst="rect">
            <a:avLst/>
          </a:prstGeom>
          <a:solidFill>
            <a:srgbClr val="E7EE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Scale-out và tích hợp Spark</a:t>
            </a:r>
          </a:p>
        </p:txBody>
      </p:sp>
      <p:sp>
        <p:nvSpPr>
          <p:cNvPr id="21" name="Rectangle 20"/>
          <p:cNvSpPr/>
          <p:nvPr/>
        </p:nvSpPr>
        <p:spPr>
          <a:xfrm>
            <a:off x="685800" y="4187952"/>
            <a:ext cx="29718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Truy vấn dữ liệu</a:t>
            </a:r>
          </a:p>
        </p:txBody>
      </p:sp>
      <p:sp>
        <p:nvSpPr>
          <p:cNvPr id="22" name="Rectangle 21"/>
          <p:cNvSpPr/>
          <p:nvPr/>
        </p:nvSpPr>
        <p:spPr>
          <a:xfrm>
            <a:off x="3840480" y="4187952"/>
            <a:ext cx="3429000"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SQL / Spark SQL</a:t>
            </a:r>
          </a:p>
        </p:txBody>
      </p:sp>
      <p:sp>
        <p:nvSpPr>
          <p:cNvPr id="23" name="Rectangle 22"/>
          <p:cNvSpPr/>
          <p:nvPr/>
        </p:nvSpPr>
        <p:spPr>
          <a:xfrm>
            <a:off x="7452360" y="4187952"/>
            <a:ext cx="3977639" cy="658368"/>
          </a:xfrm>
          <a:prstGeom prst="rect">
            <a:avLst/>
          </a:prstGeom>
          <a:solidFill>
            <a:srgbClr val="F0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50">
                <a:solidFill>
                  <a:srgbClr val="435266"/>
                </a:solidFill>
                <a:latin typeface="Aptos"/>
              </a:rPr>
              <a:t>Biểu diễn logic phân tích rõ ràng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3.11</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Vai trò của trực quan hóa dữ liệu lớn</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Vì sao trực quan hóa là bước không thể thiếu trong phân tích dữ liệu</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Vì sao cần trực quan hóa dữ liệu?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43</a:t>
            </a:r>
          </a:p>
        </p:txBody>
      </p:sp>
      <p:pic>
        <p:nvPicPr>
          <p:cNvPr id="8" name="Picture 7" descr="body-3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100" b="1">
                <a:solidFill>
                  <a:srgbClr val="0F3F6F"/>
                </a:solidFill>
                <a:latin typeface="Aptos Narrow"/>
              </a:rPr>
              <a:t>Trực quan hóa dữ liệu lớn: không nên vẽ trực tiếp mọi điểm dữ liệu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44</a:t>
            </a:r>
          </a:p>
        </p:txBody>
      </p:sp>
      <p:sp>
        <p:nvSpPr>
          <p:cNvPr id="8" name="Rounded Rectangle 7"/>
          <p:cNvSpPr/>
          <p:nvPr/>
        </p:nvSpPr>
        <p:spPr>
          <a:xfrm>
            <a:off x="685800" y="987552"/>
            <a:ext cx="10698480" cy="50292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i="1">
                <a:solidFill>
                  <a:srgbClr val="0F3F6F"/>
                </a:solidFill>
                <a:latin typeface="Aptos"/>
              </a:rPr>
              <a:t>Đề cương nhấn mạnh vai trò của trực quan hóa dữ liệu lớn và công cụ Python/BI.</a:t>
            </a:r>
          </a:p>
        </p:txBody>
      </p:sp>
      <p:sp>
        <p:nvSpPr>
          <p:cNvPr id="9" name="TextBox 8"/>
          <p:cNvSpPr txBox="1"/>
          <p:nvPr/>
        </p:nvSpPr>
        <p:spPr>
          <a:xfrm>
            <a:off x="868680" y="1691640"/>
            <a:ext cx="10195560" cy="4434840"/>
          </a:xfrm>
          <a:prstGeom prst="rect">
            <a:avLst/>
          </a:prstGeom>
          <a:noFill/>
        </p:spPr>
        <p:txBody>
          <a:bodyPr wrap="square">
            <a:spAutoFit/>
          </a:bodyPr>
          <a:lstStyle/>
          <a:p>
            <a:pPr>
              <a:spcAft>
                <a:spcPts val="700"/>
              </a:spcAft>
            </a:pPr>
            <a:r>
              <a:rPr sz="1800" b="1">
                <a:solidFill>
                  <a:srgbClr val="435266"/>
                </a:solidFill>
                <a:latin typeface="Aptos"/>
              </a:rPr>
              <a:t>Vấn đề:</a:t>
            </a:r>
          </a:p>
          <a:p>
            <a:pPr>
              <a:spcAft>
                <a:spcPts val="700"/>
              </a:spcAft>
            </a:pPr>
            <a:r>
              <a:rPr sz="1800">
                <a:solidFill>
                  <a:srgbClr val="435266"/>
                </a:solidFill>
                <a:latin typeface="Aptos"/>
              </a:rPr>
              <a:t>Hàng triệu điểm dữ liệu có thể làm biểu đồ chậm, rối và khó đọc.</a:t>
            </a:r>
          </a:p>
          <a:p>
            <a:pPr>
              <a:spcAft>
                <a:spcPts val="700"/>
              </a:spcAft>
            </a:pPr>
            <a:r>
              <a:rPr sz="1800" b="1">
                <a:solidFill>
                  <a:srgbClr val="435266"/>
                </a:solidFill>
                <a:latin typeface="Aptos"/>
              </a:rPr>
              <a:t>Giải pháp 1 — Aggregation:</a:t>
            </a:r>
          </a:p>
          <a:p>
            <a:pPr>
              <a:spcAft>
                <a:spcPts val="700"/>
              </a:spcAft>
            </a:pPr>
            <a:r>
              <a:rPr sz="1800">
                <a:solidFill>
                  <a:srgbClr val="435266"/>
                </a:solidFill>
                <a:latin typeface="Aptos"/>
              </a:rPr>
              <a:t>Tổng hợp theo thời gian, khu vực, sản phẩm hoặc nhóm khách hàng.</a:t>
            </a:r>
          </a:p>
          <a:p>
            <a:pPr>
              <a:spcAft>
                <a:spcPts val="700"/>
              </a:spcAft>
            </a:pPr>
            <a:r>
              <a:rPr sz="1800" b="1">
                <a:solidFill>
                  <a:srgbClr val="435266"/>
                </a:solidFill>
                <a:latin typeface="Aptos"/>
              </a:rPr>
              <a:t>Giải pháp 2 — Sampling:</a:t>
            </a:r>
          </a:p>
          <a:p>
            <a:pPr>
              <a:spcAft>
                <a:spcPts val="700"/>
              </a:spcAft>
            </a:pPr>
            <a:r>
              <a:rPr sz="1800">
                <a:solidFill>
                  <a:srgbClr val="435266"/>
                </a:solidFill>
                <a:latin typeface="Aptos"/>
              </a:rPr>
              <a:t>Lấy mẫu đại diện khi mục tiêu là khám phá nhanh phân phối dữ liệu.</a:t>
            </a:r>
          </a:p>
          <a:p>
            <a:pPr>
              <a:spcAft>
                <a:spcPts val="700"/>
              </a:spcAft>
            </a:pPr>
            <a:r>
              <a:rPr sz="1800" b="1">
                <a:solidFill>
                  <a:srgbClr val="435266"/>
                </a:solidFill>
                <a:latin typeface="Aptos"/>
              </a:rPr>
              <a:t>Giải pháp 3 — Filter / Drill-down:</a:t>
            </a:r>
          </a:p>
          <a:p>
            <a:pPr>
              <a:spcAft>
                <a:spcPts val="700"/>
              </a:spcAft>
            </a:pPr>
            <a:r>
              <a:rPr sz="1800">
                <a:solidFill>
                  <a:srgbClr val="435266"/>
                </a:solidFill>
                <a:latin typeface="Aptos"/>
              </a:rPr>
              <a:t>Cho phép người dùng đi từ KPI tổng quan xuống mức chi tiết.</a:t>
            </a:r>
          </a:p>
          <a:p>
            <a:pPr>
              <a:spcAft>
                <a:spcPts val="700"/>
              </a:spcAft>
            </a:pPr>
            <a:r>
              <a:rPr sz="1800">
                <a:solidFill>
                  <a:srgbClr val="435266"/>
                </a:solidFill>
                <a:latin typeface="Aptos"/>
              </a:rPr>
              <a:t>Nguyên tắc: trực quan hóa phải hỗ trợ quyết định, không phải chỉ “vẽ cho đẹp”.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3.12</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Matplotlib</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Thư viện trực quan hóa nền tảng của Python</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Matplotlib — Trực quan hóa cơ bản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46</a:t>
            </a:r>
          </a:p>
        </p:txBody>
      </p:sp>
      <p:pic>
        <p:nvPicPr>
          <p:cNvPr id="8" name="Picture 7" descr="body-3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3.13</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Seaborn</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Trực quan hóa thống kê nâng cao trên nền Matplotlib</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Seaborn — Trực quan hóa thống kê</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48</a:t>
            </a:r>
          </a:p>
        </p:txBody>
      </p:sp>
      <p:pic>
        <p:nvPicPr>
          <p:cNvPr id="8" name="Picture 7" descr="body-37.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3.14</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BI Tools</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Tableau, Power BI, Dashboard và Self-service BI</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Tableau, Power BI và Dashboard</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50</a:t>
            </a:r>
          </a:p>
        </p:txBody>
      </p:sp>
      <p:pic>
        <p:nvPicPr>
          <p:cNvPr id="8" name="Picture 7" descr="body-39.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Python/Spark và BI Tools — khi nào dùng cái nào?</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51</a:t>
            </a:r>
          </a:p>
        </p:txBody>
      </p:sp>
      <p:pic>
        <p:nvPicPr>
          <p:cNvPr id="8" name="Picture 7" descr="body-40.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Python, Tableau và Power BI — vai trò khác nhau</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52</a:t>
            </a:r>
          </a:p>
        </p:txBody>
      </p:sp>
      <p:sp>
        <p:nvSpPr>
          <p:cNvPr id="8" name="TextBox 7"/>
          <p:cNvSpPr txBox="1"/>
          <p:nvPr/>
        </p:nvSpPr>
        <p:spPr>
          <a:xfrm>
            <a:off x="749808" y="987552"/>
            <a:ext cx="10607040" cy="320040"/>
          </a:xfrm>
          <a:prstGeom prst="rect">
            <a:avLst/>
          </a:prstGeom>
          <a:noFill/>
        </p:spPr>
        <p:txBody>
          <a:bodyPr wrap="none">
            <a:spAutoFit/>
          </a:bodyPr>
          <a:lstStyle/>
          <a:p>
            <a:r>
              <a:rPr sz="1300" i="1">
                <a:solidFill>
                  <a:srgbClr val="0F3F6F"/>
                </a:solidFill>
                <a:latin typeface="Aptos"/>
              </a:rPr>
              <a:t>Đề cương chỉ yêu cầu giới thiệu vai trò và công cụ phổ biến; kỹ năng dashboard chuyên sâu sẽ được học ở các bài sau.</a:t>
            </a:r>
          </a:p>
        </p:txBody>
      </p:sp>
      <p:sp>
        <p:nvSpPr>
          <p:cNvPr id="9" name="Rounded Rectangle 8"/>
          <p:cNvSpPr/>
          <p:nvPr/>
        </p:nvSpPr>
        <p:spPr>
          <a:xfrm>
            <a:off x="548640" y="1508760"/>
            <a:ext cx="3154680" cy="4343400"/>
          </a:xfrm>
          <a:prstGeom prst="roundRect">
            <a:avLst/>
          </a:prstGeom>
          <a:solidFill>
            <a:srgbClr val="E7EEF5"/>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91640"/>
            <a:ext cx="2880360" cy="457200"/>
          </a:xfrm>
          <a:prstGeom prst="rect">
            <a:avLst/>
          </a:prstGeom>
          <a:noFill/>
        </p:spPr>
        <p:txBody>
          <a:bodyPr wrap="none">
            <a:spAutoFit/>
          </a:bodyPr>
          <a:lstStyle/>
          <a:p>
            <a:r>
              <a:rPr sz="1950" b="1">
                <a:solidFill>
                  <a:srgbClr val="0F3F6F"/>
                </a:solidFill>
                <a:latin typeface="Aptos Narrow"/>
              </a:rPr>
              <a:t>Python</a:t>
            </a:r>
          </a:p>
        </p:txBody>
      </p:sp>
      <p:sp>
        <p:nvSpPr>
          <p:cNvPr id="11" name="TextBox 10"/>
          <p:cNvSpPr txBox="1"/>
          <p:nvPr/>
        </p:nvSpPr>
        <p:spPr>
          <a:xfrm>
            <a:off x="713232" y="2148840"/>
            <a:ext cx="2788920" cy="3429000"/>
          </a:xfrm>
          <a:prstGeom prst="rect">
            <a:avLst/>
          </a:prstGeom>
          <a:noFill/>
        </p:spPr>
        <p:txBody>
          <a:bodyPr wrap="square">
            <a:spAutoFit/>
          </a:bodyPr>
          <a:lstStyle/>
          <a:p>
            <a:pPr>
              <a:spcAft>
                <a:spcPts val="500"/>
              </a:spcAft>
            </a:pPr>
            <a:r>
              <a:rPr sz="1500">
                <a:solidFill>
                  <a:srgbClr val="435266"/>
                </a:solidFill>
                <a:latin typeface="Aptos"/>
              </a:rPr>
              <a:t>• Linh hoạt cho xử lý + phân tích</a:t>
            </a:r>
          </a:p>
          <a:p>
            <a:pPr>
              <a:spcAft>
                <a:spcPts val="500"/>
              </a:spcAft>
            </a:pPr>
            <a:r>
              <a:rPr sz="1500">
                <a:solidFill>
                  <a:srgbClr val="435266"/>
                </a:solidFill>
                <a:latin typeface="Aptos"/>
              </a:rPr>
              <a:t>• Tùy biến sâu</a:t>
            </a:r>
          </a:p>
          <a:p>
            <a:pPr>
              <a:spcAft>
                <a:spcPts val="500"/>
              </a:spcAft>
            </a:pPr>
            <a:r>
              <a:rPr sz="1500">
                <a:solidFill>
                  <a:srgbClr val="435266"/>
                </a:solidFill>
                <a:latin typeface="Aptos"/>
              </a:rPr>
              <a:t>• Phù hợp notebook / automation</a:t>
            </a:r>
          </a:p>
        </p:txBody>
      </p:sp>
      <p:sp>
        <p:nvSpPr>
          <p:cNvPr id="12" name="Rounded Rectangle 11"/>
          <p:cNvSpPr/>
          <p:nvPr/>
        </p:nvSpPr>
        <p:spPr>
          <a:xfrm>
            <a:off x="4050791" y="1508760"/>
            <a:ext cx="3154680" cy="4343400"/>
          </a:xfrm>
          <a:prstGeom prst="roundRect">
            <a:avLst/>
          </a:prstGeom>
          <a:solidFill>
            <a:srgbClr val="E9F3D6"/>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87952" y="1691640"/>
            <a:ext cx="2880360" cy="457200"/>
          </a:xfrm>
          <a:prstGeom prst="rect">
            <a:avLst/>
          </a:prstGeom>
          <a:noFill/>
        </p:spPr>
        <p:txBody>
          <a:bodyPr wrap="none">
            <a:spAutoFit/>
          </a:bodyPr>
          <a:lstStyle/>
          <a:p>
            <a:r>
              <a:rPr sz="1950" b="1">
                <a:solidFill>
                  <a:srgbClr val="0F3F6F"/>
                </a:solidFill>
                <a:latin typeface="Aptos Narrow"/>
              </a:rPr>
              <a:t>Tableau</a:t>
            </a:r>
          </a:p>
        </p:txBody>
      </p:sp>
      <p:sp>
        <p:nvSpPr>
          <p:cNvPr id="14" name="TextBox 13"/>
          <p:cNvSpPr txBox="1"/>
          <p:nvPr/>
        </p:nvSpPr>
        <p:spPr>
          <a:xfrm>
            <a:off x="4215383" y="2148840"/>
            <a:ext cx="2788920" cy="3429000"/>
          </a:xfrm>
          <a:prstGeom prst="rect">
            <a:avLst/>
          </a:prstGeom>
          <a:noFill/>
        </p:spPr>
        <p:txBody>
          <a:bodyPr wrap="square">
            <a:spAutoFit/>
          </a:bodyPr>
          <a:lstStyle/>
          <a:p>
            <a:pPr>
              <a:spcAft>
                <a:spcPts val="500"/>
              </a:spcAft>
            </a:pPr>
            <a:r>
              <a:rPr sz="1500">
                <a:solidFill>
                  <a:srgbClr val="435266"/>
                </a:solidFill>
                <a:latin typeface="Aptos"/>
              </a:rPr>
              <a:t>• Khám phá trực quan mạnh</a:t>
            </a:r>
          </a:p>
          <a:p>
            <a:pPr>
              <a:spcAft>
                <a:spcPts val="500"/>
              </a:spcAft>
            </a:pPr>
            <a:r>
              <a:rPr sz="1500">
                <a:solidFill>
                  <a:srgbClr val="435266"/>
                </a:solidFill>
                <a:latin typeface="Aptos"/>
              </a:rPr>
              <a:t>• Kéo thả nhanh</a:t>
            </a:r>
          </a:p>
          <a:p>
            <a:pPr>
              <a:spcAft>
                <a:spcPts val="500"/>
              </a:spcAft>
            </a:pPr>
            <a:r>
              <a:rPr sz="1500">
                <a:solidFill>
                  <a:srgbClr val="435266"/>
                </a:solidFill>
                <a:latin typeface="Aptos"/>
              </a:rPr>
              <a:t>• Phù hợp self-service analytics</a:t>
            </a:r>
          </a:p>
        </p:txBody>
      </p:sp>
      <p:sp>
        <p:nvSpPr>
          <p:cNvPr id="15" name="Rounded Rectangle 14"/>
          <p:cNvSpPr/>
          <p:nvPr/>
        </p:nvSpPr>
        <p:spPr>
          <a:xfrm>
            <a:off x="7552944" y="1508760"/>
            <a:ext cx="3154680" cy="4343400"/>
          </a:xfrm>
          <a:prstGeom prst="roundRect">
            <a:avLst/>
          </a:prstGeom>
          <a:solidFill>
            <a:srgbClr val="F0F4F7"/>
          </a:solidFill>
          <a:ln>
            <a:solidFill>
              <a:srgbClr val="D7D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90104" y="1691640"/>
            <a:ext cx="2880360" cy="457200"/>
          </a:xfrm>
          <a:prstGeom prst="rect">
            <a:avLst/>
          </a:prstGeom>
          <a:noFill/>
        </p:spPr>
        <p:txBody>
          <a:bodyPr wrap="none">
            <a:spAutoFit/>
          </a:bodyPr>
          <a:lstStyle/>
          <a:p>
            <a:r>
              <a:rPr sz="1950" b="1">
                <a:solidFill>
                  <a:srgbClr val="0F3F6F"/>
                </a:solidFill>
                <a:latin typeface="Aptos Narrow"/>
              </a:rPr>
              <a:t>Power BI</a:t>
            </a:r>
          </a:p>
        </p:txBody>
      </p:sp>
      <p:sp>
        <p:nvSpPr>
          <p:cNvPr id="17" name="TextBox 16"/>
          <p:cNvSpPr txBox="1"/>
          <p:nvPr/>
        </p:nvSpPr>
        <p:spPr>
          <a:xfrm>
            <a:off x="7717536" y="2148840"/>
            <a:ext cx="2788920" cy="3429000"/>
          </a:xfrm>
          <a:prstGeom prst="rect">
            <a:avLst/>
          </a:prstGeom>
          <a:noFill/>
        </p:spPr>
        <p:txBody>
          <a:bodyPr wrap="square">
            <a:spAutoFit/>
          </a:bodyPr>
          <a:lstStyle/>
          <a:p>
            <a:pPr>
              <a:spcAft>
                <a:spcPts val="500"/>
              </a:spcAft>
            </a:pPr>
            <a:r>
              <a:rPr sz="1500">
                <a:solidFill>
                  <a:srgbClr val="435266"/>
                </a:solidFill>
                <a:latin typeface="Aptos"/>
              </a:rPr>
              <a:t>• Tích hợp hệ sinh thái Microsoft</a:t>
            </a:r>
          </a:p>
          <a:p>
            <a:pPr>
              <a:spcAft>
                <a:spcPts val="500"/>
              </a:spcAft>
            </a:pPr>
            <a:r>
              <a:rPr sz="1500">
                <a:solidFill>
                  <a:srgbClr val="435266"/>
                </a:solidFill>
                <a:latin typeface="Aptos"/>
              </a:rPr>
              <a:t>• Dashboard doanh nghiệp</a:t>
            </a:r>
          </a:p>
          <a:p>
            <a:pPr>
              <a:spcAft>
                <a:spcPts val="500"/>
              </a:spcAft>
            </a:pPr>
            <a:r>
              <a:rPr sz="1500">
                <a:solidFill>
                  <a:srgbClr val="435266"/>
                </a:solidFill>
                <a:latin typeface="Aptos"/>
              </a:rPr>
              <a:t>• DAX / Power Query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89888"/>
            <a:ext cx="2834640" cy="411480"/>
          </a:xfrm>
          <a:prstGeom prst="rect">
            <a:avLst/>
          </a:prstGeom>
          <a:noFill/>
        </p:spPr>
        <p:txBody>
          <a:bodyPr wrap="none">
            <a:spAutoFit/>
          </a:bodyPr>
          <a:lstStyle/>
          <a:p>
            <a:r>
              <a:rPr sz="2200" b="1">
                <a:solidFill>
                  <a:srgbClr val="85B518"/>
                </a:solidFill>
                <a:latin typeface="Aptos Narrow"/>
              </a:rPr>
              <a:t>PHẦN TH</a:t>
            </a:r>
          </a:p>
        </p:txBody>
      </p:sp>
      <p:sp>
        <p:nvSpPr>
          <p:cNvPr id="7" name="TextBox 6"/>
          <p:cNvSpPr txBox="1"/>
          <p:nvPr/>
        </p:nvSpPr>
        <p:spPr>
          <a:xfrm>
            <a:off x="658368" y="2011680"/>
            <a:ext cx="10332720" cy="1325880"/>
          </a:xfrm>
          <a:prstGeom prst="rect">
            <a:avLst/>
          </a:prstGeom>
          <a:noFill/>
        </p:spPr>
        <p:txBody>
          <a:bodyPr wrap="none">
            <a:spAutoFit/>
          </a:bodyPr>
          <a:lstStyle/>
          <a:p>
            <a:r>
              <a:rPr sz="3700" b="1">
                <a:solidFill>
                  <a:srgbClr val="0F3F6F"/>
                </a:solidFill>
                <a:latin typeface="Aptos Narrow"/>
              </a:rPr>
              <a:t>Thực hành Bài 3</a:t>
            </a:r>
          </a:p>
        </p:txBody>
      </p:sp>
      <p:sp>
        <p:nvSpPr>
          <p:cNvPr id="8" name="TextBox 7"/>
          <p:cNvSpPr txBox="1"/>
          <p:nvPr/>
        </p:nvSpPr>
        <p:spPr>
          <a:xfrm>
            <a:off x="685800" y="3364992"/>
            <a:ext cx="10012680" cy="914400"/>
          </a:xfrm>
          <a:prstGeom prst="rect">
            <a:avLst/>
          </a:prstGeom>
          <a:noFill/>
        </p:spPr>
        <p:txBody>
          <a:bodyPr wrap="none">
            <a:spAutoFit/>
          </a:bodyPr>
          <a:lstStyle/>
          <a:p>
            <a:r>
              <a:rPr sz="1800">
                <a:solidFill>
                  <a:srgbClr val="435266"/>
                </a:solidFill>
                <a:latin typeface="Aptos"/>
              </a:rPr>
              <a:t>Pipeline phân tích dữ liệu xuyên suốt: từ CSV đến trực quan hóa</a:t>
            </a:r>
          </a:p>
        </p:txBody>
      </p:sp>
      <p:sp>
        <p:nvSpPr>
          <p:cNvPr id="9" name="Rectangle 8"/>
          <p:cNvSpPr/>
          <p:nvPr/>
        </p:nvSpPr>
        <p:spPr>
          <a:xfrm>
            <a:off x="685800" y="4974336"/>
            <a:ext cx="5212080" cy="5029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16752" y="4974336"/>
            <a:ext cx="1143000" cy="50292"/>
          </a:xfrm>
          <a:prstGeom prst="rect">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Pipeline thực hành xuyên suốt</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54</a:t>
            </a:r>
          </a:p>
        </p:txBody>
      </p:sp>
      <p:pic>
        <p:nvPicPr>
          <p:cNvPr id="8" name="Picture 7" descr="body-42.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Các bước thực hành (1/2)</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55</a:t>
            </a:r>
          </a:p>
        </p:txBody>
      </p:sp>
      <p:pic>
        <p:nvPicPr>
          <p:cNvPr id="8" name="Picture 7" descr="body-43.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Các bước thực hành (2/2)</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56</a:t>
            </a:r>
          </a:p>
        </p:txBody>
      </p:sp>
      <p:pic>
        <p:nvPicPr>
          <p:cNvPr id="8" name="Picture 7" descr="body-44.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Bài thực hành mở rộng theo đề cương</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57</a:t>
            </a:r>
          </a:p>
        </p:txBody>
      </p:sp>
      <p:sp>
        <p:nvSpPr>
          <p:cNvPr id="8" name="TextBox 7"/>
          <p:cNvSpPr txBox="1"/>
          <p:nvPr/>
        </p:nvSpPr>
        <p:spPr>
          <a:xfrm>
            <a:off x="777240" y="987552"/>
            <a:ext cx="10607040" cy="320040"/>
          </a:xfrm>
          <a:prstGeom prst="rect">
            <a:avLst/>
          </a:prstGeom>
          <a:noFill/>
        </p:spPr>
        <p:txBody>
          <a:bodyPr wrap="none">
            <a:spAutoFit/>
          </a:bodyPr>
          <a:lstStyle/>
          <a:p>
            <a:r>
              <a:rPr sz="1300" i="1">
                <a:solidFill>
                  <a:srgbClr val="0F3F6F"/>
                </a:solidFill>
                <a:latin typeface="Aptos"/>
              </a:rPr>
              <a:t>Lab mở rộng bám đúng yêu cầu: SQL, Python/Pandas, cầu nối sang PySpark và trực quan hóa.</a:t>
            </a:r>
          </a:p>
        </p:txBody>
      </p:sp>
      <p:sp>
        <p:nvSpPr>
          <p:cNvPr id="9" name="Rounded Rectangle 8"/>
          <p:cNvSpPr/>
          <p:nvPr/>
        </p:nvSpPr>
        <p:spPr>
          <a:xfrm>
            <a:off x="5943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39112"/>
            <a:ext cx="1929384" cy="411480"/>
          </a:xfrm>
          <a:prstGeom prst="rect">
            <a:avLst/>
          </a:prstGeom>
          <a:noFill/>
        </p:spPr>
        <p:txBody>
          <a:bodyPr wrap="none">
            <a:spAutoFit/>
          </a:bodyPr>
          <a:lstStyle/>
          <a:p>
            <a:r>
              <a:rPr sz="1800" b="1">
                <a:solidFill>
                  <a:srgbClr val="0F3F6F"/>
                </a:solidFill>
                <a:latin typeface="Aptos Narrow"/>
              </a:rPr>
              <a:t>1. SQL</a:t>
            </a:r>
          </a:p>
        </p:txBody>
      </p:sp>
      <p:sp>
        <p:nvSpPr>
          <p:cNvPr id="11" name="TextBox 10"/>
          <p:cNvSpPr txBox="1"/>
          <p:nvPr/>
        </p:nvSpPr>
        <p:spPr>
          <a:xfrm>
            <a:off x="704088" y="2468879"/>
            <a:ext cx="1929384" cy="1920239"/>
          </a:xfrm>
          <a:prstGeom prst="rect">
            <a:avLst/>
          </a:prstGeom>
          <a:noFill/>
        </p:spPr>
        <p:txBody>
          <a:bodyPr wrap="square">
            <a:spAutoFit/>
          </a:bodyPr>
          <a:lstStyle/>
          <a:p>
            <a:r>
              <a:rPr sz="1420">
                <a:solidFill>
                  <a:srgbClr val="435266"/>
                </a:solidFill>
                <a:latin typeface="Aptos"/>
              </a:rPr>
              <a:t>• Đọc dữ liệu</a:t>
            </a:r>
          </a:p>
          <a:p>
            <a:r>
              <a:rPr sz="1420">
                <a:solidFill>
                  <a:srgbClr val="435266"/>
                </a:solidFill>
                <a:latin typeface="Aptos"/>
              </a:rPr>
              <a:t>• Filter / GroupBy</a:t>
            </a:r>
          </a:p>
          <a:p>
            <a:r>
              <a:rPr sz="1420">
                <a:solidFill>
                  <a:srgbClr val="435266"/>
                </a:solidFill>
                <a:latin typeface="Aptos"/>
              </a:rPr>
              <a:t>• Tính KPI cơ bản</a:t>
            </a:r>
          </a:p>
        </p:txBody>
      </p:sp>
      <p:cxnSp>
        <p:nvCxnSpPr>
          <p:cNvPr id="12" name="Connector 11"/>
          <p:cNvCxnSpPr/>
          <p:nvPr/>
        </p:nvCxnSpPr>
        <p:spPr>
          <a:xfrm>
            <a:off x="27432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874519"/>
            <a:ext cx="2148840" cy="2651760"/>
          </a:xfrm>
          <a:prstGeom prst="roundRect">
            <a:avLst/>
          </a:prstGeom>
          <a:solidFill>
            <a:srgbClr val="E9F3D6"/>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2039112"/>
            <a:ext cx="1929384" cy="411480"/>
          </a:xfrm>
          <a:prstGeom prst="rect">
            <a:avLst/>
          </a:prstGeom>
          <a:noFill/>
        </p:spPr>
        <p:txBody>
          <a:bodyPr wrap="none">
            <a:spAutoFit/>
          </a:bodyPr>
          <a:lstStyle/>
          <a:p>
            <a:r>
              <a:rPr sz="1800" b="1">
                <a:solidFill>
                  <a:srgbClr val="0F3F6F"/>
                </a:solidFill>
                <a:latin typeface="Aptos Narrow"/>
              </a:rPr>
              <a:t>2. Pandas</a:t>
            </a:r>
          </a:p>
        </p:txBody>
      </p:sp>
      <p:sp>
        <p:nvSpPr>
          <p:cNvPr id="15" name="TextBox 14"/>
          <p:cNvSpPr txBox="1"/>
          <p:nvPr/>
        </p:nvSpPr>
        <p:spPr>
          <a:xfrm>
            <a:off x="3447288" y="2468879"/>
            <a:ext cx="1929384" cy="1920239"/>
          </a:xfrm>
          <a:prstGeom prst="rect">
            <a:avLst/>
          </a:prstGeom>
          <a:noFill/>
        </p:spPr>
        <p:txBody>
          <a:bodyPr wrap="square">
            <a:spAutoFit/>
          </a:bodyPr>
          <a:lstStyle/>
          <a:p>
            <a:r>
              <a:rPr sz="1420">
                <a:solidFill>
                  <a:srgbClr val="435266"/>
                </a:solidFill>
                <a:latin typeface="Aptos"/>
              </a:rPr>
              <a:t>• Thực hiện lại cùng logic</a:t>
            </a:r>
          </a:p>
          <a:p>
            <a:r>
              <a:rPr sz="1420">
                <a:solidFill>
                  <a:srgbClr val="435266"/>
                </a:solidFill>
                <a:latin typeface="Aptos"/>
              </a:rPr>
              <a:t>• So sánh cú pháp</a:t>
            </a:r>
          </a:p>
          <a:p>
            <a:r>
              <a:rPr sz="1420">
                <a:solidFill>
                  <a:srgbClr val="435266"/>
                </a:solidFill>
                <a:latin typeface="Aptos"/>
              </a:rPr>
              <a:t>• Chuẩn bị biểu đồ</a:t>
            </a:r>
          </a:p>
        </p:txBody>
      </p:sp>
      <p:cxnSp>
        <p:nvCxnSpPr>
          <p:cNvPr id="16" name="Connector 15"/>
          <p:cNvCxnSpPr/>
          <p:nvPr/>
        </p:nvCxnSpPr>
        <p:spPr>
          <a:xfrm>
            <a:off x="54864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1874519"/>
            <a:ext cx="2148840" cy="2651760"/>
          </a:xfrm>
          <a:prstGeom prst="roundRect">
            <a:avLst/>
          </a:prstGeom>
          <a:solidFill>
            <a:srgbClr val="F0F4F7"/>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39112"/>
            <a:ext cx="1929384" cy="411480"/>
          </a:xfrm>
          <a:prstGeom prst="rect">
            <a:avLst/>
          </a:prstGeom>
          <a:noFill/>
        </p:spPr>
        <p:txBody>
          <a:bodyPr wrap="none">
            <a:spAutoFit/>
          </a:bodyPr>
          <a:lstStyle/>
          <a:p>
            <a:r>
              <a:rPr sz="1800" b="1">
                <a:solidFill>
                  <a:srgbClr val="0F3F6F"/>
                </a:solidFill>
                <a:latin typeface="Aptos Narrow"/>
              </a:rPr>
              <a:t>3. PySpark</a:t>
            </a:r>
          </a:p>
        </p:txBody>
      </p:sp>
      <p:sp>
        <p:nvSpPr>
          <p:cNvPr id="19" name="TextBox 18"/>
          <p:cNvSpPr txBox="1"/>
          <p:nvPr/>
        </p:nvSpPr>
        <p:spPr>
          <a:xfrm>
            <a:off x="6190488" y="2468879"/>
            <a:ext cx="1929384" cy="1920239"/>
          </a:xfrm>
          <a:prstGeom prst="rect">
            <a:avLst/>
          </a:prstGeom>
          <a:noFill/>
        </p:spPr>
        <p:txBody>
          <a:bodyPr wrap="square">
            <a:spAutoFit/>
          </a:bodyPr>
          <a:lstStyle/>
          <a:p>
            <a:r>
              <a:rPr sz="1420">
                <a:solidFill>
                  <a:srgbClr val="435266"/>
                </a:solidFill>
                <a:latin typeface="Aptos"/>
              </a:rPr>
              <a:t>• Chạy cùng bài toán</a:t>
            </a:r>
          </a:p>
          <a:p>
            <a:r>
              <a:rPr sz="1420">
                <a:solidFill>
                  <a:srgbClr val="435266"/>
                </a:solidFill>
                <a:latin typeface="Aptos"/>
              </a:rPr>
              <a:t>• Quan sát DataFrame phân tán</a:t>
            </a:r>
          </a:p>
          <a:p>
            <a:r>
              <a:rPr sz="1420">
                <a:solidFill>
                  <a:srgbClr val="435266"/>
                </a:solidFill>
                <a:latin typeface="Aptos"/>
              </a:rPr>
              <a:t>• So sánh với Pandas</a:t>
            </a:r>
          </a:p>
        </p:txBody>
      </p:sp>
      <p:cxnSp>
        <p:nvCxnSpPr>
          <p:cNvPr id="20" name="Connector 19"/>
          <p:cNvCxnSpPr/>
          <p:nvPr/>
        </p:nvCxnSpPr>
        <p:spPr>
          <a:xfrm>
            <a:off x="8229600" y="3200400"/>
            <a:ext cx="502920" cy="0"/>
          </a:xfrm>
          <a:prstGeom prst="line">
            <a:avLst/>
          </a:prstGeom>
          <a:ln w="25400">
            <a:solidFill>
              <a:srgbClr val="0F3F6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874519"/>
            <a:ext cx="2148840" cy="2651760"/>
          </a:xfrm>
          <a:prstGeom prst="roundRect">
            <a:avLst/>
          </a:prstGeom>
          <a:solidFill>
            <a:srgbClr val="E7EEF5"/>
          </a:solidFill>
          <a:ln>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33688" y="2039112"/>
            <a:ext cx="1929384" cy="411480"/>
          </a:xfrm>
          <a:prstGeom prst="rect">
            <a:avLst/>
          </a:prstGeom>
          <a:noFill/>
        </p:spPr>
        <p:txBody>
          <a:bodyPr wrap="none">
            <a:spAutoFit/>
          </a:bodyPr>
          <a:lstStyle/>
          <a:p>
            <a:r>
              <a:rPr sz="1800" b="1">
                <a:solidFill>
                  <a:srgbClr val="0F3F6F"/>
                </a:solidFill>
                <a:latin typeface="Aptos Narrow"/>
              </a:rPr>
              <a:t>4. Visualization</a:t>
            </a:r>
          </a:p>
        </p:txBody>
      </p:sp>
      <p:sp>
        <p:nvSpPr>
          <p:cNvPr id="23" name="TextBox 22"/>
          <p:cNvSpPr txBox="1"/>
          <p:nvPr/>
        </p:nvSpPr>
        <p:spPr>
          <a:xfrm>
            <a:off x="8933688" y="2468879"/>
            <a:ext cx="1929384" cy="1920239"/>
          </a:xfrm>
          <a:prstGeom prst="rect">
            <a:avLst/>
          </a:prstGeom>
          <a:noFill/>
        </p:spPr>
        <p:txBody>
          <a:bodyPr wrap="square">
            <a:spAutoFit/>
          </a:bodyPr>
          <a:lstStyle/>
          <a:p>
            <a:r>
              <a:rPr sz="1420">
                <a:solidFill>
                  <a:srgbClr val="435266"/>
                </a:solidFill>
                <a:latin typeface="Aptos"/>
              </a:rPr>
              <a:t>• Matplotlib / Seaborn</a:t>
            </a:r>
          </a:p>
          <a:p>
            <a:r>
              <a:rPr sz="1420">
                <a:solidFill>
                  <a:srgbClr val="435266"/>
                </a:solidFill>
                <a:latin typeface="Aptos"/>
              </a:rPr>
              <a:t>• Xuất bảng tổng hợp</a:t>
            </a:r>
          </a:p>
          <a:p>
            <a:r>
              <a:rPr sz="1420">
                <a:solidFill>
                  <a:srgbClr val="435266"/>
                </a:solidFill>
                <a:latin typeface="Aptos"/>
              </a:rPr>
              <a:t>• Chuẩn bị dữ liệu cho BI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Làm quen kết nối Python với NoSQL — ở mức nhập môn</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58</a:t>
            </a:r>
          </a:p>
        </p:txBody>
      </p:sp>
      <p:sp>
        <p:nvSpPr>
          <p:cNvPr id="8" name="Rounded Rectangle 7"/>
          <p:cNvSpPr/>
          <p:nvPr/>
        </p:nvSpPr>
        <p:spPr>
          <a:xfrm>
            <a:off x="685800" y="987552"/>
            <a:ext cx="10698480" cy="502920"/>
          </a:xfrm>
          <a:prstGeom prst="roundRect">
            <a:avLst/>
          </a:prstGeom>
          <a:solidFill>
            <a:srgbClr val="E7EEF5"/>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i="1">
                <a:solidFill>
                  <a:srgbClr val="0F3F6F"/>
                </a:solidFill>
                <a:latin typeface="Aptos"/>
              </a:rPr>
              <a:t>Nội dung này được thêm để bám sát dòng đề cương “giới thiệu cú pháp kết từ Python sang Spark (PySpark) và NoSQL”.</a:t>
            </a:r>
          </a:p>
        </p:txBody>
      </p:sp>
      <p:sp>
        <p:nvSpPr>
          <p:cNvPr id="9" name="TextBox 8"/>
          <p:cNvSpPr txBox="1"/>
          <p:nvPr/>
        </p:nvSpPr>
        <p:spPr>
          <a:xfrm>
            <a:off x="868680" y="1691640"/>
            <a:ext cx="10195560" cy="4434840"/>
          </a:xfrm>
          <a:prstGeom prst="rect">
            <a:avLst/>
          </a:prstGeom>
          <a:noFill/>
        </p:spPr>
        <p:txBody>
          <a:bodyPr wrap="square">
            <a:spAutoFit/>
          </a:bodyPr>
          <a:lstStyle/>
          <a:p>
            <a:pPr>
              <a:spcAft>
                <a:spcPts val="700"/>
              </a:spcAft>
            </a:pPr>
            <a:r>
              <a:rPr sz="1800" b="1">
                <a:solidFill>
                  <a:srgbClr val="435266"/>
                </a:solidFill>
                <a:latin typeface="Aptos"/>
              </a:rPr>
              <a:t>Mục tiêu:</a:t>
            </a:r>
          </a:p>
          <a:p>
            <a:pPr>
              <a:spcAft>
                <a:spcPts val="700"/>
              </a:spcAft>
            </a:pPr>
            <a:r>
              <a:rPr sz="1800">
                <a:solidFill>
                  <a:srgbClr val="435266"/>
                </a:solidFill>
                <a:latin typeface="Aptos"/>
              </a:rPr>
              <a:t>Hiểu rằng Python có thể đọc/ghi dữ liệu từ MongoDB hoặc các hệ NoSQL thông qua thư viện/connector.</a:t>
            </a:r>
          </a:p>
          <a:p>
            <a:pPr>
              <a:spcAft>
                <a:spcPts val="700"/>
              </a:spcAft>
            </a:pPr>
            <a:r>
              <a:rPr sz="1800" b="1">
                <a:solidFill>
                  <a:srgbClr val="435266"/>
                </a:solidFill>
                <a:latin typeface="Aptos"/>
              </a:rPr>
              <a:t>Ví dụ tư duy:</a:t>
            </a:r>
          </a:p>
          <a:p>
            <a:pPr>
              <a:spcAft>
                <a:spcPts val="700"/>
              </a:spcAft>
            </a:pPr>
            <a:r>
              <a:rPr sz="1800">
                <a:solidFill>
                  <a:srgbClr val="435266"/>
                </a:solidFill>
                <a:latin typeface="Aptos"/>
              </a:rPr>
              <a:t>Kết nối → chọn collection/table → truy vấn → chuyển kết quả về DataFrame → phân tích.</a:t>
            </a:r>
          </a:p>
          <a:p>
            <a:pPr>
              <a:spcAft>
                <a:spcPts val="700"/>
              </a:spcAft>
            </a:pPr>
            <a:r>
              <a:rPr sz="1800" b="1">
                <a:solidFill>
                  <a:srgbClr val="435266"/>
                </a:solidFill>
                <a:latin typeface="Aptos"/>
              </a:rPr>
              <a:t>Không yêu cầu:</a:t>
            </a:r>
          </a:p>
          <a:p>
            <a:pPr>
              <a:spcAft>
                <a:spcPts val="700"/>
              </a:spcAft>
            </a:pPr>
            <a:r>
              <a:rPr sz="1800">
                <a:solidFill>
                  <a:srgbClr val="435266"/>
                </a:solidFill>
                <a:latin typeface="Aptos"/>
              </a:rPr>
              <a:t>Không đi sâu cài cluster Cassandra/Neo4j hay tối ưu truy vấn trong Bài 3.</a:t>
            </a:r>
          </a:p>
          <a:p>
            <a:pPr>
              <a:spcAft>
                <a:spcPts val="700"/>
              </a:spcAft>
            </a:pPr>
            <a:r>
              <a:rPr sz="1800" b="1">
                <a:solidFill>
                  <a:srgbClr val="435266"/>
                </a:solidFill>
                <a:latin typeface="Aptos"/>
              </a:rPr>
              <a:t>Cầu nối:</a:t>
            </a:r>
          </a:p>
          <a:p>
            <a:pPr>
              <a:spcAft>
                <a:spcPts val="700"/>
              </a:spcAft>
            </a:pPr>
            <a:r>
              <a:rPr sz="1800">
                <a:solidFill>
                  <a:srgbClr val="435266"/>
                </a:solidFill>
                <a:latin typeface="Aptos"/>
              </a:rPr>
              <a:t>Bài 2 đã giới thiệu NoSQL; Bài 3 đặt NoSQL vào pipeline phân tích cùng SQL, Pandas và PySpark.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Tóm tắt bài học</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59</a:t>
            </a:r>
          </a:p>
        </p:txBody>
      </p:sp>
      <p:pic>
        <p:nvPicPr>
          <p:cNvPr id="8" name="Picture 7" descr="body-45.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347472"/>
            <a:ext cx="8229600" cy="548640"/>
          </a:xfrm>
          <a:prstGeom prst="rect">
            <a:avLst/>
          </a:prstGeom>
          <a:noFill/>
        </p:spPr>
        <p:txBody>
          <a:bodyPr wrap="none">
            <a:spAutoFit/>
          </a:bodyPr>
          <a:lstStyle/>
          <a:p>
            <a:r>
              <a:rPr sz="2700" b="1">
                <a:solidFill>
                  <a:srgbClr val="0F3F6F"/>
                </a:solidFill>
                <a:latin typeface="Aptos Narrow"/>
              </a:rPr>
              <a:t>Câu hỏi kiểm tra nhanh</a:t>
            </a:r>
          </a:p>
        </p:txBody>
      </p:sp>
      <p:sp>
        <p:nvSpPr>
          <p:cNvPr id="7" name="TextBox 6"/>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60</a:t>
            </a:r>
          </a:p>
        </p:txBody>
      </p:sp>
      <p:pic>
        <p:nvPicPr>
          <p:cNvPr id="8" name="Picture 7" descr="body-46.png"/>
          <p:cNvPicPr>
            <a:picLocks noChangeAspect="1"/>
          </p:cNvPicPr>
          <p:nvPr/>
        </p:nvPicPr>
        <p:blipFill>
          <a:blip r:embed="rId2"/>
          <a:stretch>
            <a:fillRect/>
          </a:stretch>
        </p:blipFill>
        <p:spPr>
          <a:xfrm>
            <a:off x="1397186" y="969264"/>
            <a:ext cx="9083683" cy="5605272"/>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210312"/>
          </a:xfrm>
          <a:prstGeom prst="rect">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8339327" y="0"/>
            <a:ext cx="640080" cy="210312"/>
          </a:xfrm>
          <a:prstGeom prst="parallelogram">
            <a:avLst/>
          </a:prstGeom>
          <a:solidFill>
            <a:srgbClr val="84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8732520" y="0"/>
            <a:ext cx="969264" cy="1005840"/>
          </a:xfrm>
          <a:prstGeom prst="parallelogram">
            <a:avLst/>
          </a:prstGeom>
          <a:solidFill>
            <a:srgbClr val="85B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rallelogram 4"/>
          <p:cNvSpPr/>
          <p:nvPr/>
        </p:nvSpPr>
        <p:spPr>
          <a:xfrm>
            <a:off x="9747504" y="0"/>
            <a:ext cx="1005840" cy="1005840"/>
          </a:xfrm>
          <a:prstGeom prst="parallelogram">
            <a:avLst/>
          </a:prstGeom>
          <a:solidFill>
            <a:srgbClr val="0F3F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10241280" cy="914400"/>
          </a:xfrm>
          <a:prstGeom prst="rect">
            <a:avLst/>
          </a:prstGeom>
          <a:noFill/>
        </p:spPr>
        <p:txBody>
          <a:bodyPr wrap="none">
            <a:spAutoFit/>
          </a:bodyPr>
          <a:lstStyle/>
          <a:p>
            <a:pPr algn="ctr"/>
            <a:r>
              <a:rPr sz="4300" b="1">
                <a:solidFill>
                  <a:srgbClr val="0F3F6F"/>
                </a:solidFill>
                <a:latin typeface="Aptos Narrow"/>
              </a:rPr>
              <a:t>Cảm ơn đã theo dõi</a:t>
            </a:r>
          </a:p>
        </p:txBody>
      </p:sp>
      <p:sp>
        <p:nvSpPr>
          <p:cNvPr id="7" name="TextBox 6"/>
          <p:cNvSpPr txBox="1"/>
          <p:nvPr/>
        </p:nvSpPr>
        <p:spPr>
          <a:xfrm>
            <a:off x="777240" y="2697480"/>
            <a:ext cx="10652760" cy="1051560"/>
          </a:xfrm>
          <a:prstGeom prst="rect">
            <a:avLst/>
          </a:prstGeom>
          <a:noFill/>
        </p:spPr>
        <p:txBody>
          <a:bodyPr wrap="none">
            <a:spAutoFit/>
          </a:bodyPr>
          <a:lstStyle/>
          <a:p>
            <a:pPr algn="ctr"/>
            <a:r>
              <a:rPr sz="2200" b="1">
                <a:solidFill>
                  <a:srgbClr val="0F3F6F"/>
                </a:solidFill>
                <a:latin typeface="Aptos"/>
              </a:rPr>
              <a:t>Hoàn thành nhóm nội dung:
Môi trường và công cụ phân tích Big Data</a:t>
            </a:r>
          </a:p>
        </p:txBody>
      </p:sp>
      <p:sp>
        <p:nvSpPr>
          <p:cNvPr id="8" name="TextBox 7"/>
          <p:cNvSpPr txBox="1"/>
          <p:nvPr/>
        </p:nvSpPr>
        <p:spPr>
          <a:xfrm>
            <a:off x="777240" y="3977639"/>
            <a:ext cx="10652760" cy="1325880"/>
          </a:xfrm>
          <a:prstGeom prst="rect">
            <a:avLst/>
          </a:prstGeom>
          <a:noFill/>
        </p:spPr>
        <p:txBody>
          <a:bodyPr wrap="none">
            <a:spAutoFit/>
          </a:bodyPr>
          <a:lstStyle/>
          <a:p>
            <a:pPr algn="ctr"/>
            <a:r>
              <a:rPr sz="1500">
                <a:solidFill>
                  <a:srgbClr val="435266"/>
                </a:solidFill>
                <a:latin typeface="Aptos"/>
              </a:rPr>
              <a:t>Tài liệu tham khảo: đường link Spark/Kafka và notebook thực hành sẽ được chia sẻ trên LMS
Tiếp tục thực hành SQL, Pandas, PySpark và trực quan hóa trên dataset thực tế
Bài tiếp theo đi sâu vào cơ chế thực thi Hadoop và MapReduce</a:t>
            </a:r>
          </a:p>
        </p:txBody>
      </p:sp>
      <p:sp>
        <p:nvSpPr>
          <p:cNvPr id="9" name="TextBox 8"/>
          <p:cNvSpPr txBox="1"/>
          <p:nvPr/>
        </p:nvSpPr>
        <p:spPr>
          <a:xfrm>
            <a:off x="11475720" y="6492240"/>
            <a:ext cx="384048" cy="182880"/>
          </a:xfrm>
          <a:prstGeom prst="rect">
            <a:avLst/>
          </a:prstGeom>
          <a:noFill/>
        </p:spPr>
        <p:txBody>
          <a:bodyPr wrap="none">
            <a:spAutoFit/>
          </a:bodyPr>
          <a:lstStyle/>
          <a:p>
            <a:pPr algn="r"/>
            <a:r>
              <a:rPr sz="800">
                <a:solidFill>
                  <a:srgbClr val="5F5F5F"/>
                </a:solidFill>
                <a:latin typeface="Aptos"/>
              </a:rPr>
              <a:t>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