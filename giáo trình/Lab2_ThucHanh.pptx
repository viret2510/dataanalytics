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905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/home/claude/work/assets/wave_divider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5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hành 2.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658368" y="1965960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Môi trường Python, Pandas/NumPy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và Truy vấn dữ liệu SQL/NoSQL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85800" y="3520440"/>
            <a:ext cx="54864" cy="256032"/>
          </a:xfrm>
          <a:prstGeom prst="rect">
            <a:avLst/>
          </a:prstGeom>
          <a:solidFill>
            <a:srgbClr val="193EB0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3520440"/>
            <a:ext cx="4114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Cài đặt Python &amp; Jupyter Notebook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Làm quen NumPy &amp; Pandas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Truy vấn dữ liệu bằng SQL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74920" y="3520440"/>
            <a:ext cx="4206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Giới thiệu cú pháp PySpark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Giới thiệu NoSQL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4710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Innovation Campus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/home/claude/work/assets/content_header_wav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5695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Giới thiệu buổi thực hành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7863840" y="25603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hành 2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457200" y="1572768"/>
            <a:ext cx="50292" cy="384048"/>
          </a:xfrm>
          <a:prstGeom prst="rect">
            <a:avLst/>
          </a:prstGeom>
          <a:solidFill>
            <a:srgbClr val="193EB0"/>
          </a:solidFill>
          <a:ln/>
        </p:spPr>
      </p:sp>
      <p:sp>
        <p:nvSpPr>
          <p:cNvPr id="6" name="Text 3"/>
          <p:cNvSpPr/>
          <p:nvPr/>
        </p:nvSpPr>
        <p:spPr>
          <a:xfrm>
            <a:off x="621792" y="1463040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buổi thực hành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457200" y="654710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hành 2 · Kiến trúc hệ sinh thái Big Data và công nghệ lưu trữ dữ liệu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44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21792" y="1984248"/>
            <a:ext cx="274320" cy="274320"/>
          </a:xfrm>
          <a:prstGeom prst="ellipse">
            <a:avLst/>
          </a:prstGeom>
          <a:solidFill>
            <a:srgbClr val="1F45BC"/>
          </a:solidFill>
          <a:ln/>
        </p:spPr>
      </p:sp>
      <p:sp>
        <p:nvSpPr>
          <p:cNvPr id="10" name="Text 7"/>
          <p:cNvSpPr/>
          <p:nvPr/>
        </p:nvSpPr>
        <p:spPr>
          <a:xfrm>
            <a:off x="621792" y="19842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42416" y="192938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Cài đặt thành công môi trường Python và Jupyter Notebook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1792" y="2560320"/>
            <a:ext cx="274320" cy="274320"/>
          </a:xfrm>
          <a:prstGeom prst="ellipse">
            <a:avLst/>
          </a:prstGeom>
          <a:solidFill>
            <a:srgbClr val="1F45BC"/>
          </a:solidFill>
          <a:ln/>
        </p:spPr>
      </p:sp>
      <p:sp>
        <p:nvSpPr>
          <p:cNvPr id="13" name="Text 10"/>
          <p:cNvSpPr/>
          <p:nvPr/>
        </p:nvSpPr>
        <p:spPr>
          <a:xfrm>
            <a:off x="621792" y="2560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042416" y="250545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Sử dụng được các phép toán vector hóa cơ bản của NumPy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21792" y="3136392"/>
            <a:ext cx="274320" cy="274320"/>
          </a:xfrm>
          <a:prstGeom prst="ellipse">
            <a:avLst/>
          </a:prstGeom>
          <a:solidFill>
            <a:srgbClr val="1F45BC"/>
          </a:solidFill>
          <a:ln/>
        </p:spPr>
      </p:sp>
      <p:sp>
        <p:nvSpPr>
          <p:cNvPr id="16" name="Text 13"/>
          <p:cNvSpPr/>
          <p:nvPr/>
        </p:nvSpPr>
        <p:spPr>
          <a:xfrm>
            <a:off x="621792" y="3136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042416" y="30815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và khảo sát dữ liệu bảng bằng Pandas (Series, DataFrame)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21792" y="3712464"/>
            <a:ext cx="274320" cy="274320"/>
          </a:xfrm>
          <a:prstGeom prst="ellipse">
            <a:avLst/>
          </a:prstGeom>
          <a:solidFill>
            <a:srgbClr val="1F45BC"/>
          </a:solidFill>
          <a:ln/>
        </p:spPr>
      </p:sp>
      <p:sp>
        <p:nvSpPr>
          <p:cNvPr id="19" name="Text 16"/>
          <p:cNvSpPr/>
          <p:nvPr/>
        </p:nvSpPr>
        <p:spPr>
          <a:xfrm>
            <a:off x="621792" y="37124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042416" y="365760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Viết được các câu lệnh SQL cơ bản để truy vấn và tổng hợp dữ liệu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21792" y="4288536"/>
            <a:ext cx="274320" cy="274320"/>
          </a:xfrm>
          <a:prstGeom prst="ellipse">
            <a:avLst/>
          </a:prstGeom>
          <a:solidFill>
            <a:srgbClr val="1F45BC"/>
          </a:solidFill>
          <a:ln/>
        </p:spPr>
      </p:sp>
      <p:sp>
        <p:nvSpPr>
          <p:cNvPr id="22" name="Text 19"/>
          <p:cNvSpPr/>
          <p:nvPr/>
        </p:nvSpPr>
        <p:spPr>
          <a:xfrm>
            <a:off x="621792" y="42885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042416" y="423367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Nhận biết cú pháp PySpark tương ứng với các câu lệnh SQL/Pandas đã học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21792" y="4864608"/>
            <a:ext cx="274320" cy="274320"/>
          </a:xfrm>
          <a:prstGeom prst="ellipse">
            <a:avLst/>
          </a:prstGeom>
          <a:solidFill>
            <a:srgbClr val="1F45BC"/>
          </a:solidFill>
          <a:ln/>
        </p:spPr>
      </p:sp>
      <p:sp>
        <p:nvSpPr>
          <p:cNvPr id="25" name="Text 22"/>
          <p:cNvSpPr/>
          <p:nvPr/>
        </p:nvSpPr>
        <p:spPr>
          <a:xfrm>
            <a:off x="621792" y="48646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1042416" y="480974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biệt được khi nào nên dùng SQL, NoSQL hay Data Lakehouse để lưu trữ dữ liệu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21792" y="5440680"/>
            <a:ext cx="274320" cy="274320"/>
          </a:xfrm>
          <a:prstGeom prst="ellipse">
            <a:avLst/>
          </a:prstGeom>
          <a:solidFill>
            <a:srgbClr val="1F45BC"/>
          </a:solidFill>
          <a:ln/>
        </p:spPr>
      </p:sp>
      <p:sp>
        <p:nvSpPr>
          <p:cNvPr id="28" name="Text 25"/>
          <p:cNvSpPr/>
          <p:nvPr/>
        </p:nvSpPr>
        <p:spPr>
          <a:xfrm>
            <a:off x="621792" y="5440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1042416" y="538581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hành cài đặt môi trường Python/Jupyter và thao tác cơ bản với NumPy, Pandas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8580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B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HÀNH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572768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3A5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TH2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713232" y="2999232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buổi thực hành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13232" y="379476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3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lập môi trường, làm quen NumPy/Pandas và truy vấn SQL/NoSQL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5168" y="5715000"/>
            <a:ext cx="777240" cy="54864"/>
          </a:xfrm>
          <a:prstGeom prst="rect">
            <a:avLst/>
          </a:prstGeom>
          <a:solidFill>
            <a:srgbClr val="3A5FCE"/>
          </a:solidFill>
          <a:ln/>
        </p:spPr>
      </p:sp>
      <p:sp>
        <p:nvSpPr>
          <p:cNvPr id="7" name="Text 5"/>
          <p:cNvSpPr/>
          <p:nvPr/>
        </p:nvSpPr>
        <p:spPr>
          <a:xfrm>
            <a:off x="627736" y="5824728"/>
            <a:ext cx="832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8F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Môi trường</a:t>
            </a:r>
            <a:endParaRPr lang="en-US" sz="660" dirty="0"/>
          </a:p>
        </p:txBody>
      </p:sp>
      <p:sp>
        <p:nvSpPr>
          <p:cNvPr id="8" name="Shape 6"/>
          <p:cNvSpPr/>
          <p:nvPr/>
        </p:nvSpPr>
        <p:spPr>
          <a:xfrm>
            <a:off x="1523848" y="5715000"/>
            <a:ext cx="777240" cy="54864"/>
          </a:xfrm>
          <a:prstGeom prst="rect">
            <a:avLst/>
          </a:prstGeom>
          <a:solidFill>
            <a:srgbClr val="3A5FCE"/>
          </a:solidFill>
          <a:ln/>
        </p:spPr>
      </p:sp>
      <p:sp>
        <p:nvSpPr>
          <p:cNvPr id="9" name="Text 7"/>
          <p:cNvSpPr/>
          <p:nvPr/>
        </p:nvSpPr>
        <p:spPr>
          <a:xfrm>
            <a:off x="1496416" y="5824728"/>
            <a:ext cx="832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8F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NumPy/Pandas</a:t>
            </a:r>
            <a:endParaRPr lang="en-US" sz="660" dirty="0"/>
          </a:p>
        </p:txBody>
      </p:sp>
      <p:sp>
        <p:nvSpPr>
          <p:cNvPr id="10" name="Shape 8"/>
          <p:cNvSpPr/>
          <p:nvPr/>
        </p:nvSpPr>
        <p:spPr>
          <a:xfrm>
            <a:off x="2392528" y="5715000"/>
            <a:ext cx="777240" cy="54864"/>
          </a:xfrm>
          <a:prstGeom prst="rect">
            <a:avLst/>
          </a:prstGeom>
          <a:solidFill>
            <a:srgbClr val="3A5FCE"/>
          </a:solidFill>
          <a:ln/>
        </p:spPr>
      </p:sp>
      <p:sp>
        <p:nvSpPr>
          <p:cNvPr id="11" name="Text 9"/>
          <p:cNvSpPr/>
          <p:nvPr/>
        </p:nvSpPr>
        <p:spPr>
          <a:xfrm>
            <a:off x="2365096" y="5824728"/>
            <a:ext cx="832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8F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SQL</a:t>
            </a:r>
            <a:endParaRPr lang="en-US" sz="660" dirty="0"/>
          </a:p>
        </p:txBody>
      </p:sp>
      <p:sp>
        <p:nvSpPr>
          <p:cNvPr id="12" name="Shape 10"/>
          <p:cNvSpPr/>
          <p:nvPr/>
        </p:nvSpPr>
        <p:spPr>
          <a:xfrm>
            <a:off x="3261208" y="5715000"/>
            <a:ext cx="777240" cy="54864"/>
          </a:xfrm>
          <a:prstGeom prst="rect">
            <a:avLst/>
          </a:prstGeom>
          <a:solidFill>
            <a:srgbClr val="3A5FCE"/>
          </a:solidFill>
          <a:ln/>
        </p:spPr>
      </p:sp>
      <p:sp>
        <p:nvSpPr>
          <p:cNvPr id="13" name="Text 11"/>
          <p:cNvSpPr/>
          <p:nvPr/>
        </p:nvSpPr>
        <p:spPr>
          <a:xfrm>
            <a:off x="3233776" y="5824728"/>
            <a:ext cx="832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8F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PySpark &amp; NoSQL</a:t>
            </a:r>
            <a:endParaRPr lang="en-US" sz="66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hành 2 · Kiến trúc hệ sinh thái Big Data và công nghệ lưu trữ dữ liệu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44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/home/claude/work/assets/content_header_wav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5695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hành 2.1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7863840" y="25603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hành 2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457200" y="1572768"/>
            <a:ext cx="50292" cy="384048"/>
          </a:xfrm>
          <a:prstGeom prst="rect">
            <a:avLst/>
          </a:prstGeom>
          <a:solidFill>
            <a:srgbClr val="193EB0"/>
          </a:solidFill>
          <a:ln/>
        </p:spPr>
      </p:sp>
      <p:sp>
        <p:nvSpPr>
          <p:cNvPr id="6" name="Text 3"/>
          <p:cNvSpPr/>
          <p:nvPr/>
        </p:nvSpPr>
        <p:spPr>
          <a:xfrm>
            <a:off x="621792" y="1463040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hành 1 — Thiết lập môi trường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457200" y="654710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hành 2 · Kiến trúc hệ sinh thái Big Data và công nghệ lưu trữ dữ liệu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44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549640" y="38404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8549640" y="384048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hành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21792" y="201168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Chuẩn bị môi trường lập trình Python trước khi bước vào các bài thực hành xử lý dữ liệu ở các bài học tiếp theo.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" y="260604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5F7FC"/>
          </a:solidFill>
          <a:ln/>
        </p:spPr>
      </p:sp>
      <p:sp>
        <p:nvSpPr>
          <p:cNvPr id="13" name="Shape 10"/>
          <p:cNvSpPr/>
          <p:nvPr/>
        </p:nvSpPr>
        <p:spPr>
          <a:xfrm>
            <a:off x="804672" y="2788920"/>
            <a:ext cx="411480" cy="411480"/>
          </a:xfrm>
          <a:prstGeom prst="ellipse">
            <a:avLst/>
          </a:prstGeom>
          <a:solidFill>
            <a:srgbClr val="1F45BC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04672" y="331927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Cài Python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04672" y="37033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Cài đặt Python 3.x (khuyến nghị qua Anaconda hoặc python.org)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575304" y="260604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5F7FC"/>
          </a:solidFill>
          <a:ln/>
        </p:spPr>
      </p:sp>
      <p:sp>
        <p:nvSpPr>
          <p:cNvPr id="18" name="Shape 15"/>
          <p:cNvSpPr/>
          <p:nvPr/>
        </p:nvSpPr>
        <p:spPr>
          <a:xfrm>
            <a:off x="3758184" y="2788920"/>
            <a:ext cx="411480" cy="411480"/>
          </a:xfrm>
          <a:prstGeom prst="ellipse">
            <a:avLst/>
          </a:prstGeom>
          <a:solidFill>
            <a:srgbClr val="1F45BC"/>
          </a:solidFill>
          <a:ln/>
        </p:spPr>
      </p:sp>
      <p:sp>
        <p:nvSpPr>
          <p:cNvPr id="19" name="Text 16"/>
          <p:cNvSpPr/>
          <p:nvPr/>
        </p:nvSpPr>
        <p:spPr>
          <a:xfrm>
            <a:off x="3758184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758184" y="331927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Cài Jupyter Notebook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3758184" y="37033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Cài qua pip install notebook hoặc có sẵn trong Anaconda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528816" y="260604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5F7FC"/>
          </a:solidFill>
          <a:ln/>
        </p:spPr>
      </p:sp>
      <p:sp>
        <p:nvSpPr>
          <p:cNvPr id="23" name="Shape 20"/>
          <p:cNvSpPr/>
          <p:nvPr/>
        </p:nvSpPr>
        <p:spPr>
          <a:xfrm>
            <a:off x="6711696" y="2788920"/>
            <a:ext cx="411480" cy="411480"/>
          </a:xfrm>
          <a:prstGeom prst="ellipse">
            <a:avLst/>
          </a:prstGeom>
          <a:solidFill>
            <a:srgbClr val="1F45BC"/>
          </a:solidFill>
          <a:ln/>
        </p:spPr>
      </p:sp>
      <p:sp>
        <p:nvSpPr>
          <p:cNvPr id="24" name="Text 21"/>
          <p:cNvSpPr/>
          <p:nvPr/>
        </p:nvSpPr>
        <p:spPr>
          <a:xfrm>
            <a:off x="6711696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711696" y="331927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quen Notebook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711696" y="37033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hiểu cell code, cell markdown, cách chạy và lưu notebook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21792" y="4800600"/>
            <a:ext cx="8595360" cy="868680"/>
          </a:xfrm>
          <a:prstGeom prst="roundRect">
            <a:avLst>
              <a:gd name="adj" fmla="val 7368"/>
            </a:avLst>
          </a:prstGeom>
          <a:solidFill>
            <a:srgbClr val="1F45BC"/>
          </a:solidFill>
          <a:ln/>
        </p:spPr>
      </p:sp>
      <p:sp>
        <p:nvSpPr>
          <p:cNvPr id="28" name="Text 25"/>
          <p:cNvSpPr/>
          <p:nvPr/>
        </p:nvSpPr>
        <p:spPr>
          <a:xfrm>
            <a:off x="822960" y="49011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cài đặt thành công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822960" y="5175504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--version    │    jupyter notebook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/home/claude/work/assets/content_header_wav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5695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hành 2.2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7863840" y="25603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hành 2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457200" y="1572768"/>
            <a:ext cx="50292" cy="384048"/>
          </a:xfrm>
          <a:prstGeom prst="rect">
            <a:avLst/>
          </a:prstGeom>
          <a:solidFill>
            <a:srgbClr val="193EB0"/>
          </a:solidFill>
          <a:ln/>
        </p:spPr>
      </p:sp>
      <p:sp>
        <p:nvSpPr>
          <p:cNvPr id="6" name="Text 3"/>
          <p:cNvSpPr/>
          <p:nvPr/>
        </p:nvSpPr>
        <p:spPr>
          <a:xfrm>
            <a:off x="621792" y="1463040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hành 2 — NumPy &amp; Pandas cơ bản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457200" y="654710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hành 2 · Kiến trúc hệ sinh thái Big Data và công nghệ lưu trữ dữ liệu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44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549640" y="38404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8549640" y="384048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hành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1792" y="2057400"/>
            <a:ext cx="8595360" cy="713232"/>
          </a:xfrm>
          <a:prstGeom prst="roundRect">
            <a:avLst>
              <a:gd name="adj" fmla="val 7692"/>
            </a:avLst>
          </a:prstGeom>
          <a:solidFill>
            <a:srgbClr val="F5F7FC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2130552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 cơ bản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291840" y="2130552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Tạo mảng, các phép toán vector hóa: np.array(), np.mean(), np.sum()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1792" y="2880360"/>
            <a:ext cx="8595360" cy="713232"/>
          </a:xfrm>
          <a:prstGeom prst="roundRect">
            <a:avLst>
              <a:gd name="adj" fmla="val 7692"/>
            </a:avLst>
          </a:prstGeom>
          <a:solidFill>
            <a:srgbClr val="F5F7FC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2953512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cơ bản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291840" y="2953512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Làm quen Series, DataFrame — cấu trúc dữ liệu bảng của Pandas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21792" y="3703320"/>
            <a:ext cx="8595360" cy="713232"/>
          </a:xfrm>
          <a:prstGeom prst="roundRect">
            <a:avLst>
              <a:gd name="adj" fmla="val 7692"/>
            </a:avLst>
          </a:prstGeom>
          <a:solidFill>
            <a:srgbClr val="F5F7FC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3776472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file CSV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291840" y="3776472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Nạp dữ liệu vào DataFrame bằng pd.read_csv('data.csv')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21792" y="4526280"/>
            <a:ext cx="8595360" cy="713232"/>
          </a:xfrm>
          <a:prstGeom prst="roundRect">
            <a:avLst>
              <a:gd name="adj" fmla="val 7692"/>
            </a:avLst>
          </a:prstGeom>
          <a:solidFill>
            <a:srgbClr val="F5F7FC"/>
          </a:solidFill>
          <a:ln/>
        </p:spPr>
      </p:sp>
      <p:sp>
        <p:nvSpPr>
          <p:cNvPr id="21" name="Text 18"/>
          <p:cNvSpPr/>
          <p:nvPr/>
        </p:nvSpPr>
        <p:spPr>
          <a:xfrm>
            <a:off x="822960" y="4599432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 sát DataFrame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291840" y="4599432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df.head(), df.shape, df.info() để hiểu cấu trúc dữ liệu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21792" y="5349240"/>
            <a:ext cx="8595360" cy="713232"/>
          </a:xfrm>
          <a:prstGeom prst="roundRect">
            <a:avLst>
              <a:gd name="adj" fmla="val 7692"/>
            </a:avLst>
          </a:prstGeom>
          <a:solidFill>
            <a:srgbClr val="F5F7FC"/>
          </a:solidFill>
          <a:ln/>
        </p:spPr>
      </p:sp>
      <p:sp>
        <p:nvSpPr>
          <p:cNvPr id="24" name="Text 21"/>
          <p:cNvSpPr/>
          <p:nvPr/>
        </p:nvSpPr>
        <p:spPr>
          <a:xfrm>
            <a:off x="822960" y="5422392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Thống kê dữ liệu đơn giản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291840" y="5422392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 để xem thống kê mô tả: trung bình, min, max, độ lệch chuẩn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/home/claude/work/assets/content_header_wav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5695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hành 2.3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7863840" y="25603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hành 2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457200" y="1572768"/>
            <a:ext cx="50292" cy="384048"/>
          </a:xfrm>
          <a:prstGeom prst="rect">
            <a:avLst/>
          </a:prstGeom>
          <a:solidFill>
            <a:srgbClr val="193EB0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621792" y="1463040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Truy vấn dữ liệu bằng SQL — các câu lệnh cơ bản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200" y="654710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hành 2 · Kiến trúc hệ sinh thái Big Data và công nghệ lưu trữ dữ liệu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44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9659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viên thực hành viết các câu lệnh SQL sau trên một bảng dữ liệu mẫu (ví dụ transactions).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" y="2423160"/>
            <a:ext cx="8595360" cy="347472"/>
          </a:xfrm>
          <a:prstGeom prst="rect">
            <a:avLst/>
          </a:prstGeom>
          <a:solidFill>
            <a:srgbClr val="1F45BC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31520" y="2423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lệnh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926080" y="242316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 trò trong phân tích dữ liệu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1792" y="2770632"/>
            <a:ext cx="8595360" cy="475488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31520" y="277063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926080" y="2770632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các cột dữ liệu cần lấy ra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31520" y="324612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926080" y="32461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Lọc dòng dữ liệu theo điều kiện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21792" y="3721608"/>
            <a:ext cx="8595360" cy="475488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731520" y="372160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BY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2926080" y="3721608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Sắp xếp kết quả theo một hoặc nhiều cột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31520" y="419709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926080" y="4197096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dữ liệu theo giá trị cột để tổng hợp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1792" y="4672584"/>
            <a:ext cx="8595360" cy="475488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731520" y="467258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HAVING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2926080" y="4672584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Lọc điều kiện trên kết quả đã GROUP BY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31520" y="514807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2926080" y="5148072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hợp dữ liệu từ nhiều bảng theo khóa liên kết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21792" y="5623560"/>
            <a:ext cx="8595360" cy="475488"/>
          </a:xfrm>
          <a:prstGeom prst="rect">
            <a:avLst/>
          </a:prstGeom>
          <a:solidFill>
            <a:srgbClr val="F5F7FC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731520" y="562356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2926080" y="562356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Hàm tổng hợp: SUM, COUNT, AVG, MIN, MAX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/home/claude/work/assets/content_header_wav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5695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hành 2.4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7863840" y="25603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hành 2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457200" y="1572768"/>
            <a:ext cx="50292" cy="384048"/>
          </a:xfrm>
          <a:prstGeom prst="rect">
            <a:avLst/>
          </a:prstGeom>
          <a:solidFill>
            <a:srgbClr val="193EB0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621792" y="1463040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Giới thiệu cú pháp PySpark và NoSQL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200" y="654710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hành 2 · Kiến trúc hệ sinh thái Big Data và công nghệ lưu trữ dữ liệu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44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93852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toán: tính tổng số tiền giao dịch (amount) theo từng khách hàng (customer_id) — cùng cú pháp sẽ gặp lại khi học PySpark ở Bài 5.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" y="2359152"/>
            <a:ext cx="8595360" cy="1143000"/>
          </a:xfrm>
          <a:prstGeom prst="roundRect">
            <a:avLst>
              <a:gd name="adj" fmla="val 5600"/>
            </a:avLst>
          </a:prstGeom>
          <a:solidFill>
            <a:srgbClr val="1B2340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04672" y="2450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04672" y="2743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customer_id, SUM(amount)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transactions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customer_id;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1792" y="3639312"/>
            <a:ext cx="8595360" cy="868680"/>
          </a:xfrm>
          <a:prstGeom prst="roundRect">
            <a:avLst>
              <a:gd name="adj" fmla="val 7368"/>
            </a:avLst>
          </a:prstGeom>
          <a:solidFill>
            <a:srgbClr val="1B2340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04672" y="3730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04672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df.groupby("customer_id")["amount"].sum()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21792" y="4645152"/>
            <a:ext cx="8595360" cy="868680"/>
          </a:xfrm>
          <a:prstGeom prst="roundRect">
            <a:avLst>
              <a:gd name="adj" fmla="val 7368"/>
            </a:avLst>
          </a:prstGeom>
          <a:solidFill>
            <a:srgbClr val="1B2340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04672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PySpark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04672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df.groupBy("customer_id").sum("amount")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1792" y="5669280"/>
            <a:ext cx="8595360" cy="640080"/>
          </a:xfrm>
          <a:prstGeom prst="roundRect">
            <a:avLst>
              <a:gd name="adj" fmla="val 10000"/>
            </a:avLst>
          </a:prstGeom>
          <a:solidFill>
            <a:srgbClr val="1F45BC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822960" y="5669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Ghi nhớ: SQL, Pandas, PySpark biểu diễn cùng phép toán — khác biệt nằm ở môi trường thực thi. Với dữ liệu phi cấu trúc, ta chuyển sang NoSQL (MongoDB, Cassandra…) thay vì SQL.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/home/claude/work/assets/content_header_wav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5695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Yêu cầu sản phẩm nộp lại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7863840" y="25603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hành 2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457200" y="1572768"/>
            <a:ext cx="50292" cy="384048"/>
          </a:xfrm>
          <a:prstGeom prst="rect">
            <a:avLst/>
          </a:prstGeom>
          <a:solidFill>
            <a:srgbClr val="193EB0"/>
          </a:solidFill>
          <a:ln/>
        </p:spPr>
      </p:sp>
      <p:sp>
        <p:nvSpPr>
          <p:cNvPr id="6" name="Text 3"/>
          <p:cNvSpPr/>
          <p:nvPr/>
        </p:nvSpPr>
        <p:spPr>
          <a:xfrm>
            <a:off x="621792" y="1463040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Sản phẩm cần nộp sau buổi thực hành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457200" y="654710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hành 2 · Kiến trúc hệ sinh thái Big Data và công nghệ lưu trữ dữ liệu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44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21792" y="2011680"/>
            <a:ext cx="8595360" cy="1051560"/>
          </a:xfrm>
          <a:prstGeom prst="roundRect">
            <a:avLst>
              <a:gd name="adj" fmla="val 6957"/>
            </a:avLst>
          </a:prstGeom>
          <a:solidFill>
            <a:srgbClr val="F5F7FC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1488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học viên nộp lại đầy đủ các sản phẩm sau khi kết thúc buổi thực hành.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21792" y="333756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1F45BC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3520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chụp môi trường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04672" y="3959352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python --version và jupyter notebook chạy thành công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575304" y="333756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1F45BC"/>
          </a:solidFill>
          <a:ln/>
        </p:spPr>
      </p:sp>
      <p:sp>
        <p:nvSpPr>
          <p:cNvPr id="15" name="Text 12"/>
          <p:cNvSpPr/>
          <p:nvPr/>
        </p:nvSpPr>
        <p:spPr>
          <a:xfrm>
            <a:off x="3758184" y="3520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NumPy/Pandas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758184" y="3959352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đọc CSV, khảo sát DataFrame và thống kê mô tả bằng Pandas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528816" y="333756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1F45BC"/>
          </a:solidFill>
          <a:ln/>
        </p:spPr>
      </p:sp>
      <p:sp>
        <p:nvSpPr>
          <p:cNvPr id="18" name="Text 15"/>
          <p:cNvSpPr/>
          <p:nvPr/>
        </p:nvSpPr>
        <p:spPr>
          <a:xfrm>
            <a:off x="6711696" y="3520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Bộ câu lệnh SQL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711696" y="3959352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Tối thiểu 5 câu lệnh SQL: SELECT, WHERE, GROUP BY, HAVING, JOIN trên dữ liệu mẫu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21792" y="54406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Ghi chú thêm: 1 đoạn so sánh ngắn cú pháp SQL/Pandas/PySpark cho cùng một bài toán.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/home/claude/work/assets/content_header_wav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5695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Tóm tắt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7863840" y="25603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hành 2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457200" y="1572768"/>
            <a:ext cx="50292" cy="384048"/>
          </a:xfrm>
          <a:prstGeom prst="rect">
            <a:avLst/>
          </a:prstGeom>
          <a:solidFill>
            <a:srgbClr val="193EB0"/>
          </a:solidFill>
          <a:ln/>
        </p:spPr>
      </p:sp>
      <p:sp>
        <p:nvSpPr>
          <p:cNvPr id="6" name="Text 3"/>
          <p:cNvSpPr/>
          <p:nvPr/>
        </p:nvSpPr>
        <p:spPr>
          <a:xfrm>
            <a:off x="621792" y="1463040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Tóm tắt buổi thực hành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457200" y="654710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hành 2 · Kiến trúc hệ sinh thái Big Data và công nghệ lưu trữ dữ liệu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44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21792" y="2029968"/>
            <a:ext cx="146304" cy="146304"/>
          </a:xfrm>
          <a:prstGeom prst="rect">
            <a:avLst/>
          </a:prstGeom>
          <a:solidFill>
            <a:srgbClr val="1F45BC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1965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Môi trường Python/Jupyter là nền tảng bắt buộc cho mọi bài thực hành tiếp theo</a:t>
            </a:r>
            <a:endParaRPr lang="en-US" sz="1180" dirty="0"/>
          </a:p>
        </p:txBody>
      </p:sp>
      <p:sp>
        <p:nvSpPr>
          <p:cNvPr id="11" name="Shape 8"/>
          <p:cNvSpPr/>
          <p:nvPr/>
        </p:nvSpPr>
        <p:spPr>
          <a:xfrm>
            <a:off x="621792" y="2606040"/>
            <a:ext cx="146304" cy="146304"/>
          </a:xfrm>
          <a:prstGeom prst="rect">
            <a:avLst/>
          </a:prstGeom>
          <a:solidFill>
            <a:srgbClr val="1F45BC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2542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 cung cấp phép toán vector hóa; Pandas cung cấp cấu trúc bảng (DataFrame) để phân tích dữ liệu</a:t>
            </a:r>
            <a:endParaRPr lang="en-US" sz="1180" dirty="0"/>
          </a:p>
        </p:txBody>
      </p:sp>
      <p:sp>
        <p:nvSpPr>
          <p:cNvPr id="13" name="Shape 10"/>
          <p:cNvSpPr/>
          <p:nvPr/>
        </p:nvSpPr>
        <p:spPr>
          <a:xfrm>
            <a:off x="621792" y="3182112"/>
            <a:ext cx="146304" cy="146304"/>
          </a:xfrm>
          <a:prstGeom prst="rect">
            <a:avLst/>
          </a:prstGeom>
          <a:solidFill>
            <a:srgbClr val="1F45BC"/>
          </a:solidFill>
          <a:ln/>
        </p:spPr>
      </p:sp>
      <p:sp>
        <p:nvSpPr>
          <p:cNvPr id="14" name="Text 11"/>
          <p:cNvSpPr/>
          <p:nvPr/>
        </p:nvSpPr>
        <p:spPr>
          <a:xfrm>
            <a:off x="960120" y="311810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SELECT, WHERE, GROUP BY, HAVING, JOIN là các câu lệnh SQL dùng nhiều nhất khi phân tích dữ liệu</a:t>
            </a:r>
            <a:endParaRPr lang="en-US" sz="1180" dirty="0"/>
          </a:p>
        </p:txBody>
      </p:sp>
      <p:sp>
        <p:nvSpPr>
          <p:cNvPr id="15" name="Shape 12"/>
          <p:cNvSpPr/>
          <p:nvPr/>
        </p:nvSpPr>
        <p:spPr>
          <a:xfrm>
            <a:off x="621792" y="3758184"/>
            <a:ext cx="146304" cy="146304"/>
          </a:xfrm>
          <a:prstGeom prst="rect">
            <a:avLst/>
          </a:prstGeom>
          <a:solidFill>
            <a:srgbClr val="1F45BC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69417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Cùng một bài toán có thể biểu diễn bằng SQL, Pandas hoặc PySpark — nền tảng cho Bài 3 và Bài 5</a:t>
            </a:r>
            <a:endParaRPr lang="en-US" sz="1180" dirty="0"/>
          </a:p>
        </p:txBody>
      </p:sp>
      <p:sp>
        <p:nvSpPr>
          <p:cNvPr id="17" name="Shape 14"/>
          <p:cNvSpPr/>
          <p:nvPr/>
        </p:nvSpPr>
        <p:spPr>
          <a:xfrm>
            <a:off x="621792" y="4334256"/>
            <a:ext cx="146304" cy="146304"/>
          </a:xfrm>
          <a:prstGeom prst="rect">
            <a:avLst/>
          </a:prstGeom>
          <a:solidFill>
            <a:srgbClr val="1F45BC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42702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NoSQL (MongoDB, Cassandra…) phù hợp hơn SQL khi dữ liệu phi cấu trúc hoặc cần scale-out</a:t>
            </a:r>
            <a:endParaRPr lang="en-US" sz="11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/home/claude/work/assets/content_header_wav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5695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nhanh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7863840" y="25603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hành 2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457200" y="1572768"/>
            <a:ext cx="50292" cy="384048"/>
          </a:xfrm>
          <a:prstGeom prst="rect">
            <a:avLst/>
          </a:prstGeom>
          <a:solidFill>
            <a:srgbClr val="193EB0"/>
          </a:solidFill>
          <a:ln/>
        </p:spPr>
      </p:sp>
      <p:sp>
        <p:nvSpPr>
          <p:cNvPr id="6" name="Text 3"/>
          <p:cNvSpPr/>
          <p:nvPr/>
        </p:nvSpPr>
        <p:spPr>
          <a:xfrm>
            <a:off x="621792" y="1463040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 kiểm tra nhanh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457200" y="654710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hành 2 · Kiến trúc hệ sinh thái Big Data và công nghệ lưu trữ dữ liệu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44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549640" y="38404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8549640" y="384048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1792" y="2194560"/>
            <a:ext cx="8595360" cy="1051560"/>
          </a:xfrm>
          <a:prstGeom prst="roundRect">
            <a:avLst>
              <a:gd name="adj" fmla="val 6087"/>
            </a:avLst>
          </a:prstGeom>
          <a:solidFill>
            <a:srgbClr val="F5F7FC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2322576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Hàm Pandas nào dùng để nạp dữ liệu CSV vào DataFrame?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68680" y="2798064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Đáp án: pd.read_csv()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" y="3401568"/>
            <a:ext cx="8595360" cy="1051560"/>
          </a:xfrm>
          <a:prstGeom prst="roundRect">
            <a:avLst>
              <a:gd name="adj" fmla="val 6087"/>
            </a:avLst>
          </a:prstGeom>
          <a:solidFill>
            <a:srgbClr val="F5F7FC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3529584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lệnh SQL nào dùng để nhóm dữ liệu theo giá trị một cột?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68680" y="400507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Đáp án: GROUP BY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1792" y="4608576"/>
            <a:ext cx="8595360" cy="1051560"/>
          </a:xfrm>
          <a:prstGeom prst="roundRect">
            <a:avLst>
              <a:gd name="adj" fmla="val 6087"/>
            </a:avLst>
          </a:prstGeom>
          <a:solidFill>
            <a:srgbClr val="F5F7FC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473659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Loại cơ sở dữ liệu nào phù hợp hơn SQL khi dữ liệu phi cấu trúc và cần scale-out?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68680" y="521208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Đáp án: NoSQL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/home/claude/work/assets/wave_divider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5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ơn đã theo dõi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658368" y="1965960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tiếp theo: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hành 3 — Hadoop giả lập, Apache Spark và PySpark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85800" y="3520440"/>
            <a:ext cx="54864" cy="256032"/>
          </a:xfrm>
          <a:prstGeom prst="rect">
            <a:avLst/>
          </a:prstGeom>
          <a:solidFill>
            <a:srgbClr val="193EB0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3520440"/>
            <a:ext cx="6858000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liệu tham khảo: hướng dẫn cài đặt Python/Jupyter sẽ được chia sẻ trên LMS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Liên hệ giảng viên/trợ giảng nếu gặp lỗi khi cài đặt môi trường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Chuẩn bị laptop đã cài Python, Jupyter Notebook cho buổi thực hành tiếp theo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57200" y="654710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Innovation Campus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44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