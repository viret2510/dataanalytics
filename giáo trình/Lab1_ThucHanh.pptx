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905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hyperlink" Target="https://www.kaggle.com/datasets/stephanmatzka/predictive-maintenance-dataset-ai4i-2020/data" TargetMode="External"/><Relationship Id="rId5" Type="http://schemas.openxmlformats.org/officeDocument/2006/relationships/hyperlink" Target="https://www.kaggle.com/datasets/noepinefrin/steel-plates-faults-dataset" TargetMode="External"/><Relationship Id="rId6" Type="http://schemas.openxmlformats.org/officeDocument/2006/relationships/hyperlink" Target="https://www.kaggle.com/datasets/csafrit2/steel-industry-energy-consumptio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wave_divider.jpe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6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58368" y="2331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Phân tích Case Study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và Khai thác Dữ liệu Big Data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685800" y="3794760"/>
            <a:ext cx="54864" cy="256032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68680" y="3749040"/>
            <a:ext cx="685800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1. Phân tích case study doanh nghiệp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2. Khai thác dataset thực tế (EDA)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3. Thảo luận nhóm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4. Minh họa hệ thống Big Data thực tế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Giới thiệu buổi thực hành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Mục tiêu buổi thực hành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21792" y="2359152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21792" y="23591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051560" y="230428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Phân tích được một case study doanh nghiệp thực tế đã ứng dụng Big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1792" y="2980944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792" y="29809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051560" y="29260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được đặc trưng 5V thể hiện rõ nhất trong case study đã chọn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21792" y="3602736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621792" y="360273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051560" y="354787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hiện khám phá dữ liệu (EDA) trên một bộ dữ liệu mở bằng Python/Pandas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21792" y="4224528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21792" y="4224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1051560" y="4169664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Nhận xét được chất lượng dữ liệu: giá trị thiếu, nhiễu, ngoại lai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1792" y="484632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621792" y="48463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051560" y="47914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Đề xuất được một use case Big Data khả thi từ dataset đã khai thác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21792" y="5468112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21792" y="54681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1051560" y="541324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Trình bày kết quả thực hành trước lớp trong 5 phút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85800" y="1371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4E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4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40080" y="178308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5FCE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TH1</a:t>
            </a:r>
            <a:endParaRPr b="0" i="0" sz="7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13232" y="324612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Nội dung buổi thực hành</a:t>
            </a:r>
            <a:endParaRPr b="0" i="0" sz="3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13232" y="397764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3F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Phân tích case study, khai thác dữ liệu thật và thảo luận nhóm</a:t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38050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838050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3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Case study</a:t>
            </a:r>
            <a:endParaRPr b="0" i="0" sz="13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2977449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2977449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1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Khai thác dataset</a:t>
            </a:r>
            <a:endParaRPr b="0" i="0" sz="11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116847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116847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1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Thảo luận nhóm</a:t>
            </a:r>
            <a:endParaRPr b="0" i="0" sz="11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7256246" y="5623550"/>
            <a:ext cx="1887900" cy="54900"/>
          </a:xfrm>
          <a:prstGeom prst="rect">
            <a:avLst/>
          </a:prstGeom>
          <a:solidFill>
            <a:srgbClr val="3A5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256246" y="5733280"/>
            <a:ext cx="188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760"/>
              <a:buFont typeface="Arial"/>
              <a:buNone/>
            </a:pPr>
            <a:r>
              <a:rPr b="0" i="0" lang="en-US" sz="136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Minh họa hệ thống</a:t>
            </a:r>
            <a:endParaRPr b="0" i="0" sz="136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E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1 — Phân tích Case study doanh nghiệp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Thực hành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21792" y="2011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Làm việc nhóm 3–4 người, chọn một doanh nghiệp/nhà máy thực tế (Việt Nam hoặc quốc tế) đã ứng dụng Big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21792" y="25603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Các bước thực hiện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1792" y="297180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1792" y="29718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051560" y="293522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bài toán vận hành mà doanh nghiệp cần giải quyết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21792" y="352044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21792" y="3520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51560" y="348386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Mô tả nguồn dữ liệu và kiến trúc hệ thống họ sử dụng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21792" y="406908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21792" y="406908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051560" y="403250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Xác định đặc trưng 5V thể hiện rõ nhất trong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21792" y="4617720"/>
            <a:ext cx="292608" cy="292608"/>
          </a:xfrm>
          <a:prstGeom prst="ellipse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21792" y="461772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1051560" y="4581144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Đánh giá kết quả/giá trị kinh doanh đạt được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5029200" y="2560320"/>
            <a:ext cx="4206240" cy="2834640"/>
          </a:xfrm>
          <a:prstGeom prst="roundRect">
            <a:avLst>
              <a:gd fmla="val 2581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257800" y="272491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Câu hỏi hướng dẫn thảo luận nhóm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257800" y="312724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Nếu không có Big Data, doanh nghiệp sẽ gặp khó khăn gì?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257800" y="367588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Kiến trúc họ dùng thuộc dạng Lambda hay Kappa? Vì sao?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257800" y="422452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Rủi ro về Veracity (độ tin cậy dữ liệu) là gì trong case này?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5257800" y="4773168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Nhóm bạn sẽ cải tiến gì nếu là kỹ sư dữ liệu phụ trách?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2 — Khai thác dataset thực tế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Thực hành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621792" y="2011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cá nhân: chọn một bộ dữ liệu mở liên quan đến công nghiệp/sản xuất và thực hiện phân tích khám phá (EDA).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621792" y="25420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Gợi ý dataset (Kaggle / Open Data)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621792" y="292608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777240" y="299923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AI4I 2020 Predictive Maintenance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777240" y="329184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cảm biến máy, dự đoán hỏng hóc thiết bị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21792" y="374904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777240" y="3822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Steel Plates Faults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777240" y="41148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Phát hiện lỗi bề mặt thép trong sản xuất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1792" y="457200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777240" y="46451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Energy Consumption of 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777240" y="4937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tiêu thụ năng lượng theo thời gian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621792" y="5394960"/>
            <a:ext cx="4160520" cy="713232"/>
          </a:xfrm>
          <a:prstGeom prst="roundRect">
            <a:avLst>
              <a:gd fmla="val 8974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777240" y="54681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data.gov / data.gov.vn (mở, theo ngành)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777240" y="576072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Dữ liệu công nghiệp, năng lượng, giao thông công khai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5029200" y="2542032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Yêu cầu sản phẩm nộp lại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029200" y="2971800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358384" y="2971800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Notebook (Python/Pandas) mô tả thống kê &amp; trực quan hóa dữ liệu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5029200" y="3538728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5358384" y="3538728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Nhận xét chất lượng dữ liệu: giá trị thiếu, nhiễu, ngoại lai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5029200" y="4105656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5358384" y="4105656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Đề xuất 1 use case Big Data có thể xây dựng từ dataset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029200" y="4672584"/>
            <a:ext cx="3108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358384" y="4672584"/>
            <a:ext cx="3886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Trình bày 5 phút kết quả trước lớp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11" name="Google Shape;21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Thảo luận nhóm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Thảo luận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21792" y="2286000"/>
            <a:ext cx="8595360" cy="1371600"/>
          </a:xfrm>
          <a:prstGeom prst="roundRect">
            <a:avLst>
              <a:gd fmla="val 5333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896112" y="242316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Doanh nghiệp của bạn (hoặc doanh nghiệp bạn biết) đang sử dụng dữ liệu để tối ưu vận hành như thế nào?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1792" y="39319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Gợi ý góc nhìn thảo luận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21792" y="431596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Dữ liệu nào đang được thu thập nhưng chưa được khai thác triệt để?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21792" y="4700016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Quyết định vận hành nào hiện vẫn dựa chủ yếu vào kinh nghiệm cá nhân?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21792" y="5084064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Rào cản lớn nhất khi triển khai Big Data: công nghệ, con người hay dữ liệu?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21792" y="5468112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 Nếu có ngân sách xây một hệ thống Big Data, bạn ưu tiên bài toán nào trước?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31" name="Google Shape;2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1.4 · Tham khảo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Hệ thống Big Data trong nhà máy thông minh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62179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76809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Cảm biến IoT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76809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Rung động, nhiệt độ, dòng điện trên dây chuyền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/>
          <p:nvPr/>
        </p:nvSpPr>
        <p:spPr>
          <a:xfrm>
            <a:off x="350215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64845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Apache Kafka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64845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Hàng đợi thông điệp thời gian thực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382512" y="196596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6528816" y="205740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Spark Streaming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9"/>
          <p:cNvSpPr/>
          <p:nvPr/>
        </p:nvSpPr>
        <p:spPr>
          <a:xfrm>
            <a:off x="6528816" y="238658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Xử lý luồng, tính toán chỉ số cảnh báo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38251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52881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Lake (S3/HDFS)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52881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Lưu trữ dữ liệu thô &amp; đã xử lý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50215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364845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Warehouse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64845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Dữ liệu tổng hợp phục vụ báo cáo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621792" y="3200400"/>
            <a:ext cx="2651760" cy="914400"/>
          </a:xfrm>
          <a:prstGeom prst="roundRect">
            <a:avLst>
              <a:gd fmla="val 8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768096" y="3291840"/>
            <a:ext cx="23591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&amp; Cảnh báo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68096" y="3621024"/>
            <a:ext cx="23591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Giám sát vận hành, cảnh báo bảo trì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3255264" y="2350008"/>
            <a:ext cx="26517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6135624" y="2350008"/>
            <a:ext cx="26517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7626096" y="2862072"/>
            <a:ext cx="164592" cy="35661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3255264" y="3575304"/>
            <a:ext cx="265176" cy="16459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135624" y="3575304"/>
            <a:ext cx="265176" cy="16459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21792" y="425196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Kiến trúc minh họa cho một hệ thống giám sát &amp; bảo trì dự đoán trong nhà máy — dữ liệu luân chuyển từ cảm biến đến bảng điều khiển vận hành.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66" name="Google Shape;2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Yêu cầu sản phẩm nộp lại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21792" y="1463040"/>
            <a:ext cx="8778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Sản phẩm cần nộp sau buổi thực hành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21792" y="2011680"/>
            <a:ext cx="8595360" cy="1051560"/>
          </a:xfrm>
          <a:prstGeom prst="roundRect">
            <a:avLst>
              <a:gd fmla="val 695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868680" y="2148840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Mỗi nhóm/cá nhân nộp lại đầy đủ các sản phẩm sau khi kết thúc buổi thực hành.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621792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804672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 case study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804672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Mô tả bài toán, kiến trúc, đặc trưng 5V và đánh giá giá trị kinh doanh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575304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3758184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Notebook EDA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758184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Notebook Python/Pandas: thống kê mô tả, trực quan hóa, nhận xét chất lượng dữ liệu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528816" y="3337560"/>
            <a:ext cx="2697480" cy="1828800"/>
          </a:xfrm>
          <a:prstGeom prst="roundRect">
            <a:avLst>
              <a:gd fmla="val 4000" name="adj"/>
            </a:avLst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/>
          <p:nvPr/>
        </p:nvSpPr>
        <p:spPr>
          <a:xfrm>
            <a:off x="6711696" y="352044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Đề xuất use case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6711696" y="395935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3F7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CE3F7"/>
                </a:solidFill>
                <a:latin typeface="Arial"/>
                <a:ea typeface="Arial"/>
                <a:cs typeface="Arial"/>
                <a:sym typeface="Arial"/>
              </a:rPr>
              <a:t>1 use case Big Data khả thi được xây dựng từ dataset đã khai thác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21792" y="5440680"/>
            <a:ext cx="8595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Trình bày kết quả trong 5 phút trước lớp — mỗi nhóm/cá nhân đều cần chuẩn bị phần thuyết trình ngắn.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289" name="Google Shape;2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1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Tóm tắt buổi thực hành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621792" y="213055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960120" y="20574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Case study thực tế giúp gắn lý thuyết 5V với vận hành doanh nghiệp cụ thể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621792" y="267919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960120" y="2606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EDA là bước đầu tiên bắt buộc trước khi khai thác giá trị từ mọi bộ dữ liệu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621792" y="322783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960120" y="3154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Chất lượng dữ liệu (thiếu, nhiễu, ngoại lai) quyết định độ tin cậy của phân tích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621792" y="377647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960120" y="3703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Một use case Big Data tốt luôn xuất phát từ bài toán vận hành thực tế, không phải từ công nghệ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621792" y="4325112"/>
            <a:ext cx="146304" cy="146304"/>
          </a:xfrm>
          <a:prstGeom prst="rect">
            <a:avLst/>
          </a:prstGeom>
          <a:solidFill>
            <a:srgbClr val="1F45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960120" y="42519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Kỹ năng trình bày kết quả ngắn gọn (5 phút) là một phần quan trọng của quy trình phân tích dữ liệu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content_header_wave.jpeg" id="310" name="Google Shape;3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/>
          <p:nvPr/>
        </p:nvSpPr>
        <p:spPr>
          <a:xfrm>
            <a:off x="457200" y="256032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Đánh giá nhanh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7863840" y="25603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Thực hành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457200" y="1572768"/>
            <a:ext cx="50292" cy="384048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/>
          <p:cNvSpPr/>
          <p:nvPr/>
        </p:nvSpPr>
        <p:spPr>
          <a:xfrm>
            <a:off x="621792" y="1517904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Câu hỏi kiểm tra nhanh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Thực hành 1 · Kiến trúc &amp; Ứng dụng Big Data trong Công nghiệp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>
            <a:off x="8549640" y="384048"/>
            <a:ext cx="105156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8549640" y="384048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8A5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8A5A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621792" y="228600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868680" y="241401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Bước đầu tiên khi phân tích một case study Big Data doanh nghiệp là gì?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868680" y="285292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Xác định bài toán vận hành cần giải quyết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621792" y="352044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868680" y="364845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Hàm nào trong Pandas dùng để xem thống kê mô tả của DataFrame?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868680" y="408736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df.describe()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21792" y="4754880"/>
            <a:ext cx="8595360" cy="1051560"/>
          </a:xfrm>
          <a:prstGeom prst="roundRect">
            <a:avLst>
              <a:gd fmla="val 6087" name="adj"/>
            </a:avLst>
          </a:prstGeom>
          <a:solidFill>
            <a:srgbClr val="F5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868680" y="4882896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Sản phẩm nào KHÔNG thuộc yêu cầu nộp lại của buổi thực hành 1?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868680" y="532180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5B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45BC"/>
                </a:solidFill>
                <a:latin typeface="Arial"/>
                <a:ea typeface="Arial"/>
                <a:cs typeface="Arial"/>
                <a:sym typeface="Arial"/>
              </a:rPr>
              <a:t>Đáp án: Mã nguồn MapReduce (sẽ học ở Bài 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assets/wave_divider.jpeg" id="332" name="Google Shape;3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905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Cảm ơn đã theo dõi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658368" y="233172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Bài tiếp theo: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Thực hành 2 — Kiến trúc hệ sinh thái &amp; lưu trữ dữ liệu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85800" y="3794760"/>
            <a:ext cx="54864" cy="256032"/>
          </a:xfrm>
          <a:prstGeom prst="rect">
            <a:avLst/>
          </a:prstGeom>
          <a:solidFill>
            <a:srgbClr val="193E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868680" y="3749040"/>
            <a:ext cx="6858000" cy="1088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Tài liệu tham khảo: link dataset (Kaggle/Open Data) sẽ được chia sẻ trên LMS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Liên hệ giảng viên/trợ giảng nếu cần hỗ trợ khi thực hành với dataset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3A3A3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Chuẩn bị laptop có Python, Jupyter Notebook cho buổi thực hành tiếp theo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57200" y="6547104"/>
            <a:ext cx="5943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144000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