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320040" y="-137160"/>
            <a:ext cx="3886200" cy="1024128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247888" y="5989320"/>
            <a:ext cx="4160520" cy="1024128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85e423d-ca97-4670-a2c8-fc9a156df9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2509" y="54864"/>
            <a:ext cx="1670033" cy="8412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1691640"/>
            <a:ext cx="1115568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500" b="1">
                <a:solidFill>
                  <a:srgbClr val="0F3F6F"/>
                </a:solidFill>
                <a:latin typeface="Aptos Narrow"/>
              </a:rPr>
              <a:t>Kiến trúc hệ sinh thái Big Data
và công nghệ lưu trữ dữ liệu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46120"/>
            <a:ext cx="111556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70">
                <a:solidFill>
                  <a:srgbClr val="435266"/>
                </a:solidFill>
                <a:latin typeface="Aptos"/>
              </a:rPr>
              <a:t>2.1 Tổng quan  •  2.2 Kiến trúc hệ sinh thái  •  2.3 DFS  •  2.4 Hadoop Ecosystem  •  2.5 HDFS
2.6 NoSQL  •  2.7 MongoDB / Cassandra / Neo4j  •  2.8 Data Lake / Lakehouse / Delta Lake / Databricks
2.9 Bức tranh hệ sinh thái  •  Thực hành Python + Jupyter + NumPy + Pandas
Bổ sung theo đề cương: Spark, Kafka, Flink ở mức tổng quan; bản đồ công cụ; lựa chọn công nghệ lưu trữ.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21792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tos Narrow"/>
              </a:rPr>
              <a:t>Bài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75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Chương trình buổi học (4 giờ)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2</a:t>
            </a:r>
          </a:p>
        </p:txBody>
      </p:sp>
      <p:pic>
        <p:nvPicPr>
          <p:cNvPr id="8" name="Picture 7" descr="body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186" y="969264"/>
            <a:ext cx="9083683" cy="56052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75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Mục tiêu học tập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3</a:t>
            </a:r>
          </a:p>
        </p:txBody>
      </p:sp>
      <p:pic>
        <p:nvPicPr>
          <p:cNvPr id="8" name="Picture 7" descr="body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186" y="969264"/>
            <a:ext cx="9083683" cy="56052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75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Lộ trình khóa học Big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4</a:t>
            </a:r>
          </a:p>
        </p:txBody>
      </p:sp>
      <p:pic>
        <p:nvPicPr>
          <p:cNvPr id="8" name="Picture 7" descr="body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186" y="969264"/>
            <a:ext cx="9083683" cy="56052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389888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85B518"/>
                </a:solidFill>
                <a:latin typeface="Aptos Narrow"/>
              </a:rPr>
              <a:t>PHẦN 2.1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11680"/>
            <a:ext cx="103327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700" b="1">
                <a:solidFill>
                  <a:srgbClr val="0F3F6F"/>
                </a:solidFill>
                <a:latin typeface="Aptos Narrow"/>
              </a:rPr>
              <a:t>Tổng quan về Big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64992"/>
            <a:ext cx="10012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35266"/>
                </a:solidFill>
                <a:latin typeface="Aptos"/>
              </a:rPr>
              <a:t>Khái niệm, đặc trưng 5V và các bài toán Big Data trong thực tế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74336"/>
            <a:ext cx="5212080" cy="5029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74336"/>
            <a:ext cx="1143000" cy="50292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75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Khái niệm Big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6</a:t>
            </a:r>
          </a:p>
        </p:txBody>
      </p:sp>
      <p:pic>
        <p:nvPicPr>
          <p:cNvPr id="8" name="Picture 7" descr="body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186" y="969264"/>
            <a:ext cx="9083683" cy="56052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75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Đặc trưng Big Data — Mô hình 5V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7</a:t>
            </a:r>
          </a:p>
        </p:txBody>
      </p:sp>
      <p:pic>
        <p:nvPicPr>
          <p:cNvPr id="8" name="Picture 7" descr="body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186" y="969264"/>
            <a:ext cx="9083683" cy="56052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75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Một số bài toán Big Data thực tế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8</a:t>
            </a:r>
          </a:p>
        </p:txBody>
      </p:sp>
      <p:pic>
        <p:nvPicPr>
          <p:cNvPr id="8" name="Picture 7" descr="body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186" y="969264"/>
            <a:ext cx="9083683" cy="56052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389888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85B518"/>
                </a:solidFill>
                <a:latin typeface="Aptos Narrow"/>
              </a:rPr>
              <a:t>PHẦN 2.2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11680"/>
            <a:ext cx="103327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700" b="1">
                <a:solidFill>
                  <a:srgbClr val="0F3F6F"/>
                </a:solidFill>
                <a:latin typeface="Aptos Narrow"/>
              </a:rPr>
              <a:t>Kiến trúc hệ sinh thái Big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64992"/>
            <a:ext cx="10012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35266"/>
                </a:solidFill>
                <a:latin typeface="Aptos"/>
              </a:rPr>
              <a:t>Kiến trúc tổng thể, Batch/Stream Processing và mô hình mở rộng hệ thống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74336"/>
            <a:ext cx="5212080" cy="5029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74336"/>
            <a:ext cx="1143000" cy="50292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75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Kiến trúc tổng thể của hệ thống Big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10</a:t>
            </a:r>
          </a:p>
        </p:txBody>
      </p:sp>
      <p:pic>
        <p:nvPicPr>
          <p:cNvPr id="8" name="Picture 7" descr="body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186" y="969264"/>
            <a:ext cx="9083683" cy="56052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75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Bản đồ hệ sinh thái Big Data theo chức năng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98755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0F3F6F"/>
                </a:solidFill>
                <a:latin typeface="Aptos"/>
              </a:rPr>
              <a:t>Theo đề cương, học viên cần nhận biết các nhóm nền tảng Big Data trước khi đi sâu từng công cụ.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3154680" cy="4343400"/>
          </a:xfrm>
          <a:prstGeom prst="roundRect">
            <a:avLst/>
          </a:prstGeom>
          <a:solidFill>
            <a:srgbClr val="E7EEF5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91640"/>
            <a:ext cx="2880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50" b="1">
                <a:solidFill>
                  <a:srgbClr val="0F3F6F"/>
                </a:solidFill>
                <a:latin typeface="Aptos Narrow"/>
              </a:rPr>
              <a:t>Thu thập &amp; Streaming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148840"/>
            <a:ext cx="27889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Kafka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NiFi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Flink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Luồng IoT / log / transaction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50791" y="1508760"/>
            <a:ext cx="3154680" cy="4343400"/>
          </a:xfrm>
          <a:prstGeom prst="roundRect">
            <a:avLst/>
          </a:prstGeom>
          <a:solidFill>
            <a:srgbClr val="E9F3D6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7952" y="1691640"/>
            <a:ext cx="2880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50" b="1">
                <a:solidFill>
                  <a:srgbClr val="0F3F6F"/>
                </a:solidFill>
                <a:latin typeface="Aptos Narrow"/>
              </a:rPr>
              <a:t>Lưu trữ &amp; Quản trị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15383" y="2148840"/>
            <a:ext cx="27889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HDFS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NoSQL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Data Lake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Delta Lake / Lakehouse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52944" y="1508760"/>
            <a:ext cx="3154680" cy="4343400"/>
          </a:xfrm>
          <a:prstGeom prst="roundRect">
            <a:avLst/>
          </a:prstGeom>
          <a:solidFill>
            <a:srgbClr val="F0F4F7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0104" y="1691640"/>
            <a:ext cx="2880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50" b="1">
                <a:solidFill>
                  <a:srgbClr val="0F3F6F"/>
                </a:solidFill>
                <a:latin typeface="Aptos Narrow"/>
              </a:rPr>
              <a:t>Xử lý &amp; Phân tích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7536" y="2148840"/>
            <a:ext cx="27889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Hadoop MapReduce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Spark / PySpark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SQL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Databricks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75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Batch Processing và Stream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12</a:t>
            </a:r>
          </a:p>
        </p:txBody>
      </p:sp>
      <p:pic>
        <p:nvPicPr>
          <p:cNvPr id="8" name="Picture 7" descr="body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186" y="969264"/>
            <a:ext cx="9083683" cy="56052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75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Scale-up, Scale-out và Distributed Computing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13</a:t>
            </a:r>
          </a:p>
        </p:txBody>
      </p:sp>
      <p:pic>
        <p:nvPicPr>
          <p:cNvPr id="8" name="Picture 7" descr="body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186" y="969264"/>
            <a:ext cx="9083683" cy="56052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75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F3F6F"/>
                </a:solidFill>
                <a:latin typeface="Aptos Narrow"/>
              </a:rPr>
              <a:t>Hadoop, Spark, Kafka và Flink nằm ở đâu trong hệ sinh thái?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234440"/>
            <a:ext cx="4983480" cy="4480560"/>
          </a:xfrm>
          <a:prstGeom prst="roundRect">
            <a:avLst/>
          </a:prstGeom>
          <a:solidFill>
            <a:srgbClr val="E7EEF5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41732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3F6F"/>
                </a:solidFill>
                <a:latin typeface="Aptos Narrow"/>
              </a:rPr>
              <a:t>Hadoop &amp; Spark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874519"/>
            <a:ext cx="45720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50">
                <a:solidFill>
                  <a:srgbClr val="435266"/>
                </a:solidFill>
                <a:latin typeface="Aptos"/>
              </a:rPr>
              <a:t>• Hadoop: nền tảng lưu trữ/xử lý phân tán truyền thống, gắn với HDFS và MapReduce.</a:t>
            </a:r>
          </a:p>
          <a:p>
            <a:pPr>
              <a:spcAft>
                <a:spcPts val="500"/>
              </a:spcAft>
            </a:pPr>
            <a:r>
              <a:rPr sz="1650">
                <a:solidFill>
                  <a:srgbClr val="435266"/>
                </a:solidFill>
                <a:latin typeface="Aptos"/>
              </a:rPr>
              <a:t>• Spark: engine xử lý dữ liệu phân tán nhanh, hỗ trợ SQL, batch, streaming và ML.</a:t>
            </a:r>
          </a:p>
          <a:p>
            <a:pPr>
              <a:spcAft>
                <a:spcPts val="500"/>
              </a:spcAft>
            </a:pPr>
            <a:r>
              <a:rPr sz="1650">
                <a:solidFill>
                  <a:srgbClr val="435266"/>
                </a:solidFill>
                <a:latin typeface="Aptos"/>
              </a:rPr>
              <a:t>• Bài 2 chỉ định vị vai trò; cơ chế thực thi sẽ học sâu ở Bài 4–5.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234440"/>
            <a:ext cx="4983480" cy="4480560"/>
          </a:xfrm>
          <a:prstGeom prst="roundRect">
            <a:avLst/>
          </a:prstGeom>
          <a:solidFill>
            <a:srgbClr val="E9F3D6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41732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3F6F"/>
                </a:solidFill>
                <a:latin typeface="Aptos Narrow"/>
              </a:rPr>
              <a:t>Kafka &amp; Flink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1874519"/>
            <a:ext cx="45720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50">
                <a:solidFill>
                  <a:srgbClr val="435266"/>
                </a:solidFill>
                <a:latin typeface="Aptos"/>
              </a:rPr>
              <a:t>• Kafka: nền tảng truyền tải dữ liệu streaming, làm lớp đệm giữa nguồn và hệ xử lý.</a:t>
            </a:r>
          </a:p>
          <a:p>
            <a:pPr>
              <a:spcAft>
                <a:spcPts val="500"/>
              </a:spcAft>
            </a:pPr>
            <a:r>
              <a:rPr sz="1650">
                <a:solidFill>
                  <a:srgbClr val="435266"/>
                </a:solidFill>
                <a:latin typeface="Aptos"/>
              </a:rPr>
              <a:t>• Flink: engine xử lý stream-first, phù hợp bài toán độ trễ thấp.</a:t>
            </a:r>
          </a:p>
          <a:p>
            <a:pPr>
              <a:spcAft>
                <a:spcPts val="500"/>
              </a:spcAft>
            </a:pPr>
            <a:r>
              <a:rPr sz="1650">
                <a:solidFill>
                  <a:srgbClr val="435266"/>
                </a:solidFill>
                <a:latin typeface="Aptos"/>
              </a:rPr>
              <a:t>• Bài 2 giới thiệu vị trí trong kiến trúc; Bài 3 sẽ đi sâu hơn về luồng dữ liệu.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97880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i="1">
                <a:solidFill>
                  <a:srgbClr val="0F3F6F"/>
                </a:solidFill>
                <a:latin typeface="Aptos"/>
              </a:rPr>
              <a:t>Bốn công nghệ bổ sung cho nhau; chúng không phải các lựa chọn loại trừ hoàn toàn.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389888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85B518"/>
                </a:solidFill>
                <a:latin typeface="Aptos Narrow"/>
              </a:rPr>
              <a:t>PHẦN 2.3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11680"/>
            <a:ext cx="103327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700" b="1">
                <a:solidFill>
                  <a:srgbClr val="0F3F6F"/>
                </a:solidFill>
                <a:latin typeface="Aptos Narrow"/>
              </a:rPr>
              <a:t>Hệ thống tệp phân tán – DFS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64992"/>
            <a:ext cx="10012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35266"/>
                </a:solidFill>
                <a:latin typeface="Aptos"/>
              </a:rPr>
              <a:t>Nguyên lý chia nhỏ dữ liệu, nhân bản và khả năng chịu lỗi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74336"/>
            <a:ext cx="5212080" cy="5029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74336"/>
            <a:ext cx="1143000" cy="50292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75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Distributed File System là gì?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16</a:t>
            </a:r>
          </a:p>
        </p:txBody>
      </p:sp>
      <p:pic>
        <p:nvPicPr>
          <p:cNvPr id="8" name="Picture 7" descr="body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186" y="969264"/>
            <a:ext cx="9083683" cy="56052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75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Replication, Fault Tolerance, Data Locality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17</a:t>
            </a:r>
          </a:p>
        </p:txBody>
      </p:sp>
      <p:pic>
        <p:nvPicPr>
          <p:cNvPr id="8" name="Picture 7" descr="body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186" y="969264"/>
            <a:ext cx="9083683" cy="56052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75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Vòng đời một file trong hệ thống tệp phân tán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8755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0F3F6F"/>
                </a:solidFill>
                <a:latin typeface="Aptos"/>
              </a:rPr>
              <a:t>DFS là nền tảng để hiểu HDFS: chia nhỏ, phân phối và chịu lỗi bằng replication.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74519"/>
            <a:ext cx="2148840" cy="2651760"/>
          </a:xfrm>
          <a:prstGeom prst="roundRect">
            <a:avLst/>
          </a:prstGeom>
          <a:solidFill>
            <a:srgbClr val="E7EEF5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039112"/>
            <a:ext cx="19293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3F6F"/>
                </a:solidFill>
                <a:latin typeface="Aptos Narrow"/>
              </a:rPr>
              <a:t>Chia block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468879"/>
            <a:ext cx="1929384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20">
                <a:solidFill>
                  <a:srgbClr val="435266"/>
                </a:solidFill>
                <a:latin typeface="Aptos"/>
              </a:rPr>
              <a:t>• File lớn được chia thành block</a:t>
            </a:r>
          </a:p>
          <a:p>
            <a:r>
              <a:rPr sz="1420">
                <a:solidFill>
                  <a:srgbClr val="435266"/>
                </a:solidFill>
                <a:latin typeface="Aptos"/>
              </a:rPr>
              <a:t>• Mỗi block có định danh riêng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0" y="3200400"/>
            <a:ext cx="502920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337560" y="1874519"/>
            <a:ext cx="2148840" cy="2651760"/>
          </a:xfrm>
          <a:prstGeom prst="roundRect">
            <a:avLst/>
          </a:prstGeom>
          <a:solidFill>
            <a:srgbClr val="E9F3D6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7288" y="2039112"/>
            <a:ext cx="19293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3F6F"/>
                </a:solidFill>
                <a:latin typeface="Aptos Narrow"/>
              </a:rPr>
              <a:t>Phân phối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2468879"/>
            <a:ext cx="1929384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20">
                <a:solidFill>
                  <a:srgbClr val="435266"/>
                </a:solidFill>
                <a:latin typeface="Aptos"/>
              </a:rPr>
              <a:t>• Block được đặt trên nhiều node</a:t>
            </a:r>
          </a:p>
          <a:p>
            <a:r>
              <a:rPr sz="1420">
                <a:solidFill>
                  <a:srgbClr val="435266"/>
                </a:solidFill>
                <a:latin typeface="Aptos"/>
              </a:rPr>
              <a:t>• Tận dụng tổng dung lượng cụm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0" y="3200400"/>
            <a:ext cx="502920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080760" y="1874519"/>
            <a:ext cx="2148840" cy="2651760"/>
          </a:xfrm>
          <a:prstGeom prst="roundRect">
            <a:avLst/>
          </a:prstGeom>
          <a:solidFill>
            <a:srgbClr val="F0F4F7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0488" y="2039112"/>
            <a:ext cx="19293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3F6F"/>
                </a:solidFill>
                <a:latin typeface="Aptos Narrow"/>
              </a:rPr>
              <a:t>Nhân bản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0488" y="2468879"/>
            <a:ext cx="1929384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20">
                <a:solidFill>
                  <a:srgbClr val="435266"/>
                </a:solidFill>
                <a:latin typeface="Aptos"/>
              </a:rPr>
              <a:t>• Tạo nhiều bản sao</a:t>
            </a:r>
          </a:p>
          <a:p>
            <a:r>
              <a:rPr sz="1420">
                <a:solidFill>
                  <a:srgbClr val="435266"/>
                </a:solidFill>
                <a:latin typeface="Aptos"/>
              </a:rPr>
              <a:t>• Giảm rủi ro mất dữ liệu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29600" y="3200400"/>
            <a:ext cx="502920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823960" y="1874519"/>
            <a:ext cx="2148840" cy="2651760"/>
          </a:xfrm>
          <a:prstGeom prst="roundRect">
            <a:avLst/>
          </a:prstGeom>
          <a:solidFill>
            <a:srgbClr val="E7EEF5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33688" y="2039112"/>
            <a:ext cx="19293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3F6F"/>
                </a:solidFill>
                <a:latin typeface="Aptos Narrow"/>
              </a:rPr>
              <a:t>Đọc gần dữ liệu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3688" y="2468879"/>
            <a:ext cx="1929384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20">
                <a:solidFill>
                  <a:srgbClr val="435266"/>
                </a:solidFill>
                <a:latin typeface="Aptos"/>
              </a:rPr>
              <a:t>• Ưu tiên xử lý gần nơi lưu</a:t>
            </a:r>
          </a:p>
          <a:p>
            <a:r>
              <a:rPr sz="1420">
                <a:solidFill>
                  <a:srgbClr val="435266"/>
                </a:solidFill>
                <a:latin typeface="Aptos"/>
              </a:rPr>
              <a:t>• Giảm truyền dữ liệu qua mạng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389888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85B518"/>
                </a:solidFill>
                <a:latin typeface="Aptos Narrow"/>
              </a:rPr>
              <a:t>PHẦN 2.4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11680"/>
            <a:ext cx="103327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700" b="1">
                <a:solidFill>
                  <a:srgbClr val="0F3F6F"/>
                </a:solidFill>
                <a:latin typeface="Aptos Narrow"/>
              </a:rPr>
              <a:t>Hadoop Ecosystem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64992"/>
            <a:ext cx="10012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35266"/>
                </a:solidFill>
                <a:latin typeface="Aptos"/>
              </a:rPr>
              <a:t>Tổng quan Apache Hadoop, 3 thành phần cốt lõi và hạn chế của MapReduce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74336"/>
            <a:ext cx="5212080" cy="5029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74336"/>
            <a:ext cx="1143000" cy="50292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75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Tổng quan Apache Hadoop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20</a:t>
            </a:r>
          </a:p>
        </p:txBody>
      </p:sp>
      <p:pic>
        <p:nvPicPr>
          <p:cNvPr id="8" name="Picture 7" descr="body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186" y="969264"/>
            <a:ext cx="9083683" cy="560527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75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Vai trò của Hadoop &amp; Hạn chế của MapReduce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21</a:t>
            </a:r>
          </a:p>
        </p:txBody>
      </p:sp>
      <p:pic>
        <p:nvPicPr>
          <p:cNvPr id="8" name="Picture 7" descr="body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186" y="969264"/>
            <a:ext cx="9083683" cy="560527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75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Ba lớp cốt lõi của Hadoop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98755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0F3F6F"/>
                </a:solidFill>
                <a:latin typeface="Aptos"/>
              </a:rPr>
              <a:t>Bài 2 chỉ đặt nền móng khái niệm; cơ chế thực thi chi tiết được mở rộng ở Bài 4.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3154680" cy="4343400"/>
          </a:xfrm>
          <a:prstGeom prst="roundRect">
            <a:avLst/>
          </a:prstGeom>
          <a:solidFill>
            <a:srgbClr val="E7EEF5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91640"/>
            <a:ext cx="2880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50" b="1">
                <a:solidFill>
                  <a:srgbClr val="0F3F6F"/>
                </a:solidFill>
                <a:latin typeface="Aptos Narrow"/>
              </a:rPr>
              <a:t>HDFS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148840"/>
            <a:ext cx="27889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Lưu trữ phân tán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Chia block + replication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Tối ưu dữ liệu lớn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50791" y="1508760"/>
            <a:ext cx="3154680" cy="4343400"/>
          </a:xfrm>
          <a:prstGeom prst="roundRect">
            <a:avLst/>
          </a:prstGeom>
          <a:solidFill>
            <a:srgbClr val="E9F3D6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7952" y="1691640"/>
            <a:ext cx="2880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50" b="1">
                <a:solidFill>
                  <a:srgbClr val="0F3F6F"/>
                </a:solidFill>
                <a:latin typeface="Aptos Narrow"/>
              </a:rPr>
              <a:t>YARN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15383" y="2148840"/>
            <a:ext cx="27889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Quản lý tài nguyên cụm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Cấp CPU/RAM cho ứng dụng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Cho nhiều engine cùng dùng cluster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52944" y="1508760"/>
            <a:ext cx="3154680" cy="4343400"/>
          </a:xfrm>
          <a:prstGeom prst="roundRect">
            <a:avLst/>
          </a:prstGeom>
          <a:solidFill>
            <a:srgbClr val="F0F4F7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0104" y="1691640"/>
            <a:ext cx="2880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50" b="1">
                <a:solidFill>
                  <a:srgbClr val="0F3F6F"/>
                </a:solidFill>
                <a:latin typeface="Aptos Narrow"/>
              </a:rPr>
              <a:t>MapReduce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7536" y="2148840"/>
            <a:ext cx="27889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Mô hình xử lý phân tán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Map → Shuffle/Sort → Reduce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Phù hợp batch truyền thống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389888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85B518"/>
                </a:solidFill>
                <a:latin typeface="Aptos Narrow"/>
              </a:rPr>
              <a:t>PHẦN 2.5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11680"/>
            <a:ext cx="103327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700" b="1">
                <a:solidFill>
                  <a:srgbClr val="0F3F6F"/>
                </a:solidFill>
                <a:latin typeface="Aptos Narrow"/>
              </a:rPr>
              <a:t>HDFS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64992"/>
            <a:ext cx="10012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35266"/>
                </a:solidFill>
                <a:latin typeface="Aptos"/>
              </a:rPr>
              <a:t>Kiến trúc chi tiết, cách phân phối dữ liệu và khả năng chịu lỗi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74336"/>
            <a:ext cx="5212080" cy="5029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74336"/>
            <a:ext cx="1143000" cy="50292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75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Kiến trúc HDFS: NameNode, DataNode, Block, Replication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24</a:t>
            </a:r>
          </a:p>
        </p:txBody>
      </p:sp>
      <p:pic>
        <p:nvPicPr>
          <p:cNvPr id="8" name="Picture 7" descr="body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186" y="969264"/>
            <a:ext cx="9083683" cy="560527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75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Một file được phân phối trên nhiều Node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25</a:t>
            </a:r>
          </a:p>
        </p:txBody>
      </p:sp>
      <p:pic>
        <p:nvPicPr>
          <p:cNvPr id="8" name="Picture 7" descr="body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186" y="969264"/>
            <a:ext cx="9083683" cy="560527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75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Đọc và ghi dữ liệu trong HDFS — nhìn ở mức kiến trúc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234440"/>
            <a:ext cx="4983480" cy="4480560"/>
          </a:xfrm>
          <a:prstGeom prst="roundRect">
            <a:avLst/>
          </a:prstGeom>
          <a:solidFill>
            <a:srgbClr val="E7EEF5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41732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3F6F"/>
                </a:solidFill>
                <a:latin typeface="Aptos Narrow"/>
              </a:rPr>
              <a:t>Khi ghi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874519"/>
            <a:ext cx="45720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50">
                <a:solidFill>
                  <a:srgbClr val="435266"/>
                </a:solidFill>
                <a:latin typeface="Aptos"/>
              </a:rPr>
              <a:t>• Client hỏi NameNode vị trí các DataNode phù hợp.</a:t>
            </a:r>
          </a:p>
          <a:p>
            <a:pPr>
              <a:spcAft>
                <a:spcPts val="500"/>
              </a:spcAft>
            </a:pPr>
            <a:r>
              <a:rPr sz="1650">
                <a:solidFill>
                  <a:srgbClr val="435266"/>
                </a:solidFill>
                <a:latin typeface="Aptos"/>
              </a:rPr>
              <a:t>• File được chia thành block và gửi tới DataNode.</a:t>
            </a:r>
          </a:p>
          <a:p>
            <a:pPr>
              <a:spcAft>
                <a:spcPts val="500"/>
              </a:spcAft>
            </a:pPr>
            <a:r>
              <a:rPr sz="1650">
                <a:solidFill>
                  <a:srgbClr val="435266"/>
                </a:solidFill>
                <a:latin typeface="Aptos"/>
              </a:rPr>
              <a:t>• Các block được nhân bản theo replication factor.</a:t>
            </a:r>
          </a:p>
          <a:p>
            <a:pPr>
              <a:spcAft>
                <a:spcPts val="500"/>
              </a:spcAft>
            </a:pPr>
            <a:r>
              <a:rPr sz="1650">
                <a:solidFill>
                  <a:srgbClr val="435266"/>
                </a:solidFill>
                <a:latin typeface="Aptos"/>
              </a:rPr>
              <a:t>• NameNode cập nhật metadata: block nào nằm ở node nào.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234440"/>
            <a:ext cx="4983480" cy="4480560"/>
          </a:xfrm>
          <a:prstGeom prst="roundRect">
            <a:avLst/>
          </a:prstGeom>
          <a:solidFill>
            <a:srgbClr val="E9F3D6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41732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3F6F"/>
                </a:solidFill>
                <a:latin typeface="Aptos Narrow"/>
              </a:rPr>
              <a:t>Khi đọc 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1874519"/>
            <a:ext cx="45720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50">
                <a:solidFill>
                  <a:srgbClr val="435266"/>
                </a:solidFill>
                <a:latin typeface="Aptos"/>
              </a:rPr>
              <a:t>• Client hỏi NameNode metadata của file.</a:t>
            </a:r>
          </a:p>
          <a:p>
            <a:pPr>
              <a:spcAft>
                <a:spcPts val="500"/>
              </a:spcAft>
            </a:pPr>
            <a:r>
              <a:rPr sz="1650">
                <a:solidFill>
                  <a:srgbClr val="435266"/>
                </a:solidFill>
                <a:latin typeface="Aptos"/>
              </a:rPr>
              <a:t>• Client đọc trực tiếp từ DataNode chứa block gần nhất.</a:t>
            </a:r>
          </a:p>
          <a:p>
            <a:pPr>
              <a:spcAft>
                <a:spcPts val="500"/>
              </a:spcAft>
            </a:pPr>
            <a:r>
              <a:rPr sz="1650">
                <a:solidFill>
                  <a:srgbClr val="435266"/>
                </a:solidFill>
                <a:latin typeface="Aptos"/>
              </a:rPr>
              <a:t>• Nếu một node lỗi, có thể đọc từ bản replica khác.</a:t>
            </a:r>
          </a:p>
          <a:p>
            <a:pPr>
              <a:spcAft>
                <a:spcPts val="500"/>
              </a:spcAft>
            </a:pPr>
            <a:r>
              <a:rPr sz="1650">
                <a:solidFill>
                  <a:srgbClr val="435266"/>
                </a:solidFill>
                <a:latin typeface="Aptos"/>
              </a:rPr>
              <a:t>• NameNode không truyền nội dung file — chỉ quản lý metadata.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97880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i="1">
                <a:solidFill>
                  <a:srgbClr val="0F3F6F"/>
                </a:solidFill>
                <a:latin typeface="Aptos"/>
              </a:rPr>
              <a:t>Đây là lý do HDFS có thể mở rộng và chịu lỗi mà không cần một ổ đĩa khổng lồ duy nhất.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389888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85B518"/>
                </a:solidFill>
                <a:latin typeface="Aptos Narrow"/>
              </a:rPr>
              <a:t>PHẦN 2.6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11680"/>
            <a:ext cx="103327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700" b="1">
                <a:solidFill>
                  <a:srgbClr val="0F3F6F"/>
                </a:solidFill>
                <a:latin typeface="Aptos Narrow"/>
              </a:rPr>
              <a:t>Tổng quan NoSQL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64992"/>
            <a:ext cx="10012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35266"/>
                </a:solidFill>
                <a:latin typeface="Aptos"/>
              </a:rPr>
              <a:t>NoSQL là gì, vì sao cần NoSQL và so sánh với SQL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74336"/>
            <a:ext cx="5212080" cy="5029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74336"/>
            <a:ext cx="1143000" cy="50292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75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NoSQL là gì? Vì sao cần NoSQL?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28</a:t>
            </a:r>
          </a:p>
        </p:txBody>
      </p:sp>
      <p:pic>
        <p:nvPicPr>
          <p:cNvPr id="8" name="Picture 7" descr="body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186" y="969264"/>
            <a:ext cx="9083683" cy="560527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75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So sánh SQL và NoSQL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29</a:t>
            </a:r>
          </a:p>
        </p:txBody>
      </p:sp>
      <p:pic>
        <p:nvPicPr>
          <p:cNvPr id="8" name="Picture 7" descr="body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186" y="969264"/>
            <a:ext cx="9083683" cy="560527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75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Các loại NoSQL phổ biến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30</a:t>
            </a:r>
          </a:p>
        </p:txBody>
      </p:sp>
      <p:pic>
        <p:nvPicPr>
          <p:cNvPr id="8" name="Picture 7" descr="body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186" y="969264"/>
            <a:ext cx="9083683" cy="560527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75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Chọn mô hình NoSQL theo cấu trúc dữ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8755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0F3F6F"/>
                </a:solidFill>
                <a:latin typeface="Aptos"/>
              </a:rPr>
              <a:t>Mỗi loại NoSQL tối ưu cho một dạng truy cập dữ liệu khác nhau; không có một NoSQL tốt nhất cho mọi bài toán.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554480"/>
            <a:ext cx="2971800" cy="658368"/>
          </a:xfrm>
          <a:prstGeom prst="rect">
            <a:avLst/>
          </a:prstGeom>
          <a:solidFill>
            <a:srgbClr val="0F3F6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Nhu cầu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1554480"/>
            <a:ext cx="3429000" cy="658368"/>
          </a:xfrm>
          <a:prstGeom prst="rect">
            <a:avLst/>
          </a:prstGeom>
          <a:solidFill>
            <a:srgbClr val="0F3F6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Công nghệ phù hợp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0" y="1554480"/>
            <a:ext cx="3977639" cy="658368"/>
          </a:xfrm>
          <a:prstGeom prst="rect">
            <a:avLst/>
          </a:prstGeom>
          <a:solidFill>
            <a:srgbClr val="0F3F6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Lý do chính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212848"/>
            <a:ext cx="2971800" cy="658368"/>
          </a:xfrm>
          <a:prstGeom prst="rect">
            <a:avLst/>
          </a:prstGeom>
          <a:solidFill>
            <a:srgbClr val="E7EE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>
                <a:solidFill>
                  <a:srgbClr val="435266"/>
                </a:solidFill>
                <a:latin typeface="Aptos"/>
              </a:rPr>
              <a:t>Hồ sơ linh hoạt, JSON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2212848"/>
            <a:ext cx="3429000" cy="658368"/>
          </a:xfrm>
          <a:prstGeom prst="rect">
            <a:avLst/>
          </a:prstGeom>
          <a:solidFill>
            <a:srgbClr val="E7EE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>
                <a:solidFill>
                  <a:srgbClr val="435266"/>
                </a:solidFill>
                <a:latin typeface="Aptos"/>
              </a:rPr>
              <a:t>Document DB — MongoDB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212848"/>
            <a:ext cx="3977639" cy="658368"/>
          </a:xfrm>
          <a:prstGeom prst="rect">
            <a:avLst/>
          </a:prstGeom>
          <a:solidFill>
            <a:srgbClr val="E7EE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>
                <a:solidFill>
                  <a:srgbClr val="435266"/>
                </a:solidFill>
                <a:latin typeface="Aptos"/>
              </a:rPr>
              <a:t>Schema linh hoạt, dễ lưu object/tài liệu thay đổi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871215"/>
            <a:ext cx="2971800" cy="658368"/>
          </a:xfrm>
          <a:prstGeom prst="rect">
            <a:avLst/>
          </a:prstGeom>
          <a:solidFill>
            <a:srgbClr val="F0F4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>
                <a:solidFill>
                  <a:srgbClr val="435266"/>
                </a:solidFill>
                <a:latin typeface="Aptos"/>
              </a:rPr>
              <a:t>Dữ liệu cực lớn, ghi nhiều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2871215"/>
            <a:ext cx="3429000" cy="658368"/>
          </a:xfrm>
          <a:prstGeom prst="rect">
            <a:avLst/>
          </a:prstGeom>
          <a:solidFill>
            <a:srgbClr val="F0F4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>
                <a:solidFill>
                  <a:srgbClr val="435266"/>
                </a:solidFill>
                <a:latin typeface="Aptos"/>
              </a:rPr>
              <a:t>Wide-column — Cassandra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52360" y="2871215"/>
            <a:ext cx="3977639" cy="658368"/>
          </a:xfrm>
          <a:prstGeom prst="rect">
            <a:avLst/>
          </a:prstGeom>
          <a:solidFill>
            <a:srgbClr val="F0F4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>
                <a:solidFill>
                  <a:srgbClr val="435266"/>
                </a:solidFill>
                <a:latin typeface="Aptos"/>
              </a:rPr>
              <a:t>Scale-out tốt, throughput cao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529584"/>
            <a:ext cx="2971800" cy="658368"/>
          </a:xfrm>
          <a:prstGeom prst="rect">
            <a:avLst/>
          </a:prstGeom>
          <a:solidFill>
            <a:srgbClr val="E7EE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>
                <a:solidFill>
                  <a:srgbClr val="435266"/>
                </a:solidFill>
                <a:latin typeface="Aptos"/>
              </a:rPr>
              <a:t>Quan hệ phức tạp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0" y="3529584"/>
            <a:ext cx="3429000" cy="658368"/>
          </a:xfrm>
          <a:prstGeom prst="rect">
            <a:avLst/>
          </a:prstGeom>
          <a:solidFill>
            <a:srgbClr val="E7EE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>
                <a:solidFill>
                  <a:srgbClr val="435266"/>
                </a:solidFill>
                <a:latin typeface="Aptos"/>
              </a:rPr>
              <a:t>Graph DB — Neo4j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52360" y="3529584"/>
            <a:ext cx="3977639" cy="658368"/>
          </a:xfrm>
          <a:prstGeom prst="rect">
            <a:avLst/>
          </a:prstGeom>
          <a:solidFill>
            <a:srgbClr val="E7EE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>
                <a:solidFill>
                  <a:srgbClr val="435266"/>
                </a:solidFill>
                <a:latin typeface="Aptos"/>
              </a:rPr>
              <a:t>Truy vấn liên kết và đường đi hiệu quả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187952"/>
            <a:ext cx="2971800" cy="658368"/>
          </a:xfrm>
          <a:prstGeom prst="rect">
            <a:avLst/>
          </a:prstGeom>
          <a:solidFill>
            <a:srgbClr val="F0F4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>
                <a:solidFill>
                  <a:srgbClr val="435266"/>
                </a:solidFill>
                <a:latin typeface="Aptos"/>
              </a:rPr>
              <a:t>Cache / session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0" y="4187952"/>
            <a:ext cx="3429000" cy="658368"/>
          </a:xfrm>
          <a:prstGeom prst="rect">
            <a:avLst/>
          </a:prstGeom>
          <a:solidFill>
            <a:srgbClr val="F0F4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>
                <a:solidFill>
                  <a:srgbClr val="435266"/>
                </a:solidFill>
                <a:latin typeface="Aptos"/>
              </a:rPr>
              <a:t>Key-Value Store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52360" y="4187952"/>
            <a:ext cx="3977639" cy="658368"/>
          </a:xfrm>
          <a:prstGeom prst="rect">
            <a:avLst/>
          </a:prstGeom>
          <a:solidFill>
            <a:srgbClr val="F0F4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>
                <a:solidFill>
                  <a:srgbClr val="435266"/>
                </a:solidFill>
                <a:latin typeface="Aptos"/>
              </a:rPr>
              <a:t>Truy cập theo khóa rất nhanh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389888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85B518"/>
                </a:solidFill>
                <a:latin typeface="Aptos Narrow"/>
              </a:rPr>
              <a:t>PHẦN 2.7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11680"/>
            <a:ext cx="103327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700" b="1">
                <a:solidFill>
                  <a:srgbClr val="0F3F6F"/>
                </a:solidFill>
                <a:latin typeface="Aptos Narrow"/>
              </a:rPr>
              <a:t>Một số hệ quản trị NoSQL phổ biến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64992"/>
            <a:ext cx="10012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35266"/>
                </a:solidFill>
                <a:latin typeface="Aptos"/>
              </a:rPr>
              <a:t>MongoDB, Cassandra và Neo4j — đặc điểm, khái niệm cốt lõi và ứng dụng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74336"/>
            <a:ext cx="5212080" cy="5029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74336"/>
            <a:ext cx="1143000" cy="50292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75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MongoDB — Document Database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33</a:t>
            </a:r>
          </a:p>
        </p:txBody>
      </p:sp>
      <p:pic>
        <p:nvPicPr>
          <p:cNvPr id="8" name="Picture 7" descr="body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186" y="969264"/>
            <a:ext cx="9083683" cy="560527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75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Cassandra — Wide-column Database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34</a:t>
            </a:r>
          </a:p>
        </p:txBody>
      </p:sp>
      <p:pic>
        <p:nvPicPr>
          <p:cNvPr id="8" name="Picture 7" descr="body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186" y="969264"/>
            <a:ext cx="9083683" cy="560527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75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Neo4j — Graph Database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35</a:t>
            </a:r>
          </a:p>
        </p:txBody>
      </p:sp>
      <p:pic>
        <p:nvPicPr>
          <p:cNvPr id="8" name="Picture 7" descr="body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186" y="969264"/>
            <a:ext cx="9083683" cy="5605272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75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Ba tình huống doanh nghiệp — chọn NoSQL nào?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98755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0F3F6F"/>
                </a:solidFill>
                <a:latin typeface="Aptos"/>
              </a:rPr>
              <a:t>Bài toán quyết định công nghệ: hãy bắt đầu từ cấu trúc dữ liệu và kiểu truy vấn cần phục vụ.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3154680" cy="4343400"/>
          </a:xfrm>
          <a:prstGeom prst="roundRect">
            <a:avLst/>
          </a:prstGeom>
          <a:solidFill>
            <a:srgbClr val="E7EEF5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91640"/>
            <a:ext cx="2880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50" b="1">
                <a:solidFill>
                  <a:srgbClr val="0F3F6F"/>
                </a:solidFill>
                <a:latin typeface="Aptos Narrow"/>
              </a:rPr>
              <a:t>MongoDB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148840"/>
            <a:ext cx="27889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Catalog sản phẩm nhiều thuộc tính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Log ứng dụng dạng JSON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Hồ sơ khách hàng linh hoạt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50791" y="1508760"/>
            <a:ext cx="3154680" cy="4343400"/>
          </a:xfrm>
          <a:prstGeom prst="roundRect">
            <a:avLst/>
          </a:prstGeom>
          <a:solidFill>
            <a:srgbClr val="E9F3D6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7952" y="1691640"/>
            <a:ext cx="2880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50" b="1">
                <a:solidFill>
                  <a:srgbClr val="0F3F6F"/>
                </a:solidFill>
                <a:latin typeface="Aptos Narrow"/>
              </a:rPr>
              <a:t>Cassandra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15383" y="2148840"/>
            <a:ext cx="27889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IoT sensor time-series quy mô lớn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Ghi liên tục từ nhiều thiết bị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Hệ thống cần availability cao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52944" y="1508760"/>
            <a:ext cx="3154680" cy="4343400"/>
          </a:xfrm>
          <a:prstGeom prst="roundRect">
            <a:avLst/>
          </a:prstGeom>
          <a:solidFill>
            <a:srgbClr val="F0F4F7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0104" y="1691640"/>
            <a:ext cx="2880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50" b="1">
                <a:solidFill>
                  <a:srgbClr val="0F3F6F"/>
                </a:solidFill>
                <a:latin typeface="Aptos Narrow"/>
              </a:rPr>
              <a:t>Neo4j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7536" y="2148840"/>
            <a:ext cx="27889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Quan hệ khách hàng – giao dịch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Phát hiện mạng lưới gian lận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Phân tích kết nối thiết bị / supply chain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389888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85B518"/>
                </a:solidFill>
                <a:latin typeface="Aptos Narrow"/>
              </a:rPr>
              <a:t>PHẦN 2.8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11680"/>
            <a:ext cx="103327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700" b="1">
                <a:solidFill>
                  <a:srgbClr val="0F3F6F"/>
                </a:solidFill>
                <a:latin typeface="Aptos Narrow"/>
              </a:rPr>
              <a:t>Data Lake, Lakehouse và nền tảng hiện đại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64992"/>
            <a:ext cx="10012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35266"/>
                </a:solidFill>
                <a:latin typeface="Aptos"/>
              </a:rPr>
              <a:t>Data Warehouse, Data Lake, Lakehouse, Delta Lake và Databricks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74336"/>
            <a:ext cx="5212080" cy="5029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74336"/>
            <a:ext cx="1143000" cy="50292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75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Data Warehouse, Data Lake và Data Lakehouse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38</a:t>
            </a:r>
          </a:p>
        </p:txBody>
      </p:sp>
      <p:pic>
        <p:nvPicPr>
          <p:cNvPr id="8" name="Picture 7" descr="body-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186" y="969264"/>
            <a:ext cx="9083683" cy="560527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75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Delta Lake, Databricks và mối quan hệ với Spark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39</a:t>
            </a:r>
          </a:p>
        </p:txBody>
      </p:sp>
      <p:pic>
        <p:nvPicPr>
          <p:cNvPr id="8" name="Picture 7" descr="body-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186" y="969264"/>
            <a:ext cx="9083683" cy="5605272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75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Từ Data Lake đến Lakehouse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8755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0F3F6F"/>
                </a:solidFill>
                <a:latin typeface="Aptos"/>
              </a:rPr>
              <a:t>Đề cương yêu cầu nhận biết Delta Lake và Databricks như các nền tảng hiện đại trong hệ sinh thái Big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74519"/>
            <a:ext cx="2148840" cy="2651760"/>
          </a:xfrm>
          <a:prstGeom prst="roundRect">
            <a:avLst/>
          </a:prstGeom>
          <a:solidFill>
            <a:srgbClr val="E7EEF5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039112"/>
            <a:ext cx="19293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3F6F"/>
                </a:solidFill>
                <a:latin typeface="Aptos Narrow"/>
              </a:rPr>
              <a:t>Data Lake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468879"/>
            <a:ext cx="1929384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20">
                <a:solidFill>
                  <a:srgbClr val="435266"/>
                </a:solidFill>
                <a:latin typeface="Aptos"/>
              </a:rPr>
              <a:t>• Lưu dữ liệu thô đa dạng</a:t>
            </a:r>
          </a:p>
          <a:p>
            <a:r>
              <a:rPr sz="1420">
                <a:solidFill>
                  <a:srgbClr val="435266"/>
                </a:solidFill>
                <a:latin typeface="Aptos"/>
              </a:rPr>
              <a:t>• Chi phí thấp</a:t>
            </a:r>
          </a:p>
          <a:p>
            <a:r>
              <a:rPr sz="1420">
                <a:solidFill>
                  <a:srgbClr val="435266"/>
                </a:solidFill>
                <a:latin typeface="Aptos"/>
              </a:rPr>
              <a:t>• Linh hoạt cho ML / dữ liệu lớn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0" y="3200400"/>
            <a:ext cx="502920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337560" y="1874519"/>
            <a:ext cx="2148840" cy="2651760"/>
          </a:xfrm>
          <a:prstGeom prst="roundRect">
            <a:avLst/>
          </a:prstGeom>
          <a:solidFill>
            <a:srgbClr val="E9F3D6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7288" y="2039112"/>
            <a:ext cx="19293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3F6F"/>
                </a:solidFill>
                <a:latin typeface="Aptos Narrow"/>
              </a:rPr>
              <a:t>Vấn đề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2468879"/>
            <a:ext cx="1929384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20">
                <a:solidFill>
                  <a:srgbClr val="435266"/>
                </a:solidFill>
                <a:latin typeface="Aptos"/>
              </a:rPr>
              <a:t>• Khó quản trị schema</a:t>
            </a:r>
          </a:p>
          <a:p>
            <a:r>
              <a:rPr sz="1420">
                <a:solidFill>
                  <a:srgbClr val="435266"/>
                </a:solidFill>
                <a:latin typeface="Aptos"/>
              </a:rPr>
              <a:t>• Dễ thành data swamp</a:t>
            </a:r>
          </a:p>
          <a:p>
            <a:r>
              <a:rPr sz="1420">
                <a:solidFill>
                  <a:srgbClr val="435266"/>
                </a:solidFill>
                <a:latin typeface="Aptos"/>
              </a:rPr>
              <a:t>• BI cần dữ liệu tin cậy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0" y="3200400"/>
            <a:ext cx="502920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080760" y="1874519"/>
            <a:ext cx="2148840" cy="2651760"/>
          </a:xfrm>
          <a:prstGeom prst="roundRect">
            <a:avLst/>
          </a:prstGeom>
          <a:solidFill>
            <a:srgbClr val="F0F4F7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0488" y="2039112"/>
            <a:ext cx="19293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3F6F"/>
                </a:solidFill>
                <a:latin typeface="Aptos Narrow"/>
              </a:rPr>
              <a:t>Delta Lake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0488" y="2468879"/>
            <a:ext cx="1929384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20">
                <a:solidFill>
                  <a:srgbClr val="435266"/>
                </a:solidFill>
                <a:latin typeface="Aptos"/>
              </a:rPr>
              <a:t>• Bổ sung transaction / versioning</a:t>
            </a:r>
          </a:p>
          <a:p>
            <a:r>
              <a:rPr sz="1420">
                <a:solidFill>
                  <a:srgbClr val="435266"/>
                </a:solidFill>
                <a:latin typeface="Aptos"/>
              </a:rPr>
              <a:t>• Quản trị dữ liệu tốt hơn</a:t>
            </a:r>
          </a:p>
          <a:p>
            <a:r>
              <a:rPr sz="1420">
                <a:solidFill>
                  <a:srgbClr val="435266"/>
                </a:solidFill>
                <a:latin typeface="Aptos"/>
              </a:rPr>
              <a:t>• Hỗ trợ dữ liệu batch + stream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29600" y="3200400"/>
            <a:ext cx="502920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823960" y="1874519"/>
            <a:ext cx="2148840" cy="2651760"/>
          </a:xfrm>
          <a:prstGeom prst="roundRect">
            <a:avLst/>
          </a:prstGeom>
          <a:solidFill>
            <a:srgbClr val="E7EEF5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33688" y="2039112"/>
            <a:ext cx="19293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3F6F"/>
                </a:solidFill>
                <a:latin typeface="Aptos Narrow"/>
              </a:rPr>
              <a:t>Lakehouse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3688" y="2468879"/>
            <a:ext cx="1929384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20">
                <a:solidFill>
                  <a:srgbClr val="435266"/>
                </a:solidFill>
                <a:latin typeface="Aptos"/>
              </a:rPr>
              <a:t>• Kết hợp Lake + Warehouse</a:t>
            </a:r>
          </a:p>
          <a:p>
            <a:r>
              <a:rPr sz="1420">
                <a:solidFill>
                  <a:srgbClr val="435266"/>
                </a:solidFill>
                <a:latin typeface="Aptos"/>
              </a:rPr>
              <a:t>• Một nền tảng cho BI + ML</a:t>
            </a:r>
          </a:p>
          <a:p>
            <a:r>
              <a:rPr sz="1420">
                <a:solidFill>
                  <a:srgbClr val="435266"/>
                </a:solidFill>
                <a:latin typeface="Aptos"/>
              </a:rPr>
              <a:t>• Đơn giản hóa kiến trúc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75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Databricks trong bức tranh Big Data hiện đại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98755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0F3F6F"/>
                </a:solidFill>
                <a:latin typeface="Aptos"/>
              </a:rPr>
              <a:t>Ở Bài 2 chỉ giới thiệu vị trí của Databricks; phần thao tác Spark/PySpark được học ở các bài sau.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3154680" cy="4343400"/>
          </a:xfrm>
          <a:prstGeom prst="roundRect">
            <a:avLst/>
          </a:prstGeom>
          <a:solidFill>
            <a:srgbClr val="E7EEF5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91640"/>
            <a:ext cx="2880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50" b="1">
                <a:solidFill>
                  <a:srgbClr val="0F3F6F"/>
                </a:solidFill>
                <a:latin typeface="Aptos Narrow"/>
              </a:rPr>
              <a:t>Workspace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148840"/>
            <a:ext cx="27889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Notebook cộng tác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Python / SQL / Scala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Phù hợp đào tạo và phân tích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50791" y="1508760"/>
            <a:ext cx="3154680" cy="4343400"/>
          </a:xfrm>
          <a:prstGeom prst="roundRect">
            <a:avLst/>
          </a:prstGeom>
          <a:solidFill>
            <a:srgbClr val="E9F3D6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7952" y="1691640"/>
            <a:ext cx="2880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50" b="1">
                <a:solidFill>
                  <a:srgbClr val="0F3F6F"/>
                </a:solidFill>
                <a:latin typeface="Aptos Narrow"/>
              </a:rPr>
              <a:t>Compute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15383" y="2148840"/>
            <a:ext cx="27889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Cluster phục vụ Spark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Chạy job phân tán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Tách compute khỏi dữ liệu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52944" y="1508760"/>
            <a:ext cx="3154680" cy="4343400"/>
          </a:xfrm>
          <a:prstGeom prst="roundRect">
            <a:avLst/>
          </a:prstGeom>
          <a:solidFill>
            <a:srgbClr val="F0F4F7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0104" y="1691640"/>
            <a:ext cx="2880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50" b="1">
                <a:solidFill>
                  <a:srgbClr val="0F3F6F"/>
                </a:solidFill>
                <a:latin typeface="Aptos Narrow"/>
              </a:rPr>
              <a:t>Lakehouse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7536" y="2148840"/>
            <a:ext cx="27889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Kết hợp Spark + Delta Lake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Hỗ trợ ETL, BI, ML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Quản trị dữ liệu tập trung hơn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389888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85B518"/>
                </a:solidFill>
                <a:latin typeface="Aptos Narrow"/>
              </a:rPr>
              <a:t>PHẦN 2.9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11680"/>
            <a:ext cx="103327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700" b="1">
                <a:solidFill>
                  <a:srgbClr val="0F3F6F"/>
                </a:solidFill>
                <a:latin typeface="Aptos Narrow"/>
              </a:rPr>
              <a:t>Bức tranh tổng thể hệ sinh thái Big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64992"/>
            <a:ext cx="10012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35266"/>
                </a:solidFill>
                <a:latin typeface="Aptos"/>
              </a:rPr>
              <a:t>Kiến trúc tổng kết toàn bộ luồng dữ liệu từ nguồn đến trực quan hóa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74336"/>
            <a:ext cx="5212080" cy="5029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74336"/>
            <a:ext cx="1143000" cy="50292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75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Kiến trúc tổng kết hệ sinh thái Big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43</a:t>
            </a:r>
          </a:p>
        </p:txBody>
      </p:sp>
      <p:pic>
        <p:nvPicPr>
          <p:cNvPr id="8" name="Picture 7" descr="body-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186" y="969264"/>
            <a:ext cx="9083683" cy="5605272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75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Từ nguồn dữ liệu đến công cụ người dùng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8755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0F3F6F"/>
                </a:solidFill>
                <a:latin typeface="Aptos"/>
              </a:rPr>
              <a:t>Đây là cầu nối trực tiếp giữa Bài 2 (môi trường &amp; lưu trữ) và Bài 3 (xử lý, truy vấn, phân tích, trực quan hóa).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74519"/>
            <a:ext cx="2148840" cy="2651760"/>
          </a:xfrm>
          <a:prstGeom prst="roundRect">
            <a:avLst/>
          </a:prstGeom>
          <a:solidFill>
            <a:srgbClr val="E7EEF5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039112"/>
            <a:ext cx="19293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3F6F"/>
                </a:solidFill>
                <a:latin typeface="Aptos Narrow"/>
              </a:rPr>
              <a:t>Data 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468879"/>
            <a:ext cx="1929384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20">
                <a:solidFill>
                  <a:srgbClr val="435266"/>
                </a:solidFill>
                <a:latin typeface="Aptos"/>
              </a:rPr>
              <a:t>• IoT / app / ERP</a:t>
            </a:r>
          </a:p>
          <a:p>
            <a:r>
              <a:rPr sz="1420">
                <a:solidFill>
                  <a:srgbClr val="435266"/>
                </a:solidFill>
                <a:latin typeface="Aptos"/>
              </a:rPr>
              <a:t>• CSV / API / database</a:t>
            </a:r>
          </a:p>
          <a:p>
            <a:r>
              <a:rPr sz="1420">
                <a:solidFill>
                  <a:srgbClr val="435266"/>
                </a:solidFill>
                <a:latin typeface="Aptos"/>
              </a:rPr>
              <a:t>• Log / image / transaction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0" y="3200400"/>
            <a:ext cx="502920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337560" y="1874519"/>
            <a:ext cx="2148840" cy="2651760"/>
          </a:xfrm>
          <a:prstGeom prst="roundRect">
            <a:avLst/>
          </a:prstGeom>
          <a:solidFill>
            <a:srgbClr val="E9F3D6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7288" y="2039112"/>
            <a:ext cx="19293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3F6F"/>
                </a:solidFill>
                <a:latin typeface="Aptos Narrow"/>
              </a:rPr>
              <a:t>Storage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2468879"/>
            <a:ext cx="1929384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20">
                <a:solidFill>
                  <a:srgbClr val="435266"/>
                </a:solidFill>
                <a:latin typeface="Aptos"/>
              </a:rPr>
              <a:t>• HDFS</a:t>
            </a:r>
          </a:p>
          <a:p>
            <a:r>
              <a:rPr sz="1420">
                <a:solidFill>
                  <a:srgbClr val="435266"/>
                </a:solidFill>
                <a:latin typeface="Aptos"/>
              </a:rPr>
              <a:t>• NoSQL</a:t>
            </a:r>
          </a:p>
          <a:p>
            <a:r>
              <a:rPr sz="1420">
                <a:solidFill>
                  <a:srgbClr val="435266"/>
                </a:solidFill>
                <a:latin typeface="Aptos"/>
              </a:rPr>
              <a:t>• Data Lake / Delta Lake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0" y="3200400"/>
            <a:ext cx="502920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080760" y="1874519"/>
            <a:ext cx="2148840" cy="2651760"/>
          </a:xfrm>
          <a:prstGeom prst="roundRect">
            <a:avLst/>
          </a:prstGeom>
          <a:solidFill>
            <a:srgbClr val="F0F4F7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0488" y="2039112"/>
            <a:ext cx="19293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3F6F"/>
                </a:solidFill>
                <a:latin typeface="Aptos Narrow"/>
              </a:rPr>
              <a:t>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0488" y="2468879"/>
            <a:ext cx="1929384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20">
                <a:solidFill>
                  <a:srgbClr val="435266"/>
                </a:solidFill>
                <a:latin typeface="Aptos"/>
              </a:rPr>
              <a:t>• Hadoop MapReduce</a:t>
            </a:r>
          </a:p>
          <a:p>
            <a:r>
              <a:rPr sz="1420">
                <a:solidFill>
                  <a:srgbClr val="435266"/>
                </a:solidFill>
                <a:latin typeface="Aptos"/>
              </a:rPr>
              <a:t>• Spark / PySpark</a:t>
            </a:r>
          </a:p>
          <a:p>
            <a:r>
              <a:rPr sz="1420">
                <a:solidFill>
                  <a:srgbClr val="435266"/>
                </a:solidFill>
                <a:latin typeface="Aptos"/>
              </a:rPr>
              <a:t>• Kafka / Flink cho streaming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29600" y="3200400"/>
            <a:ext cx="502920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823960" y="1874519"/>
            <a:ext cx="2148840" cy="2651760"/>
          </a:xfrm>
          <a:prstGeom prst="roundRect">
            <a:avLst/>
          </a:prstGeom>
          <a:solidFill>
            <a:srgbClr val="E7EEF5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33688" y="2039112"/>
            <a:ext cx="19293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3F6F"/>
                </a:solidFill>
                <a:latin typeface="Aptos Narrow"/>
              </a:rPr>
              <a:t>Consumption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3688" y="2468879"/>
            <a:ext cx="1929384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20">
                <a:solidFill>
                  <a:srgbClr val="435266"/>
                </a:solidFill>
                <a:latin typeface="Aptos"/>
              </a:rPr>
              <a:t>• SQL / Pandas</a:t>
            </a:r>
          </a:p>
          <a:p>
            <a:r>
              <a:rPr sz="1420">
                <a:solidFill>
                  <a:srgbClr val="435266"/>
                </a:solidFill>
                <a:latin typeface="Aptos"/>
              </a:rPr>
              <a:t>• Matplotlib / Seaborn</a:t>
            </a:r>
          </a:p>
          <a:p>
            <a:r>
              <a:rPr sz="1420">
                <a:solidFill>
                  <a:srgbClr val="435266"/>
                </a:solidFill>
                <a:latin typeface="Aptos"/>
              </a:rPr>
              <a:t>• Power BI / Tableau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75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Chọn công nghệ lưu trữ theo nhu cầu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8755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0F3F6F"/>
                </a:solidFill>
                <a:latin typeface="Aptos"/>
              </a:rPr>
              <a:t>Mục tiêu không phải học thuộc tên công nghệ, mà biết đặt đúng công nghệ vào đúng vai trò.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554480"/>
            <a:ext cx="2971800" cy="658368"/>
          </a:xfrm>
          <a:prstGeom prst="rect">
            <a:avLst/>
          </a:prstGeom>
          <a:solidFill>
            <a:srgbClr val="0F3F6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Nhu cầu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1554480"/>
            <a:ext cx="3429000" cy="658368"/>
          </a:xfrm>
          <a:prstGeom prst="rect">
            <a:avLst/>
          </a:prstGeom>
          <a:solidFill>
            <a:srgbClr val="0F3F6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Công nghệ phù hợp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0" y="1554480"/>
            <a:ext cx="3977639" cy="658368"/>
          </a:xfrm>
          <a:prstGeom prst="rect">
            <a:avLst/>
          </a:prstGeom>
          <a:solidFill>
            <a:srgbClr val="0F3F6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Lý do chính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212848"/>
            <a:ext cx="2971800" cy="658368"/>
          </a:xfrm>
          <a:prstGeom prst="rect">
            <a:avLst/>
          </a:prstGeom>
          <a:solidFill>
            <a:srgbClr val="E7EE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>
                <a:solidFill>
                  <a:srgbClr val="435266"/>
                </a:solidFill>
                <a:latin typeface="Aptos"/>
              </a:rPr>
              <a:t>File lớn, xử lý phân tán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2212848"/>
            <a:ext cx="3429000" cy="658368"/>
          </a:xfrm>
          <a:prstGeom prst="rect">
            <a:avLst/>
          </a:prstGeom>
          <a:solidFill>
            <a:srgbClr val="E7EE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>
                <a:solidFill>
                  <a:srgbClr val="435266"/>
                </a:solidFill>
                <a:latin typeface="Aptos"/>
              </a:rPr>
              <a:t>HDFS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212848"/>
            <a:ext cx="3977639" cy="658368"/>
          </a:xfrm>
          <a:prstGeom prst="rect">
            <a:avLst/>
          </a:prstGeom>
          <a:solidFill>
            <a:srgbClr val="E7EE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>
                <a:solidFill>
                  <a:srgbClr val="435266"/>
                </a:solidFill>
                <a:latin typeface="Aptos"/>
              </a:rPr>
              <a:t>Phù hợp batch, dữ liệu khối lượng lớn trên cluster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871215"/>
            <a:ext cx="2971800" cy="658368"/>
          </a:xfrm>
          <a:prstGeom prst="rect">
            <a:avLst/>
          </a:prstGeom>
          <a:solidFill>
            <a:srgbClr val="F0F4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>
                <a:solidFill>
                  <a:srgbClr val="435266"/>
                </a:solidFill>
                <a:latin typeface="Aptos"/>
              </a:rPr>
              <a:t>Dữ liệu JSON linh hoạt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2871215"/>
            <a:ext cx="3429000" cy="658368"/>
          </a:xfrm>
          <a:prstGeom prst="rect">
            <a:avLst/>
          </a:prstGeom>
          <a:solidFill>
            <a:srgbClr val="F0F4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>
                <a:solidFill>
                  <a:srgbClr val="435266"/>
                </a:solidFill>
                <a:latin typeface="Aptos"/>
              </a:rPr>
              <a:t>MongoDB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52360" y="2871215"/>
            <a:ext cx="3977639" cy="658368"/>
          </a:xfrm>
          <a:prstGeom prst="rect">
            <a:avLst/>
          </a:prstGeom>
          <a:solidFill>
            <a:srgbClr val="F0F4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>
                <a:solidFill>
                  <a:srgbClr val="435266"/>
                </a:solidFill>
                <a:latin typeface="Aptos"/>
              </a:rPr>
              <a:t>Dễ thay đổi schema và truy vấn document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529584"/>
            <a:ext cx="2971800" cy="658368"/>
          </a:xfrm>
          <a:prstGeom prst="rect">
            <a:avLst/>
          </a:prstGeom>
          <a:solidFill>
            <a:srgbClr val="E7EE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>
                <a:solidFill>
                  <a:srgbClr val="435266"/>
                </a:solidFill>
                <a:latin typeface="Aptos"/>
              </a:rPr>
              <a:t>Ghi cực lớn, phân tán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0" y="3529584"/>
            <a:ext cx="3429000" cy="658368"/>
          </a:xfrm>
          <a:prstGeom prst="rect">
            <a:avLst/>
          </a:prstGeom>
          <a:solidFill>
            <a:srgbClr val="E7EE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>
                <a:solidFill>
                  <a:srgbClr val="435266"/>
                </a:solidFill>
                <a:latin typeface="Aptos"/>
              </a:rPr>
              <a:t>Cassandra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52360" y="3529584"/>
            <a:ext cx="3977639" cy="658368"/>
          </a:xfrm>
          <a:prstGeom prst="rect">
            <a:avLst/>
          </a:prstGeom>
          <a:solidFill>
            <a:srgbClr val="E7EE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>
                <a:solidFill>
                  <a:srgbClr val="435266"/>
                </a:solidFill>
                <a:latin typeface="Aptos"/>
              </a:rPr>
              <a:t>Availability và scale-out tốt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187952"/>
            <a:ext cx="2971800" cy="658368"/>
          </a:xfrm>
          <a:prstGeom prst="rect">
            <a:avLst/>
          </a:prstGeom>
          <a:solidFill>
            <a:srgbClr val="F0F4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>
                <a:solidFill>
                  <a:srgbClr val="435266"/>
                </a:solidFill>
                <a:latin typeface="Aptos"/>
              </a:rPr>
              <a:t>Quan hệ phức tạp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0" y="4187952"/>
            <a:ext cx="3429000" cy="658368"/>
          </a:xfrm>
          <a:prstGeom prst="rect">
            <a:avLst/>
          </a:prstGeom>
          <a:solidFill>
            <a:srgbClr val="F0F4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>
                <a:solidFill>
                  <a:srgbClr val="435266"/>
                </a:solidFill>
                <a:latin typeface="Aptos"/>
              </a:rPr>
              <a:t>Neo4j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52360" y="4187952"/>
            <a:ext cx="3977639" cy="658368"/>
          </a:xfrm>
          <a:prstGeom prst="rect">
            <a:avLst/>
          </a:prstGeom>
          <a:solidFill>
            <a:srgbClr val="F0F4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>
                <a:solidFill>
                  <a:srgbClr val="435266"/>
                </a:solidFill>
                <a:latin typeface="Aptos"/>
              </a:rPr>
              <a:t>Tối ưu graph traversal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4846320"/>
            <a:ext cx="2971800" cy="658368"/>
          </a:xfrm>
          <a:prstGeom prst="rect">
            <a:avLst/>
          </a:prstGeom>
          <a:solidFill>
            <a:srgbClr val="E7EE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>
                <a:solidFill>
                  <a:srgbClr val="435266"/>
                </a:solidFill>
                <a:latin typeface="Aptos"/>
              </a:rPr>
              <a:t>Dữ liệu thô đa định dạng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0" y="4846320"/>
            <a:ext cx="3429000" cy="658368"/>
          </a:xfrm>
          <a:prstGeom prst="rect">
            <a:avLst/>
          </a:prstGeom>
          <a:solidFill>
            <a:srgbClr val="E7EE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>
                <a:solidFill>
                  <a:srgbClr val="435266"/>
                </a:solidFill>
                <a:latin typeface="Aptos"/>
              </a:rPr>
              <a:t>Data Lake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52360" y="4846320"/>
            <a:ext cx="3977639" cy="658368"/>
          </a:xfrm>
          <a:prstGeom prst="rect">
            <a:avLst/>
          </a:prstGeom>
          <a:solidFill>
            <a:srgbClr val="E7EE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>
                <a:solidFill>
                  <a:srgbClr val="435266"/>
                </a:solidFill>
                <a:latin typeface="Aptos"/>
              </a:rPr>
              <a:t>Lưu dữ liệu rẻ, linh hoạt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5504688"/>
            <a:ext cx="2971800" cy="658368"/>
          </a:xfrm>
          <a:prstGeom prst="rect">
            <a:avLst/>
          </a:prstGeom>
          <a:solidFill>
            <a:srgbClr val="F0F4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>
                <a:solidFill>
                  <a:srgbClr val="435266"/>
                </a:solidFill>
                <a:latin typeface="Aptos"/>
              </a:rPr>
              <a:t>BI + ML trên cùng nền tảng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0" y="5504688"/>
            <a:ext cx="3429000" cy="658368"/>
          </a:xfrm>
          <a:prstGeom prst="rect">
            <a:avLst/>
          </a:prstGeom>
          <a:solidFill>
            <a:srgbClr val="F0F4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>
                <a:solidFill>
                  <a:srgbClr val="435266"/>
                </a:solidFill>
                <a:latin typeface="Aptos"/>
              </a:rPr>
              <a:t>Lakehouse / Delta Lake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52360" y="5504688"/>
            <a:ext cx="3977639" cy="658368"/>
          </a:xfrm>
          <a:prstGeom prst="rect">
            <a:avLst/>
          </a:prstGeom>
          <a:solidFill>
            <a:srgbClr val="F0F4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>
                <a:solidFill>
                  <a:srgbClr val="435266"/>
                </a:solidFill>
                <a:latin typeface="Aptos"/>
              </a:rPr>
              <a:t>Kết hợp quản trị và tính linh hoạt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389888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85B518"/>
                </a:solidFill>
                <a:latin typeface="Aptos Narrow"/>
              </a:rPr>
              <a:t>PHẦN 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11680"/>
            <a:ext cx="103327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700" b="1">
                <a:solidFill>
                  <a:srgbClr val="0F3F6F"/>
                </a:solidFill>
                <a:latin typeface="Aptos Narrow"/>
              </a:rPr>
              <a:t>Thực hành Bài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64992"/>
            <a:ext cx="10012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35266"/>
                </a:solidFill>
                <a:latin typeface="Aptos"/>
              </a:rPr>
              <a:t>Thiết lập môi trường và làm quen với NumPy, Pandas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74336"/>
            <a:ext cx="5212080" cy="5029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74336"/>
            <a:ext cx="1143000" cy="50292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75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Thực hành 1 — Thiết lập môi trường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47</a:t>
            </a:r>
          </a:p>
        </p:txBody>
      </p:sp>
      <p:pic>
        <p:nvPicPr>
          <p:cNvPr id="8" name="Picture 7" descr="body-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186" y="969264"/>
            <a:ext cx="9083683" cy="5605272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75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Môi trường thực hành theo đề cương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987552"/>
            <a:ext cx="10698480" cy="502920"/>
          </a:xfrm>
          <a:prstGeom prst="roundRect">
            <a:avLst/>
          </a:prstGeom>
          <a:solidFill>
            <a:srgbClr val="E7EEF5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i="1">
                <a:solidFill>
                  <a:srgbClr val="0F3F6F"/>
                </a:solidFill>
                <a:latin typeface="Aptos"/>
              </a:rPr>
              <a:t>Phần này bám trực tiếp đề cương: cài môi trường Python + Jupyter và làm quen Pandas, NumPy.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91640"/>
            <a:ext cx="101955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435266"/>
                </a:solidFill>
                <a:latin typeface="Aptos"/>
              </a:rPr>
              <a:t>Python + Jupyter Notebook: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435266"/>
                </a:solidFill>
                <a:latin typeface="Aptos"/>
              </a:rPr>
              <a:t>Cài Python và Jupyter để chạy notebook phân tích dữ liệu.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435266"/>
                </a:solidFill>
                <a:latin typeface="Aptos"/>
              </a:rPr>
              <a:t>NumPy: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435266"/>
                </a:solidFill>
                <a:latin typeface="Aptos"/>
              </a:rPr>
              <a:t>Làm quen với array và các phép tính số học cơ bản.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435266"/>
                </a:solidFill>
                <a:latin typeface="Aptos"/>
              </a:rPr>
              <a:t>Pandas: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435266"/>
                </a:solidFill>
                <a:latin typeface="Aptos"/>
              </a:rPr>
              <a:t>Đọc dữ liệu bảng, kiểm tra DataFrame và thực hiện các thao tác cơ bản.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435266"/>
                </a:solidFill>
                <a:latin typeface="Aptos"/>
              </a:rPr>
              <a:t>Cầu nối sang Bài 3: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435266"/>
                </a:solidFill>
                <a:latin typeface="Aptos"/>
              </a:rPr>
              <a:t>SQL → Pandas → PySpark; NoSQL được giới thiệu ở mức khái niệm và truy vấn cơ bản trong các bài tiếp theo.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75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Thực hành 2 — NumPy &amp; Pandas cơ bản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49</a:t>
            </a:r>
          </a:p>
        </p:txBody>
      </p:sp>
      <p:pic>
        <p:nvPicPr>
          <p:cNvPr id="8" name="Picture 7" descr="body-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186" y="969264"/>
            <a:ext cx="9083683" cy="5605272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75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Pipeline thực hành tối thiểu của Bài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8755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0F3F6F"/>
                </a:solidFill>
                <a:latin typeface="Aptos"/>
              </a:rPr>
              <a:t>Mục tiêu của lab là đảm bảo mọi học viên có môi trường thống nhất trước khi đi vào Spark, SQL và trực quan hóa.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74519"/>
            <a:ext cx="2148840" cy="2651760"/>
          </a:xfrm>
          <a:prstGeom prst="roundRect">
            <a:avLst/>
          </a:prstGeom>
          <a:solidFill>
            <a:srgbClr val="E7EEF5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039112"/>
            <a:ext cx="19293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3F6F"/>
                </a:solidFill>
                <a:latin typeface="Aptos Narrow"/>
              </a:rPr>
              <a:t>1.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468879"/>
            <a:ext cx="1929384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20">
                <a:solidFill>
                  <a:srgbClr val="435266"/>
                </a:solidFill>
                <a:latin typeface="Aptos"/>
              </a:rPr>
              <a:t>• Python</a:t>
            </a:r>
          </a:p>
          <a:p>
            <a:r>
              <a:rPr sz="1420">
                <a:solidFill>
                  <a:srgbClr val="435266"/>
                </a:solidFill>
                <a:latin typeface="Aptos"/>
              </a:rPr>
              <a:t>• Jupyter Notebook</a:t>
            </a:r>
          </a:p>
          <a:p>
            <a:r>
              <a:rPr sz="1420">
                <a:solidFill>
                  <a:srgbClr val="435266"/>
                </a:solidFill>
                <a:latin typeface="Aptos"/>
              </a:rPr>
              <a:t>• Kiểm tra thư viện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0" y="3200400"/>
            <a:ext cx="502920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337560" y="1874519"/>
            <a:ext cx="2148840" cy="2651760"/>
          </a:xfrm>
          <a:prstGeom prst="roundRect">
            <a:avLst/>
          </a:prstGeom>
          <a:solidFill>
            <a:srgbClr val="E9F3D6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7288" y="2039112"/>
            <a:ext cx="19293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3F6F"/>
                </a:solidFill>
                <a:latin typeface="Aptos Narrow"/>
              </a:rPr>
              <a:t>2. 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2468879"/>
            <a:ext cx="1929384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20">
                <a:solidFill>
                  <a:srgbClr val="435266"/>
                </a:solidFill>
                <a:latin typeface="Aptos"/>
              </a:rPr>
              <a:t>• Đọc CSV</a:t>
            </a:r>
          </a:p>
          <a:p>
            <a:r>
              <a:rPr sz="1420">
                <a:solidFill>
                  <a:srgbClr val="435266"/>
                </a:solidFill>
                <a:latin typeface="Aptos"/>
              </a:rPr>
              <a:t>• Tạo NumPy array</a:t>
            </a:r>
          </a:p>
          <a:p>
            <a:r>
              <a:rPr sz="1420">
                <a:solidFill>
                  <a:srgbClr val="435266"/>
                </a:solidFill>
                <a:latin typeface="Aptos"/>
              </a:rPr>
              <a:t>• Tạo Pandas DataFrame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0" y="3200400"/>
            <a:ext cx="502920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080760" y="1874519"/>
            <a:ext cx="2148840" cy="2651760"/>
          </a:xfrm>
          <a:prstGeom prst="roundRect">
            <a:avLst/>
          </a:prstGeom>
          <a:solidFill>
            <a:srgbClr val="F0F4F7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0488" y="2039112"/>
            <a:ext cx="19293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3F6F"/>
                </a:solidFill>
                <a:latin typeface="Aptos Narrow"/>
              </a:rPr>
              <a:t>3. Inspect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0488" y="2468879"/>
            <a:ext cx="1929384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20">
                <a:solidFill>
                  <a:srgbClr val="435266"/>
                </a:solidFill>
                <a:latin typeface="Aptos"/>
              </a:rPr>
              <a:t>• head()</a:t>
            </a:r>
          </a:p>
          <a:p>
            <a:r>
              <a:rPr sz="1420">
                <a:solidFill>
                  <a:srgbClr val="435266"/>
                </a:solidFill>
                <a:latin typeface="Aptos"/>
              </a:rPr>
              <a:t>• shape / dtypes</a:t>
            </a:r>
          </a:p>
          <a:p>
            <a:r>
              <a:rPr sz="1420">
                <a:solidFill>
                  <a:srgbClr val="435266"/>
                </a:solidFill>
                <a:latin typeface="Aptos"/>
              </a:rPr>
              <a:t>• describe()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29600" y="3200400"/>
            <a:ext cx="502920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823960" y="1874519"/>
            <a:ext cx="2148840" cy="2651760"/>
          </a:xfrm>
          <a:prstGeom prst="roundRect">
            <a:avLst/>
          </a:prstGeom>
          <a:solidFill>
            <a:srgbClr val="E7EEF5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33688" y="2039112"/>
            <a:ext cx="19293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3F6F"/>
                </a:solidFill>
                <a:latin typeface="Aptos Narrow"/>
              </a:rPr>
              <a:t>4.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3688" y="2468879"/>
            <a:ext cx="1929384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20">
                <a:solidFill>
                  <a:srgbClr val="435266"/>
                </a:solidFill>
                <a:latin typeface="Aptos"/>
              </a:rPr>
              <a:t>• Notebook chạy được</a:t>
            </a:r>
          </a:p>
          <a:p>
            <a:r>
              <a:rPr sz="1420">
                <a:solidFill>
                  <a:srgbClr val="435266"/>
                </a:solidFill>
                <a:latin typeface="Aptos"/>
              </a:rPr>
              <a:t>• Hiểu cấu trúc dữ liệu</a:t>
            </a:r>
          </a:p>
          <a:p>
            <a:r>
              <a:rPr sz="1420">
                <a:solidFill>
                  <a:srgbClr val="435266"/>
                </a:solidFill>
                <a:latin typeface="Aptos"/>
              </a:rPr>
              <a:t>• Sẵn sàng cho Bài 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75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Tóm tắt bài học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51</a:t>
            </a:r>
          </a:p>
        </p:txBody>
      </p:sp>
      <p:pic>
        <p:nvPicPr>
          <p:cNvPr id="8" name="Picture 7" descr="body-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186" y="969264"/>
            <a:ext cx="9083683" cy="5605272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75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Câu hỏi kiểm tra nhanh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52</a:t>
            </a:r>
          </a:p>
        </p:txBody>
      </p:sp>
      <p:pic>
        <p:nvPicPr>
          <p:cNvPr id="8" name="Picture 7" descr="body-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186" y="969264"/>
            <a:ext cx="9083683" cy="5605272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2412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300" b="1">
                <a:solidFill>
                  <a:srgbClr val="0F3F6F"/>
                </a:solidFill>
                <a:latin typeface="Aptos Narrow"/>
              </a:rPr>
              <a:t>Cảm ơn đã theo dõi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99669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F3F6F"/>
                </a:solidFill>
                <a:latin typeface="Aptos"/>
              </a:rPr>
              <a:t>Bài tiếp theo:
Xử lý và phân tích dữ liệu nâng cao với Spark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77639"/>
            <a:ext cx="106527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435266"/>
                </a:solidFill>
                <a:latin typeface="Aptos"/>
              </a:rPr>
              <a:t>Tài liệu tham khảo: đường link tài liệu Hadoop/NoSQL sẽ được chia sẻ trên LMS
Liên hệ giảng viên/trợ giảng nếu cần hỗ trợ khi cài đặt môi trường
Chuẩn bị laptop đã cài Python, Jupyter Notebook cho buổi học tiếp theo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53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