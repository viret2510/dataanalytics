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4" d="100"/>
          <a:sy n="104" d="100"/>
        </p:scale>
        <p:origin x="284" y="7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413B191-8969-455C-B143-92B80B1BA38D}" type="datetimeFigureOut">
              <a:rPr lang="en-US" smtClean="0"/>
              <a:t>8/23/2026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391C3EF-F6FA-41AB-BC47-9DC0D9C9D744}" type="slidenum">
              <a:rPr lang="en-US" smtClean="0"/>
              <a:t>‹#›</a:t>
            </a:fld>
            <a:endParaRPr lang="en-US"/>
          </a:p>
        </p:txBody>
      </p:sp>
    </p:spTree>
    <p:extLst>
      <p:ext uri="{BB962C8B-B14F-4D97-AF65-F5344CB8AC3E}">
        <p14:creationId xmlns:p14="http://schemas.microsoft.com/office/powerpoint/2010/main" val="42044061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391C3EF-F6FA-41AB-BC47-9DC0D9C9D744}" type="slidenum">
              <a:rPr lang="en-US" smtClean="0"/>
              <a:t>1</a:t>
            </a:fld>
            <a:endParaRPr lang="en-US"/>
          </a:p>
        </p:txBody>
      </p:sp>
    </p:spTree>
    <p:extLst>
      <p:ext uri="{BB962C8B-B14F-4D97-AF65-F5344CB8AC3E}">
        <p14:creationId xmlns:p14="http://schemas.microsoft.com/office/powerpoint/2010/main" val="21968391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Parallelogram 1"/>
          <p:cNvSpPr/>
          <p:nvPr/>
        </p:nvSpPr>
        <p:spPr>
          <a:xfrm>
            <a:off x="-320040" y="-137160"/>
            <a:ext cx="3886200" cy="1024128"/>
          </a:xfrm>
          <a:prstGeom prst="parallelogram">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Parallelogram 2"/>
          <p:cNvSpPr/>
          <p:nvPr/>
        </p:nvSpPr>
        <p:spPr>
          <a:xfrm>
            <a:off x="8247888" y="5989320"/>
            <a:ext cx="4160520" cy="1024128"/>
          </a:xfrm>
          <a:prstGeom prst="parallelogram">
            <a:avLst/>
          </a:prstGeom>
          <a:solidFill>
            <a:srgbClr val="85B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985e423d-ca97-4670-a2c8-fc9a156df9ee.png"/>
          <p:cNvPicPr>
            <a:picLocks noChangeAspect="1"/>
          </p:cNvPicPr>
          <p:nvPr/>
        </p:nvPicPr>
        <p:blipFill>
          <a:blip r:embed="rId3"/>
          <a:stretch>
            <a:fillRect/>
          </a:stretch>
        </p:blipFill>
        <p:spPr>
          <a:xfrm>
            <a:off x="10302509" y="54864"/>
            <a:ext cx="1670033" cy="841248"/>
          </a:xfrm>
          <a:prstGeom prst="rect">
            <a:avLst/>
          </a:prstGeom>
        </p:spPr>
      </p:pic>
      <p:sp>
        <p:nvSpPr>
          <p:cNvPr id="5" name="TextBox 4"/>
          <p:cNvSpPr txBox="1"/>
          <p:nvPr/>
        </p:nvSpPr>
        <p:spPr>
          <a:xfrm>
            <a:off x="2425348" y="1642223"/>
            <a:ext cx="7341305" cy="1261884"/>
          </a:xfrm>
          <a:prstGeom prst="rect">
            <a:avLst/>
          </a:prstGeom>
          <a:noFill/>
        </p:spPr>
        <p:txBody>
          <a:bodyPr wrap="none">
            <a:spAutoFit/>
          </a:bodyPr>
          <a:lstStyle/>
          <a:p>
            <a:pPr algn="ctr"/>
            <a:r>
              <a:rPr lang="en-US" sz="3800" b="1" dirty="0" err="1">
                <a:solidFill>
                  <a:srgbClr val="0F3F6F"/>
                </a:solidFill>
                <a:latin typeface="Aptos Narrow"/>
              </a:rPr>
              <a:t>Bài</a:t>
            </a:r>
            <a:r>
              <a:rPr lang="en-US" sz="3800" b="1" dirty="0">
                <a:solidFill>
                  <a:srgbClr val="0F3F6F"/>
                </a:solidFill>
                <a:latin typeface="Aptos Narrow"/>
              </a:rPr>
              <a:t> 1:</a:t>
            </a:r>
          </a:p>
          <a:p>
            <a:pPr algn="ctr"/>
            <a:r>
              <a:rPr lang="en-US" sz="3800" b="1" dirty="0" err="1">
                <a:solidFill>
                  <a:srgbClr val="0F3F6F"/>
                </a:solidFill>
                <a:latin typeface="Aptos Narrow"/>
              </a:rPr>
              <a:t>Tổng</a:t>
            </a:r>
            <a:r>
              <a:rPr lang="en-US" sz="3800" b="1" dirty="0">
                <a:solidFill>
                  <a:srgbClr val="0F3F6F"/>
                </a:solidFill>
                <a:latin typeface="Aptos Narrow"/>
              </a:rPr>
              <a:t> </a:t>
            </a:r>
            <a:r>
              <a:rPr lang="en-US" sz="3800" b="1" dirty="0" err="1">
                <a:solidFill>
                  <a:srgbClr val="0F3F6F"/>
                </a:solidFill>
                <a:latin typeface="Aptos Narrow"/>
              </a:rPr>
              <a:t>quan</a:t>
            </a:r>
            <a:r>
              <a:rPr lang="en-US" sz="3800" b="1" dirty="0">
                <a:solidFill>
                  <a:srgbClr val="0F3F6F"/>
                </a:solidFill>
                <a:latin typeface="Aptos Narrow"/>
              </a:rPr>
              <a:t> </a:t>
            </a:r>
            <a:r>
              <a:rPr lang="en-US" sz="3800" b="1" dirty="0" err="1">
                <a:solidFill>
                  <a:srgbClr val="0F3F6F"/>
                </a:solidFill>
                <a:latin typeface="Aptos Narrow"/>
              </a:rPr>
              <a:t>và</a:t>
            </a:r>
            <a:r>
              <a:rPr lang="en-US" sz="3800" b="1" dirty="0">
                <a:solidFill>
                  <a:srgbClr val="0F3F6F"/>
                </a:solidFill>
                <a:latin typeface="Aptos Narrow"/>
              </a:rPr>
              <a:t> </a:t>
            </a:r>
            <a:r>
              <a:rPr lang="en-US" sz="3800" b="1" dirty="0" err="1">
                <a:solidFill>
                  <a:srgbClr val="0F3F6F"/>
                </a:solidFill>
                <a:latin typeface="Aptos Narrow"/>
              </a:rPr>
              <a:t>nền</a:t>
            </a:r>
            <a:r>
              <a:rPr lang="en-US" sz="3800" b="1" dirty="0">
                <a:solidFill>
                  <a:srgbClr val="0F3F6F"/>
                </a:solidFill>
                <a:latin typeface="Aptos Narrow"/>
              </a:rPr>
              <a:t> </a:t>
            </a:r>
            <a:r>
              <a:rPr lang="en-US" sz="3800" b="1" dirty="0" err="1">
                <a:solidFill>
                  <a:srgbClr val="0F3F6F"/>
                </a:solidFill>
                <a:latin typeface="Aptos Narrow"/>
              </a:rPr>
              <a:t>tảng</a:t>
            </a:r>
            <a:r>
              <a:rPr lang="en-US" sz="3800" b="1" dirty="0">
                <a:solidFill>
                  <a:srgbClr val="0F3F6F"/>
                </a:solidFill>
                <a:latin typeface="Aptos Narrow"/>
              </a:rPr>
              <a:t> </a:t>
            </a:r>
            <a:r>
              <a:rPr lang="en-US" sz="3800" b="1" dirty="0" err="1">
                <a:solidFill>
                  <a:srgbClr val="0F3F6F"/>
                </a:solidFill>
                <a:latin typeface="Aptos Narrow"/>
              </a:rPr>
              <a:t>của</a:t>
            </a:r>
            <a:r>
              <a:rPr lang="en-US" sz="3800" b="1" dirty="0">
                <a:solidFill>
                  <a:srgbClr val="0F3F6F"/>
                </a:solidFill>
                <a:latin typeface="Aptos Narrow"/>
              </a:rPr>
              <a:t> Big Data</a:t>
            </a:r>
            <a:endParaRPr sz="3800" b="1" dirty="0">
              <a:solidFill>
                <a:srgbClr val="0F3F6F"/>
              </a:solidFill>
              <a:latin typeface="Aptos Narrow"/>
            </a:endParaRPr>
          </a:p>
        </p:txBody>
      </p:sp>
      <p:sp>
        <p:nvSpPr>
          <p:cNvPr id="6" name="TextBox 5"/>
          <p:cNvSpPr txBox="1"/>
          <p:nvPr/>
        </p:nvSpPr>
        <p:spPr>
          <a:xfrm>
            <a:off x="658368" y="3337560"/>
            <a:ext cx="10927080" cy="2011680"/>
          </a:xfrm>
          <a:prstGeom prst="rect">
            <a:avLst/>
          </a:prstGeom>
          <a:noFill/>
        </p:spPr>
        <p:txBody>
          <a:bodyPr wrap="none">
            <a:spAutoFit/>
          </a:bodyPr>
          <a:lstStyle/>
          <a:p>
            <a:pPr algn="ctr"/>
            <a:r>
              <a:rPr sz="1400">
                <a:solidFill>
                  <a:srgbClr val="435266"/>
                </a:solidFill>
                <a:latin typeface="Aptos"/>
              </a:rPr>
              <a:t>1.1 Khái niệm Big Data  •  1.2 Đặc trưng Big Data  •  1.3 Kiến trúc hệ thống Big Data
1.4 Ứng dụng trong công nghiệp  •  1.5 Thực hành &amp; thảo luận  •  1.6 Minh họa hệ thống thực tế
Bổ sung mở rộng: Big Data vs dữ liệu truyền thống, 5V theo ví dụ công nghiệp, các lớp kiến trúc,
Data Lakehouse, ứng dụng theo chuỗi giá trị, mini quiz và tình huống nhóm</a:t>
            </a:r>
          </a:p>
        </p:txBody>
      </p:sp>
      <p:sp>
        <p:nvSpPr>
          <p:cNvPr id="7" name="TextBox 6"/>
          <p:cNvSpPr txBox="1"/>
          <p:nvPr/>
        </p:nvSpPr>
        <p:spPr>
          <a:xfrm>
            <a:off x="713232" y="6217920"/>
            <a:ext cx="2011680" cy="256032"/>
          </a:xfrm>
          <a:prstGeom prst="rect">
            <a:avLst/>
          </a:prstGeom>
          <a:noFill/>
        </p:spPr>
        <p:txBody>
          <a:bodyPr wrap="none">
            <a:spAutoFit/>
          </a:bodyPr>
          <a:lstStyle/>
          <a:p>
            <a:r>
              <a:rPr sz="1600" b="1">
                <a:solidFill>
                  <a:srgbClr val="FFFFFF"/>
                </a:solidFill>
                <a:latin typeface="Aptos Narrow"/>
              </a:rPr>
              <a:t>Bài 1</a:t>
            </a:r>
          </a:p>
        </p:txBody>
      </p:sp>
      <p:sp>
        <p:nvSpPr>
          <p:cNvPr id="8" name="TextBox 7"/>
          <p:cNvSpPr txBox="1"/>
          <p:nvPr/>
        </p:nvSpPr>
        <p:spPr>
          <a:xfrm>
            <a:off x="11475720" y="6492240"/>
            <a:ext cx="384048" cy="182880"/>
          </a:xfrm>
          <a:prstGeom prst="rect">
            <a:avLst/>
          </a:prstGeom>
          <a:noFill/>
        </p:spPr>
        <p:txBody>
          <a:bodyPr wrap="none">
            <a:spAutoFit/>
          </a:bodyPr>
          <a:lstStyle/>
          <a:p>
            <a:pPr algn="r"/>
            <a:r>
              <a:rPr sz="800">
                <a:solidFill>
                  <a:srgbClr val="5F5F5F"/>
                </a:solidFill>
                <a:latin typeface="Aptos"/>
              </a:rPr>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210312"/>
          </a:xfrm>
          <a:prstGeom prst="rect">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Parallelogram 2"/>
          <p:cNvSpPr/>
          <p:nvPr/>
        </p:nvSpPr>
        <p:spPr>
          <a:xfrm>
            <a:off x="8339327" y="0"/>
            <a:ext cx="640080" cy="210312"/>
          </a:xfrm>
          <a:prstGeom prst="parallelogram">
            <a:avLst/>
          </a:prstGeom>
          <a:solidFill>
            <a:srgbClr val="8497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Parallelogram 3"/>
          <p:cNvSpPr/>
          <p:nvPr/>
        </p:nvSpPr>
        <p:spPr>
          <a:xfrm>
            <a:off x="8732520" y="0"/>
            <a:ext cx="969264" cy="1005840"/>
          </a:xfrm>
          <a:prstGeom prst="parallelogram">
            <a:avLst/>
          </a:prstGeom>
          <a:solidFill>
            <a:srgbClr val="85B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Parallelogram 4"/>
          <p:cNvSpPr/>
          <p:nvPr/>
        </p:nvSpPr>
        <p:spPr>
          <a:xfrm>
            <a:off x="9747504" y="0"/>
            <a:ext cx="1005840" cy="1005840"/>
          </a:xfrm>
          <a:prstGeom prst="parallelogram">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30352" y="347472"/>
            <a:ext cx="8321040" cy="512064"/>
          </a:xfrm>
          <a:prstGeom prst="rect">
            <a:avLst/>
          </a:prstGeom>
          <a:noFill/>
        </p:spPr>
        <p:txBody>
          <a:bodyPr wrap="none">
            <a:spAutoFit/>
          </a:bodyPr>
          <a:lstStyle/>
          <a:p>
            <a:r>
              <a:rPr sz="2700" b="1">
                <a:solidFill>
                  <a:srgbClr val="0F3F6F"/>
                </a:solidFill>
                <a:latin typeface="Aptos Narrow"/>
              </a:rPr>
              <a:t>Chương trình buổi học (4 giờ)</a:t>
            </a:r>
          </a:p>
        </p:txBody>
      </p:sp>
      <p:sp>
        <p:nvSpPr>
          <p:cNvPr id="7" name="TextBox 6"/>
          <p:cNvSpPr txBox="1"/>
          <p:nvPr/>
        </p:nvSpPr>
        <p:spPr>
          <a:xfrm>
            <a:off x="11475720" y="6492240"/>
            <a:ext cx="384048" cy="182880"/>
          </a:xfrm>
          <a:prstGeom prst="rect">
            <a:avLst/>
          </a:prstGeom>
          <a:noFill/>
        </p:spPr>
        <p:txBody>
          <a:bodyPr wrap="none">
            <a:spAutoFit/>
          </a:bodyPr>
          <a:lstStyle/>
          <a:p>
            <a:pPr algn="r"/>
            <a:r>
              <a:rPr sz="800">
                <a:solidFill>
                  <a:srgbClr val="5F5F5F"/>
                </a:solidFill>
                <a:latin typeface="Aptos"/>
              </a:rPr>
              <a:t>2</a:t>
            </a:r>
          </a:p>
        </p:txBody>
      </p:sp>
      <p:pic>
        <p:nvPicPr>
          <p:cNvPr id="8" name="Picture 7" descr="body-2.png"/>
          <p:cNvPicPr>
            <a:picLocks noChangeAspect="1"/>
          </p:cNvPicPr>
          <p:nvPr/>
        </p:nvPicPr>
        <p:blipFill>
          <a:blip r:embed="rId2"/>
          <a:stretch>
            <a:fillRect/>
          </a:stretch>
        </p:blipFill>
        <p:spPr>
          <a:xfrm>
            <a:off x="1397186" y="969264"/>
            <a:ext cx="9083683" cy="560527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210312"/>
          </a:xfrm>
          <a:prstGeom prst="rect">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Parallelogram 2"/>
          <p:cNvSpPr/>
          <p:nvPr/>
        </p:nvSpPr>
        <p:spPr>
          <a:xfrm>
            <a:off x="8339327" y="0"/>
            <a:ext cx="640080" cy="210312"/>
          </a:xfrm>
          <a:prstGeom prst="parallelogram">
            <a:avLst/>
          </a:prstGeom>
          <a:solidFill>
            <a:srgbClr val="8497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Parallelogram 3"/>
          <p:cNvSpPr/>
          <p:nvPr/>
        </p:nvSpPr>
        <p:spPr>
          <a:xfrm>
            <a:off x="8732520" y="0"/>
            <a:ext cx="969264" cy="1005840"/>
          </a:xfrm>
          <a:prstGeom prst="parallelogram">
            <a:avLst/>
          </a:prstGeom>
          <a:solidFill>
            <a:srgbClr val="85B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Parallelogram 4"/>
          <p:cNvSpPr/>
          <p:nvPr/>
        </p:nvSpPr>
        <p:spPr>
          <a:xfrm>
            <a:off x="9747504" y="0"/>
            <a:ext cx="1005840" cy="1005840"/>
          </a:xfrm>
          <a:prstGeom prst="parallelogram">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30352" y="347472"/>
            <a:ext cx="8321040" cy="512064"/>
          </a:xfrm>
          <a:prstGeom prst="rect">
            <a:avLst/>
          </a:prstGeom>
          <a:noFill/>
        </p:spPr>
        <p:txBody>
          <a:bodyPr wrap="none">
            <a:spAutoFit/>
          </a:bodyPr>
          <a:lstStyle/>
          <a:p>
            <a:r>
              <a:rPr sz="2700" b="1">
                <a:solidFill>
                  <a:srgbClr val="0F3F6F"/>
                </a:solidFill>
                <a:latin typeface="Aptos Narrow"/>
              </a:rPr>
              <a:t>Mục tiêu học tập</a:t>
            </a:r>
          </a:p>
        </p:txBody>
      </p:sp>
      <p:sp>
        <p:nvSpPr>
          <p:cNvPr id="7" name="TextBox 6"/>
          <p:cNvSpPr txBox="1"/>
          <p:nvPr/>
        </p:nvSpPr>
        <p:spPr>
          <a:xfrm>
            <a:off x="11475720" y="6492240"/>
            <a:ext cx="384048" cy="182880"/>
          </a:xfrm>
          <a:prstGeom prst="rect">
            <a:avLst/>
          </a:prstGeom>
          <a:noFill/>
        </p:spPr>
        <p:txBody>
          <a:bodyPr wrap="none">
            <a:spAutoFit/>
          </a:bodyPr>
          <a:lstStyle/>
          <a:p>
            <a:pPr algn="r"/>
            <a:r>
              <a:rPr sz="800">
                <a:solidFill>
                  <a:srgbClr val="5F5F5F"/>
                </a:solidFill>
                <a:latin typeface="Aptos"/>
              </a:rPr>
              <a:t>3</a:t>
            </a:r>
          </a:p>
        </p:txBody>
      </p:sp>
      <p:pic>
        <p:nvPicPr>
          <p:cNvPr id="8" name="Picture 7" descr="body-3.png"/>
          <p:cNvPicPr>
            <a:picLocks noChangeAspect="1"/>
          </p:cNvPicPr>
          <p:nvPr/>
        </p:nvPicPr>
        <p:blipFill>
          <a:blip r:embed="rId2"/>
          <a:stretch>
            <a:fillRect/>
          </a:stretch>
        </p:blipFill>
        <p:spPr>
          <a:xfrm>
            <a:off x="1397186" y="969264"/>
            <a:ext cx="9083683" cy="560527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210312"/>
          </a:xfrm>
          <a:prstGeom prst="rect">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Parallelogram 2"/>
          <p:cNvSpPr/>
          <p:nvPr/>
        </p:nvSpPr>
        <p:spPr>
          <a:xfrm>
            <a:off x="8339327" y="0"/>
            <a:ext cx="640080" cy="210312"/>
          </a:xfrm>
          <a:prstGeom prst="parallelogram">
            <a:avLst/>
          </a:prstGeom>
          <a:solidFill>
            <a:srgbClr val="8497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Parallelogram 3"/>
          <p:cNvSpPr/>
          <p:nvPr/>
        </p:nvSpPr>
        <p:spPr>
          <a:xfrm>
            <a:off x="8732520" y="0"/>
            <a:ext cx="969264" cy="1005840"/>
          </a:xfrm>
          <a:prstGeom prst="parallelogram">
            <a:avLst/>
          </a:prstGeom>
          <a:solidFill>
            <a:srgbClr val="85B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Parallelogram 4"/>
          <p:cNvSpPr/>
          <p:nvPr/>
        </p:nvSpPr>
        <p:spPr>
          <a:xfrm>
            <a:off x="9747504" y="0"/>
            <a:ext cx="1005840" cy="1005840"/>
          </a:xfrm>
          <a:prstGeom prst="parallelogram">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30352" y="347472"/>
            <a:ext cx="8321040" cy="512064"/>
          </a:xfrm>
          <a:prstGeom prst="rect">
            <a:avLst/>
          </a:prstGeom>
          <a:noFill/>
        </p:spPr>
        <p:txBody>
          <a:bodyPr wrap="none">
            <a:spAutoFit/>
          </a:bodyPr>
          <a:lstStyle/>
          <a:p>
            <a:r>
              <a:rPr sz="2700" b="1">
                <a:solidFill>
                  <a:srgbClr val="0F3F6F"/>
                </a:solidFill>
                <a:latin typeface="Aptos Narrow"/>
              </a:rPr>
              <a:t>Lộ trình khóa học Big Data</a:t>
            </a:r>
          </a:p>
        </p:txBody>
      </p:sp>
      <p:sp>
        <p:nvSpPr>
          <p:cNvPr id="7" name="TextBox 6"/>
          <p:cNvSpPr txBox="1"/>
          <p:nvPr/>
        </p:nvSpPr>
        <p:spPr>
          <a:xfrm>
            <a:off x="11475720" y="6492240"/>
            <a:ext cx="384048" cy="182880"/>
          </a:xfrm>
          <a:prstGeom prst="rect">
            <a:avLst/>
          </a:prstGeom>
          <a:noFill/>
        </p:spPr>
        <p:txBody>
          <a:bodyPr wrap="none">
            <a:spAutoFit/>
          </a:bodyPr>
          <a:lstStyle/>
          <a:p>
            <a:pPr algn="r"/>
            <a:r>
              <a:rPr sz="800">
                <a:solidFill>
                  <a:srgbClr val="5F5F5F"/>
                </a:solidFill>
                <a:latin typeface="Aptos"/>
              </a:rPr>
              <a:t>4</a:t>
            </a:r>
          </a:p>
        </p:txBody>
      </p:sp>
      <p:pic>
        <p:nvPicPr>
          <p:cNvPr id="8" name="Picture 7" descr="body-4.png"/>
          <p:cNvPicPr>
            <a:picLocks noChangeAspect="1"/>
          </p:cNvPicPr>
          <p:nvPr/>
        </p:nvPicPr>
        <p:blipFill>
          <a:blip r:embed="rId2"/>
          <a:stretch>
            <a:fillRect/>
          </a:stretch>
        </p:blipFill>
        <p:spPr>
          <a:xfrm>
            <a:off x="1397186" y="969264"/>
            <a:ext cx="9083683" cy="560527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210312"/>
          </a:xfrm>
          <a:prstGeom prst="rect">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Parallelogram 2"/>
          <p:cNvSpPr/>
          <p:nvPr/>
        </p:nvSpPr>
        <p:spPr>
          <a:xfrm>
            <a:off x="8339327" y="0"/>
            <a:ext cx="640080" cy="210312"/>
          </a:xfrm>
          <a:prstGeom prst="parallelogram">
            <a:avLst/>
          </a:prstGeom>
          <a:solidFill>
            <a:srgbClr val="8497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Parallelogram 3"/>
          <p:cNvSpPr/>
          <p:nvPr/>
        </p:nvSpPr>
        <p:spPr>
          <a:xfrm>
            <a:off x="8732520" y="0"/>
            <a:ext cx="969264" cy="1005840"/>
          </a:xfrm>
          <a:prstGeom prst="parallelogram">
            <a:avLst/>
          </a:prstGeom>
          <a:solidFill>
            <a:srgbClr val="85B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Parallelogram 4"/>
          <p:cNvSpPr/>
          <p:nvPr/>
        </p:nvSpPr>
        <p:spPr>
          <a:xfrm>
            <a:off x="9747504" y="0"/>
            <a:ext cx="1005840" cy="1005840"/>
          </a:xfrm>
          <a:prstGeom prst="parallelogram">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8368" y="1389888"/>
            <a:ext cx="2743200" cy="411480"/>
          </a:xfrm>
          <a:prstGeom prst="rect">
            <a:avLst/>
          </a:prstGeom>
          <a:noFill/>
        </p:spPr>
        <p:txBody>
          <a:bodyPr wrap="none">
            <a:spAutoFit/>
          </a:bodyPr>
          <a:lstStyle/>
          <a:p>
            <a:r>
              <a:rPr sz="2200" b="1">
                <a:solidFill>
                  <a:srgbClr val="85B518"/>
                </a:solidFill>
                <a:latin typeface="Aptos Narrow"/>
              </a:rPr>
              <a:t>PHẦN 1.1</a:t>
            </a:r>
          </a:p>
        </p:txBody>
      </p:sp>
      <p:sp>
        <p:nvSpPr>
          <p:cNvPr id="7" name="TextBox 6"/>
          <p:cNvSpPr txBox="1"/>
          <p:nvPr/>
        </p:nvSpPr>
        <p:spPr>
          <a:xfrm>
            <a:off x="658368" y="2011680"/>
            <a:ext cx="10241280" cy="1325880"/>
          </a:xfrm>
          <a:prstGeom prst="rect">
            <a:avLst/>
          </a:prstGeom>
          <a:noFill/>
        </p:spPr>
        <p:txBody>
          <a:bodyPr wrap="none">
            <a:spAutoFit/>
          </a:bodyPr>
          <a:lstStyle/>
          <a:p>
            <a:r>
              <a:rPr sz="3700" b="1">
                <a:solidFill>
                  <a:srgbClr val="0F3F6F"/>
                </a:solidFill>
                <a:latin typeface="Aptos Narrow"/>
              </a:rPr>
              <a:t>Khái niệm Big Data</a:t>
            </a:r>
          </a:p>
        </p:txBody>
      </p:sp>
      <p:sp>
        <p:nvSpPr>
          <p:cNvPr id="8" name="TextBox 7"/>
          <p:cNvSpPr txBox="1"/>
          <p:nvPr/>
        </p:nvSpPr>
        <p:spPr>
          <a:xfrm>
            <a:off x="685800" y="3364992"/>
            <a:ext cx="10012680" cy="914400"/>
          </a:xfrm>
          <a:prstGeom prst="rect">
            <a:avLst/>
          </a:prstGeom>
          <a:noFill/>
        </p:spPr>
        <p:txBody>
          <a:bodyPr wrap="none">
            <a:spAutoFit/>
          </a:bodyPr>
          <a:lstStyle/>
          <a:p>
            <a:r>
              <a:rPr sz="1800">
                <a:solidFill>
                  <a:srgbClr val="435266"/>
                </a:solidFill>
                <a:latin typeface="Aptos"/>
              </a:rPr>
              <a:t>Định nghĩa, so sánh với dữ liệu truyền thống và mô hình DIKW</a:t>
            </a:r>
          </a:p>
        </p:txBody>
      </p:sp>
      <p:sp>
        <p:nvSpPr>
          <p:cNvPr id="9" name="Rectangle 8"/>
          <p:cNvSpPr/>
          <p:nvPr/>
        </p:nvSpPr>
        <p:spPr>
          <a:xfrm>
            <a:off x="685800" y="4974336"/>
            <a:ext cx="5212080" cy="50292"/>
          </a:xfrm>
          <a:prstGeom prst="rect">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016752" y="4974336"/>
            <a:ext cx="1143000" cy="50292"/>
          </a:xfrm>
          <a:prstGeom prst="rect">
            <a:avLst/>
          </a:prstGeom>
          <a:solidFill>
            <a:srgbClr val="85B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1475720" y="6492240"/>
            <a:ext cx="384048" cy="182880"/>
          </a:xfrm>
          <a:prstGeom prst="rect">
            <a:avLst/>
          </a:prstGeom>
          <a:noFill/>
        </p:spPr>
        <p:txBody>
          <a:bodyPr wrap="none">
            <a:spAutoFit/>
          </a:bodyPr>
          <a:lstStyle/>
          <a:p>
            <a:pPr algn="r"/>
            <a:r>
              <a:rPr sz="800">
                <a:solidFill>
                  <a:srgbClr val="5F5F5F"/>
                </a:solidFill>
                <a:latin typeface="Aptos"/>
              </a:rP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210312"/>
          </a:xfrm>
          <a:prstGeom prst="rect">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Parallelogram 2"/>
          <p:cNvSpPr/>
          <p:nvPr/>
        </p:nvSpPr>
        <p:spPr>
          <a:xfrm>
            <a:off x="8339327" y="0"/>
            <a:ext cx="640080" cy="210312"/>
          </a:xfrm>
          <a:prstGeom prst="parallelogram">
            <a:avLst/>
          </a:prstGeom>
          <a:solidFill>
            <a:srgbClr val="8497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Parallelogram 3"/>
          <p:cNvSpPr/>
          <p:nvPr/>
        </p:nvSpPr>
        <p:spPr>
          <a:xfrm>
            <a:off x="8732520" y="0"/>
            <a:ext cx="969264" cy="1005840"/>
          </a:xfrm>
          <a:prstGeom prst="parallelogram">
            <a:avLst/>
          </a:prstGeom>
          <a:solidFill>
            <a:srgbClr val="85B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Parallelogram 4"/>
          <p:cNvSpPr/>
          <p:nvPr/>
        </p:nvSpPr>
        <p:spPr>
          <a:xfrm>
            <a:off x="9747504" y="0"/>
            <a:ext cx="1005840" cy="1005840"/>
          </a:xfrm>
          <a:prstGeom prst="parallelogram">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30352" y="347472"/>
            <a:ext cx="8321040" cy="512064"/>
          </a:xfrm>
          <a:prstGeom prst="rect">
            <a:avLst/>
          </a:prstGeom>
          <a:noFill/>
        </p:spPr>
        <p:txBody>
          <a:bodyPr wrap="none">
            <a:spAutoFit/>
          </a:bodyPr>
          <a:lstStyle/>
          <a:p>
            <a:r>
              <a:rPr sz="2700" b="1">
                <a:solidFill>
                  <a:srgbClr val="0F3F6F"/>
                </a:solidFill>
                <a:latin typeface="Aptos Narrow"/>
              </a:rPr>
              <a:t>Big Data là gì?</a:t>
            </a:r>
          </a:p>
        </p:txBody>
      </p:sp>
      <p:sp>
        <p:nvSpPr>
          <p:cNvPr id="7" name="TextBox 6"/>
          <p:cNvSpPr txBox="1"/>
          <p:nvPr/>
        </p:nvSpPr>
        <p:spPr>
          <a:xfrm>
            <a:off x="11475720" y="6492240"/>
            <a:ext cx="384048" cy="182880"/>
          </a:xfrm>
          <a:prstGeom prst="rect">
            <a:avLst/>
          </a:prstGeom>
          <a:noFill/>
        </p:spPr>
        <p:txBody>
          <a:bodyPr wrap="none">
            <a:spAutoFit/>
          </a:bodyPr>
          <a:lstStyle/>
          <a:p>
            <a:pPr algn="r"/>
            <a:r>
              <a:rPr sz="800">
                <a:solidFill>
                  <a:srgbClr val="5F5F5F"/>
                </a:solidFill>
                <a:latin typeface="Aptos"/>
              </a:rPr>
              <a:t>6</a:t>
            </a:r>
          </a:p>
        </p:txBody>
      </p:sp>
      <p:pic>
        <p:nvPicPr>
          <p:cNvPr id="8" name="Picture 7" descr="body-6.png"/>
          <p:cNvPicPr>
            <a:picLocks noChangeAspect="1"/>
          </p:cNvPicPr>
          <p:nvPr/>
        </p:nvPicPr>
        <p:blipFill>
          <a:blip r:embed="rId2"/>
          <a:stretch>
            <a:fillRect/>
          </a:stretch>
        </p:blipFill>
        <p:spPr>
          <a:xfrm>
            <a:off x="1397186" y="969264"/>
            <a:ext cx="9083683" cy="560527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210312"/>
          </a:xfrm>
          <a:prstGeom prst="rect">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Parallelogram 2"/>
          <p:cNvSpPr/>
          <p:nvPr/>
        </p:nvSpPr>
        <p:spPr>
          <a:xfrm>
            <a:off x="8339327" y="0"/>
            <a:ext cx="640080" cy="210312"/>
          </a:xfrm>
          <a:prstGeom prst="parallelogram">
            <a:avLst/>
          </a:prstGeom>
          <a:solidFill>
            <a:srgbClr val="8497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Parallelogram 3"/>
          <p:cNvSpPr/>
          <p:nvPr/>
        </p:nvSpPr>
        <p:spPr>
          <a:xfrm>
            <a:off x="8732520" y="0"/>
            <a:ext cx="969264" cy="1005840"/>
          </a:xfrm>
          <a:prstGeom prst="parallelogram">
            <a:avLst/>
          </a:prstGeom>
          <a:solidFill>
            <a:srgbClr val="85B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Parallelogram 4"/>
          <p:cNvSpPr/>
          <p:nvPr/>
        </p:nvSpPr>
        <p:spPr>
          <a:xfrm>
            <a:off x="9747504" y="0"/>
            <a:ext cx="1005840" cy="1005840"/>
          </a:xfrm>
          <a:prstGeom prst="parallelogram">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30352" y="347472"/>
            <a:ext cx="8321040" cy="512064"/>
          </a:xfrm>
          <a:prstGeom prst="rect">
            <a:avLst/>
          </a:prstGeom>
          <a:noFill/>
        </p:spPr>
        <p:txBody>
          <a:bodyPr wrap="none">
            <a:spAutoFit/>
          </a:bodyPr>
          <a:lstStyle/>
          <a:p>
            <a:r>
              <a:rPr sz="2700" b="1">
                <a:solidFill>
                  <a:srgbClr val="0F3F6F"/>
                </a:solidFill>
                <a:latin typeface="Aptos Narrow"/>
              </a:rPr>
              <a:t>Big Data vs dữ liệu truyền thống</a:t>
            </a:r>
          </a:p>
        </p:txBody>
      </p:sp>
      <p:sp>
        <p:nvSpPr>
          <p:cNvPr id="7" name="TextBox 6"/>
          <p:cNvSpPr txBox="1"/>
          <p:nvPr/>
        </p:nvSpPr>
        <p:spPr>
          <a:xfrm>
            <a:off x="11475720" y="6492240"/>
            <a:ext cx="384048" cy="182880"/>
          </a:xfrm>
          <a:prstGeom prst="rect">
            <a:avLst/>
          </a:prstGeom>
          <a:noFill/>
        </p:spPr>
        <p:txBody>
          <a:bodyPr wrap="none">
            <a:spAutoFit/>
          </a:bodyPr>
          <a:lstStyle/>
          <a:p>
            <a:pPr algn="r"/>
            <a:r>
              <a:rPr sz="800">
                <a:solidFill>
                  <a:srgbClr val="5F5F5F"/>
                </a:solidFill>
                <a:latin typeface="Aptos"/>
              </a:rPr>
              <a:t>7</a:t>
            </a:r>
          </a:p>
        </p:txBody>
      </p:sp>
      <p:sp>
        <p:nvSpPr>
          <p:cNvPr id="8" name="Rounded Rectangle 7"/>
          <p:cNvSpPr/>
          <p:nvPr/>
        </p:nvSpPr>
        <p:spPr>
          <a:xfrm>
            <a:off x="658368" y="1234440"/>
            <a:ext cx="4983480" cy="4480560"/>
          </a:xfrm>
          <a:prstGeom prst="roundRect">
            <a:avLst/>
          </a:prstGeom>
          <a:solidFill>
            <a:srgbClr val="E7EEF5"/>
          </a:solidFill>
          <a:ln>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41247" y="1417320"/>
            <a:ext cx="4572000" cy="384048"/>
          </a:xfrm>
          <a:prstGeom prst="rect">
            <a:avLst/>
          </a:prstGeom>
          <a:noFill/>
        </p:spPr>
        <p:txBody>
          <a:bodyPr wrap="none">
            <a:spAutoFit/>
          </a:bodyPr>
          <a:lstStyle/>
          <a:p>
            <a:r>
              <a:rPr sz="2200" b="1">
                <a:solidFill>
                  <a:srgbClr val="0F3F6F"/>
                </a:solidFill>
                <a:latin typeface="Aptos Narrow"/>
              </a:rPr>
              <a:t>Dữ liệu truyền thống</a:t>
            </a:r>
          </a:p>
        </p:txBody>
      </p:sp>
      <p:sp>
        <p:nvSpPr>
          <p:cNvPr id="10" name="TextBox 9"/>
          <p:cNvSpPr txBox="1"/>
          <p:nvPr/>
        </p:nvSpPr>
        <p:spPr>
          <a:xfrm>
            <a:off x="841247" y="1828800"/>
            <a:ext cx="4572000" cy="3657600"/>
          </a:xfrm>
          <a:prstGeom prst="rect">
            <a:avLst/>
          </a:prstGeom>
          <a:noFill/>
        </p:spPr>
        <p:txBody>
          <a:bodyPr wrap="square">
            <a:spAutoFit/>
          </a:bodyPr>
          <a:lstStyle/>
          <a:p>
            <a:pPr>
              <a:spcAft>
                <a:spcPts val="500"/>
              </a:spcAft>
            </a:pPr>
            <a:r>
              <a:rPr sz="1700">
                <a:solidFill>
                  <a:srgbClr val="435266"/>
                </a:solidFill>
                <a:latin typeface="Aptos"/>
              </a:rPr>
              <a:t>• Khối lượng vừa phải, có thể xử lý trên 1 máy chủ hoặc CSDL quan hệ.</a:t>
            </a:r>
          </a:p>
          <a:p>
            <a:pPr>
              <a:spcAft>
                <a:spcPts val="500"/>
              </a:spcAft>
            </a:pPr>
            <a:r>
              <a:rPr sz="1700">
                <a:solidFill>
                  <a:srgbClr val="435266"/>
                </a:solidFill>
                <a:latin typeface="Aptos"/>
              </a:rPr>
              <a:t>• Chủ yếu dữ liệu có cấu trúc: bảng giao dịch, hồ sơ khách hàng, ERP.</a:t>
            </a:r>
          </a:p>
          <a:p>
            <a:pPr>
              <a:spcAft>
                <a:spcPts val="500"/>
              </a:spcAft>
            </a:pPr>
            <a:r>
              <a:rPr sz="1700">
                <a:solidFill>
                  <a:srgbClr val="435266"/>
                </a:solidFill>
                <a:latin typeface="Aptos"/>
              </a:rPr>
              <a:t>• Phân tích thường theo báo cáo định kỳ, batch hằng ngày/tuần/tháng.</a:t>
            </a:r>
          </a:p>
          <a:p>
            <a:pPr>
              <a:spcAft>
                <a:spcPts val="500"/>
              </a:spcAft>
            </a:pPr>
            <a:r>
              <a:rPr sz="1700">
                <a:solidFill>
                  <a:srgbClr val="435266"/>
                </a:solidFill>
                <a:latin typeface="Aptos"/>
              </a:rPr>
              <a:t>• Công cụ phổ biến: Excel, SQL Server, Oracle, báo cáo BI cơ bản.</a:t>
            </a:r>
          </a:p>
        </p:txBody>
      </p:sp>
      <p:sp>
        <p:nvSpPr>
          <p:cNvPr id="11" name="Rounded Rectangle 10"/>
          <p:cNvSpPr/>
          <p:nvPr/>
        </p:nvSpPr>
        <p:spPr>
          <a:xfrm>
            <a:off x="6144768" y="1234440"/>
            <a:ext cx="4983480" cy="4480560"/>
          </a:xfrm>
          <a:prstGeom prst="roundRect">
            <a:avLst/>
          </a:prstGeom>
          <a:solidFill>
            <a:srgbClr val="E9F3D6"/>
          </a:solidFill>
          <a:ln>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327648" y="1417320"/>
            <a:ext cx="4572000" cy="384048"/>
          </a:xfrm>
          <a:prstGeom prst="rect">
            <a:avLst/>
          </a:prstGeom>
          <a:noFill/>
        </p:spPr>
        <p:txBody>
          <a:bodyPr wrap="none">
            <a:spAutoFit/>
          </a:bodyPr>
          <a:lstStyle/>
          <a:p>
            <a:r>
              <a:rPr sz="2200" b="1">
                <a:solidFill>
                  <a:srgbClr val="0F3F6F"/>
                </a:solidFill>
                <a:latin typeface="Aptos Narrow"/>
              </a:rPr>
              <a:t>Big Data</a:t>
            </a:r>
          </a:p>
        </p:txBody>
      </p:sp>
      <p:sp>
        <p:nvSpPr>
          <p:cNvPr id="13" name="TextBox 12"/>
          <p:cNvSpPr txBox="1"/>
          <p:nvPr/>
        </p:nvSpPr>
        <p:spPr>
          <a:xfrm>
            <a:off x="6327648" y="1828800"/>
            <a:ext cx="4572000" cy="3657600"/>
          </a:xfrm>
          <a:prstGeom prst="rect">
            <a:avLst/>
          </a:prstGeom>
          <a:noFill/>
        </p:spPr>
        <p:txBody>
          <a:bodyPr wrap="square">
            <a:spAutoFit/>
          </a:bodyPr>
          <a:lstStyle/>
          <a:p>
            <a:pPr>
              <a:spcAft>
                <a:spcPts val="500"/>
              </a:spcAft>
            </a:pPr>
            <a:r>
              <a:rPr sz="1700">
                <a:solidFill>
                  <a:srgbClr val="435266"/>
                </a:solidFill>
                <a:latin typeface="Aptos"/>
              </a:rPr>
              <a:t>• Khối lượng rất lớn, tăng nhanh và cần hạ tầng phân tán.</a:t>
            </a:r>
          </a:p>
          <a:p>
            <a:pPr>
              <a:spcAft>
                <a:spcPts val="500"/>
              </a:spcAft>
            </a:pPr>
            <a:r>
              <a:rPr sz="1700">
                <a:solidFill>
                  <a:srgbClr val="435266"/>
                </a:solidFill>
                <a:latin typeface="Aptos"/>
              </a:rPr>
              <a:t>• Bao gồm cả dữ liệu có cấu trúc, bán cấu trúc và phi cấu trúc.</a:t>
            </a:r>
          </a:p>
          <a:p>
            <a:pPr>
              <a:spcAft>
                <a:spcPts val="500"/>
              </a:spcAft>
            </a:pPr>
            <a:r>
              <a:rPr sz="1700">
                <a:solidFill>
                  <a:srgbClr val="435266"/>
                </a:solidFill>
                <a:latin typeface="Aptos"/>
              </a:rPr>
              <a:t>• Có nhu cầu phân tích gần thời gian thực hoặc thời gian thực.</a:t>
            </a:r>
          </a:p>
          <a:p>
            <a:pPr>
              <a:spcAft>
                <a:spcPts val="500"/>
              </a:spcAft>
            </a:pPr>
            <a:r>
              <a:rPr sz="1700">
                <a:solidFill>
                  <a:srgbClr val="435266"/>
                </a:solidFill>
                <a:latin typeface="Aptos"/>
              </a:rPr>
              <a:t>• Cần hệ sinh thái như Hadoop, Spark, Kafka, Data Lake, Cloud.</a:t>
            </a:r>
          </a:p>
        </p:txBody>
      </p:sp>
      <p:sp>
        <p:nvSpPr>
          <p:cNvPr id="14" name="TextBox 13"/>
          <p:cNvSpPr txBox="1"/>
          <p:nvPr/>
        </p:nvSpPr>
        <p:spPr>
          <a:xfrm>
            <a:off x="777240" y="5897880"/>
            <a:ext cx="10607040" cy="384048"/>
          </a:xfrm>
          <a:prstGeom prst="rect">
            <a:avLst/>
          </a:prstGeom>
          <a:noFill/>
        </p:spPr>
        <p:txBody>
          <a:bodyPr wrap="none">
            <a:spAutoFit/>
          </a:bodyPr>
          <a:lstStyle/>
          <a:p>
            <a:pPr algn="ctr"/>
            <a:r>
              <a:rPr sz="1400" i="1">
                <a:solidFill>
                  <a:srgbClr val="0F3F6F"/>
                </a:solidFill>
                <a:latin typeface="Aptos"/>
              </a:rPr>
              <a:t>Không phải mọi dữ liệu lớn đều là Big Data; yếu tố quyết định là mức độ vượt quá khả năng xử lý truyền thống.</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210312"/>
          </a:xfrm>
          <a:prstGeom prst="rect">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Parallelogram 2"/>
          <p:cNvSpPr/>
          <p:nvPr/>
        </p:nvSpPr>
        <p:spPr>
          <a:xfrm>
            <a:off x="8339327" y="0"/>
            <a:ext cx="640080" cy="210312"/>
          </a:xfrm>
          <a:prstGeom prst="parallelogram">
            <a:avLst/>
          </a:prstGeom>
          <a:solidFill>
            <a:srgbClr val="8497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Parallelogram 3"/>
          <p:cNvSpPr/>
          <p:nvPr/>
        </p:nvSpPr>
        <p:spPr>
          <a:xfrm>
            <a:off x="8732520" y="0"/>
            <a:ext cx="969264" cy="1005840"/>
          </a:xfrm>
          <a:prstGeom prst="parallelogram">
            <a:avLst/>
          </a:prstGeom>
          <a:solidFill>
            <a:srgbClr val="85B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Parallelogram 4"/>
          <p:cNvSpPr/>
          <p:nvPr/>
        </p:nvSpPr>
        <p:spPr>
          <a:xfrm>
            <a:off x="9747504" y="0"/>
            <a:ext cx="1005840" cy="1005840"/>
          </a:xfrm>
          <a:prstGeom prst="parallelogram">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30352" y="347472"/>
            <a:ext cx="8321040" cy="512064"/>
          </a:xfrm>
          <a:prstGeom prst="rect">
            <a:avLst/>
          </a:prstGeom>
          <a:noFill/>
        </p:spPr>
        <p:txBody>
          <a:bodyPr wrap="none">
            <a:spAutoFit/>
          </a:bodyPr>
          <a:lstStyle/>
          <a:p>
            <a:r>
              <a:rPr sz="2700" b="1">
                <a:solidFill>
                  <a:srgbClr val="0F3F6F"/>
                </a:solidFill>
                <a:latin typeface="Aptos Narrow"/>
              </a:rPr>
              <a:t>Từ Dữ liệu đến Giá trị: Mô hình DIKW</a:t>
            </a:r>
          </a:p>
        </p:txBody>
      </p:sp>
      <p:sp>
        <p:nvSpPr>
          <p:cNvPr id="7" name="TextBox 6"/>
          <p:cNvSpPr txBox="1"/>
          <p:nvPr/>
        </p:nvSpPr>
        <p:spPr>
          <a:xfrm>
            <a:off x="11475720" y="6492240"/>
            <a:ext cx="384048" cy="182880"/>
          </a:xfrm>
          <a:prstGeom prst="rect">
            <a:avLst/>
          </a:prstGeom>
          <a:noFill/>
        </p:spPr>
        <p:txBody>
          <a:bodyPr wrap="none">
            <a:spAutoFit/>
          </a:bodyPr>
          <a:lstStyle/>
          <a:p>
            <a:pPr algn="r"/>
            <a:r>
              <a:rPr sz="800">
                <a:solidFill>
                  <a:srgbClr val="5F5F5F"/>
                </a:solidFill>
                <a:latin typeface="Aptos"/>
              </a:rPr>
              <a:t>8</a:t>
            </a:r>
          </a:p>
        </p:txBody>
      </p:sp>
      <p:pic>
        <p:nvPicPr>
          <p:cNvPr id="8" name="Picture 7" descr="body-7.png"/>
          <p:cNvPicPr>
            <a:picLocks noChangeAspect="1"/>
          </p:cNvPicPr>
          <p:nvPr/>
        </p:nvPicPr>
        <p:blipFill>
          <a:blip r:embed="rId2"/>
          <a:stretch>
            <a:fillRect/>
          </a:stretch>
        </p:blipFill>
        <p:spPr>
          <a:xfrm>
            <a:off x="1397186" y="969264"/>
            <a:ext cx="9083683" cy="560527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210312"/>
          </a:xfrm>
          <a:prstGeom prst="rect">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Parallelogram 2"/>
          <p:cNvSpPr/>
          <p:nvPr/>
        </p:nvSpPr>
        <p:spPr>
          <a:xfrm>
            <a:off x="8339327" y="0"/>
            <a:ext cx="640080" cy="210312"/>
          </a:xfrm>
          <a:prstGeom prst="parallelogram">
            <a:avLst/>
          </a:prstGeom>
          <a:solidFill>
            <a:srgbClr val="8497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Parallelogram 3"/>
          <p:cNvSpPr/>
          <p:nvPr/>
        </p:nvSpPr>
        <p:spPr>
          <a:xfrm>
            <a:off x="8732520" y="0"/>
            <a:ext cx="969264" cy="1005840"/>
          </a:xfrm>
          <a:prstGeom prst="parallelogram">
            <a:avLst/>
          </a:prstGeom>
          <a:solidFill>
            <a:srgbClr val="85B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Parallelogram 4"/>
          <p:cNvSpPr/>
          <p:nvPr/>
        </p:nvSpPr>
        <p:spPr>
          <a:xfrm>
            <a:off x="9747504" y="0"/>
            <a:ext cx="1005840" cy="1005840"/>
          </a:xfrm>
          <a:prstGeom prst="parallelogram">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30352" y="347472"/>
            <a:ext cx="8321040" cy="512064"/>
          </a:xfrm>
          <a:prstGeom prst="rect">
            <a:avLst/>
          </a:prstGeom>
          <a:noFill/>
        </p:spPr>
        <p:txBody>
          <a:bodyPr wrap="none">
            <a:spAutoFit/>
          </a:bodyPr>
          <a:lstStyle/>
          <a:p>
            <a:r>
              <a:rPr sz="2700" b="1">
                <a:solidFill>
                  <a:srgbClr val="0F3F6F"/>
                </a:solidFill>
                <a:latin typeface="Aptos Narrow"/>
              </a:rPr>
              <a:t>Phân loại dữ liệu trong Big Data</a:t>
            </a:r>
          </a:p>
        </p:txBody>
      </p:sp>
      <p:sp>
        <p:nvSpPr>
          <p:cNvPr id="7" name="TextBox 6"/>
          <p:cNvSpPr txBox="1"/>
          <p:nvPr/>
        </p:nvSpPr>
        <p:spPr>
          <a:xfrm>
            <a:off x="11475720" y="6492240"/>
            <a:ext cx="384048" cy="182880"/>
          </a:xfrm>
          <a:prstGeom prst="rect">
            <a:avLst/>
          </a:prstGeom>
          <a:noFill/>
        </p:spPr>
        <p:txBody>
          <a:bodyPr wrap="none">
            <a:spAutoFit/>
          </a:bodyPr>
          <a:lstStyle/>
          <a:p>
            <a:pPr algn="r"/>
            <a:r>
              <a:rPr sz="800">
                <a:solidFill>
                  <a:srgbClr val="5F5F5F"/>
                </a:solidFill>
                <a:latin typeface="Aptos"/>
              </a:rPr>
              <a:t>9</a:t>
            </a:r>
          </a:p>
        </p:txBody>
      </p:sp>
      <p:pic>
        <p:nvPicPr>
          <p:cNvPr id="8" name="Picture 7" descr="body-8.png"/>
          <p:cNvPicPr>
            <a:picLocks noChangeAspect="1"/>
          </p:cNvPicPr>
          <p:nvPr/>
        </p:nvPicPr>
        <p:blipFill>
          <a:blip r:embed="rId2"/>
          <a:stretch>
            <a:fillRect/>
          </a:stretch>
        </p:blipFill>
        <p:spPr>
          <a:xfrm>
            <a:off x="1397186" y="969264"/>
            <a:ext cx="9083683" cy="560527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210312"/>
          </a:xfrm>
          <a:prstGeom prst="rect">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Parallelogram 2"/>
          <p:cNvSpPr/>
          <p:nvPr/>
        </p:nvSpPr>
        <p:spPr>
          <a:xfrm>
            <a:off x="8339327" y="0"/>
            <a:ext cx="640080" cy="210312"/>
          </a:xfrm>
          <a:prstGeom prst="parallelogram">
            <a:avLst/>
          </a:prstGeom>
          <a:solidFill>
            <a:srgbClr val="8497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Parallelogram 3"/>
          <p:cNvSpPr/>
          <p:nvPr/>
        </p:nvSpPr>
        <p:spPr>
          <a:xfrm>
            <a:off x="8732520" y="0"/>
            <a:ext cx="969264" cy="1005840"/>
          </a:xfrm>
          <a:prstGeom prst="parallelogram">
            <a:avLst/>
          </a:prstGeom>
          <a:solidFill>
            <a:srgbClr val="85B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Parallelogram 4"/>
          <p:cNvSpPr/>
          <p:nvPr/>
        </p:nvSpPr>
        <p:spPr>
          <a:xfrm>
            <a:off x="9747504" y="0"/>
            <a:ext cx="1005840" cy="1005840"/>
          </a:xfrm>
          <a:prstGeom prst="parallelogram">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30352" y="347472"/>
            <a:ext cx="8321040" cy="512064"/>
          </a:xfrm>
          <a:prstGeom prst="rect">
            <a:avLst/>
          </a:prstGeom>
          <a:noFill/>
        </p:spPr>
        <p:txBody>
          <a:bodyPr wrap="none">
            <a:spAutoFit/>
          </a:bodyPr>
          <a:lstStyle/>
          <a:p>
            <a:r>
              <a:rPr sz="2700" b="1">
                <a:solidFill>
                  <a:srgbClr val="0F3F6F"/>
                </a:solidFill>
                <a:latin typeface="Aptos Narrow"/>
              </a:rPr>
              <a:t>Ví dụ 3 loại dữ liệu trong nhà máy thông minh</a:t>
            </a:r>
          </a:p>
        </p:txBody>
      </p:sp>
      <p:sp>
        <p:nvSpPr>
          <p:cNvPr id="7" name="TextBox 6"/>
          <p:cNvSpPr txBox="1"/>
          <p:nvPr/>
        </p:nvSpPr>
        <p:spPr>
          <a:xfrm>
            <a:off x="11475720" y="6492240"/>
            <a:ext cx="384048" cy="182880"/>
          </a:xfrm>
          <a:prstGeom prst="rect">
            <a:avLst/>
          </a:prstGeom>
          <a:noFill/>
        </p:spPr>
        <p:txBody>
          <a:bodyPr wrap="none">
            <a:spAutoFit/>
          </a:bodyPr>
          <a:lstStyle/>
          <a:p>
            <a:pPr algn="r"/>
            <a:r>
              <a:rPr sz="800">
                <a:solidFill>
                  <a:srgbClr val="5F5F5F"/>
                </a:solidFill>
                <a:latin typeface="Aptos"/>
              </a:rPr>
              <a:t>10</a:t>
            </a:r>
          </a:p>
        </p:txBody>
      </p:sp>
      <p:sp>
        <p:nvSpPr>
          <p:cNvPr id="8" name="TextBox 7"/>
          <p:cNvSpPr txBox="1"/>
          <p:nvPr/>
        </p:nvSpPr>
        <p:spPr>
          <a:xfrm>
            <a:off x="749808" y="987552"/>
            <a:ext cx="10607040" cy="320040"/>
          </a:xfrm>
          <a:prstGeom prst="rect">
            <a:avLst/>
          </a:prstGeom>
          <a:noFill/>
        </p:spPr>
        <p:txBody>
          <a:bodyPr wrap="none">
            <a:spAutoFit/>
          </a:bodyPr>
          <a:lstStyle/>
          <a:p>
            <a:r>
              <a:rPr sz="1300" i="1">
                <a:solidFill>
                  <a:srgbClr val="0F3F6F"/>
                </a:solidFill>
                <a:latin typeface="Aptos"/>
              </a:rPr>
              <a:t>Sự đa dạng nguồn dữ liệu là lý do Big Data luôn gắn với bài toán tích hợp và chuẩn hóa dữ liệu.</a:t>
            </a:r>
          </a:p>
        </p:txBody>
      </p:sp>
      <p:sp>
        <p:nvSpPr>
          <p:cNvPr id="9" name="Rounded Rectangle 8"/>
          <p:cNvSpPr/>
          <p:nvPr/>
        </p:nvSpPr>
        <p:spPr>
          <a:xfrm>
            <a:off x="548640" y="1508760"/>
            <a:ext cx="3154680" cy="4343400"/>
          </a:xfrm>
          <a:prstGeom prst="roundRect">
            <a:avLst/>
          </a:prstGeom>
          <a:solidFill>
            <a:srgbClr val="E7EEF5"/>
          </a:solidFill>
          <a:ln>
            <a:solidFill>
              <a:srgbClr val="D7DD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85800" y="1691640"/>
            <a:ext cx="2880360" cy="457200"/>
          </a:xfrm>
          <a:prstGeom prst="rect">
            <a:avLst/>
          </a:prstGeom>
          <a:noFill/>
        </p:spPr>
        <p:txBody>
          <a:bodyPr wrap="none">
            <a:spAutoFit/>
          </a:bodyPr>
          <a:lstStyle/>
          <a:p>
            <a:r>
              <a:rPr sz="2000" b="1">
                <a:solidFill>
                  <a:srgbClr val="0F3F6F"/>
                </a:solidFill>
                <a:latin typeface="Aptos Narrow"/>
              </a:rPr>
              <a:t>Dữ liệu có cấu trúc</a:t>
            </a:r>
          </a:p>
        </p:txBody>
      </p:sp>
      <p:sp>
        <p:nvSpPr>
          <p:cNvPr id="11" name="TextBox 10"/>
          <p:cNvSpPr txBox="1"/>
          <p:nvPr/>
        </p:nvSpPr>
        <p:spPr>
          <a:xfrm>
            <a:off x="713232" y="2148840"/>
            <a:ext cx="2788920" cy="3429000"/>
          </a:xfrm>
          <a:prstGeom prst="rect">
            <a:avLst/>
          </a:prstGeom>
          <a:noFill/>
        </p:spPr>
        <p:txBody>
          <a:bodyPr wrap="square">
            <a:spAutoFit/>
          </a:bodyPr>
          <a:lstStyle/>
          <a:p>
            <a:pPr>
              <a:spcAft>
                <a:spcPts val="500"/>
              </a:spcAft>
            </a:pPr>
            <a:r>
              <a:rPr sz="1550">
                <a:solidFill>
                  <a:srgbClr val="435266"/>
                </a:solidFill>
                <a:latin typeface="Aptos"/>
              </a:rPr>
              <a:t>• Bảng sản lượng theo ca.</a:t>
            </a:r>
          </a:p>
          <a:p>
            <a:pPr>
              <a:spcAft>
                <a:spcPts val="500"/>
              </a:spcAft>
            </a:pPr>
            <a:r>
              <a:rPr sz="1550">
                <a:solidFill>
                  <a:srgbClr val="435266"/>
                </a:solidFill>
                <a:latin typeface="Aptos"/>
              </a:rPr>
              <a:t>• Thông tin đơn hàng, mã máy, mã lỗi.</a:t>
            </a:r>
          </a:p>
          <a:p>
            <a:pPr>
              <a:spcAft>
                <a:spcPts val="500"/>
              </a:spcAft>
            </a:pPr>
            <a:r>
              <a:rPr sz="1550">
                <a:solidFill>
                  <a:srgbClr val="435266"/>
                </a:solidFill>
                <a:latin typeface="Aptos"/>
              </a:rPr>
              <a:t>• Dữ liệu từ ERP/MES/SCADA xuất theo bảng.</a:t>
            </a:r>
          </a:p>
        </p:txBody>
      </p:sp>
      <p:sp>
        <p:nvSpPr>
          <p:cNvPr id="12" name="Rounded Rectangle 11"/>
          <p:cNvSpPr/>
          <p:nvPr/>
        </p:nvSpPr>
        <p:spPr>
          <a:xfrm>
            <a:off x="4050791" y="1508760"/>
            <a:ext cx="3154680" cy="4343400"/>
          </a:xfrm>
          <a:prstGeom prst="roundRect">
            <a:avLst/>
          </a:prstGeom>
          <a:solidFill>
            <a:srgbClr val="E9F3D6"/>
          </a:solidFill>
          <a:ln>
            <a:solidFill>
              <a:srgbClr val="D7DD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187952" y="1691640"/>
            <a:ext cx="2880360" cy="457200"/>
          </a:xfrm>
          <a:prstGeom prst="rect">
            <a:avLst/>
          </a:prstGeom>
          <a:noFill/>
        </p:spPr>
        <p:txBody>
          <a:bodyPr wrap="none">
            <a:spAutoFit/>
          </a:bodyPr>
          <a:lstStyle/>
          <a:p>
            <a:r>
              <a:rPr sz="2000" b="1">
                <a:solidFill>
                  <a:srgbClr val="0F3F6F"/>
                </a:solidFill>
                <a:latin typeface="Aptos Narrow"/>
              </a:rPr>
              <a:t>Dữ liệu bán cấu trúc</a:t>
            </a:r>
          </a:p>
        </p:txBody>
      </p:sp>
      <p:sp>
        <p:nvSpPr>
          <p:cNvPr id="14" name="TextBox 13"/>
          <p:cNvSpPr txBox="1"/>
          <p:nvPr/>
        </p:nvSpPr>
        <p:spPr>
          <a:xfrm>
            <a:off x="4215383" y="2148840"/>
            <a:ext cx="2788920" cy="3429000"/>
          </a:xfrm>
          <a:prstGeom prst="rect">
            <a:avLst/>
          </a:prstGeom>
          <a:noFill/>
        </p:spPr>
        <p:txBody>
          <a:bodyPr wrap="square">
            <a:spAutoFit/>
          </a:bodyPr>
          <a:lstStyle/>
          <a:p>
            <a:pPr>
              <a:spcAft>
                <a:spcPts val="500"/>
              </a:spcAft>
            </a:pPr>
            <a:r>
              <a:rPr sz="1550">
                <a:solidFill>
                  <a:srgbClr val="435266"/>
                </a:solidFill>
                <a:latin typeface="Aptos"/>
              </a:rPr>
              <a:t>• Log JSON từ gateway IoT.</a:t>
            </a:r>
          </a:p>
          <a:p>
            <a:pPr>
              <a:spcAft>
                <a:spcPts val="500"/>
              </a:spcAft>
            </a:pPr>
            <a:r>
              <a:rPr sz="1550">
                <a:solidFill>
                  <a:srgbClr val="435266"/>
                </a:solidFill>
                <a:latin typeface="Aptos"/>
              </a:rPr>
              <a:t>• Bản tin MQTT/XML từ cảm biến.</a:t>
            </a:r>
          </a:p>
          <a:p>
            <a:pPr>
              <a:spcAft>
                <a:spcPts val="500"/>
              </a:spcAft>
            </a:pPr>
            <a:r>
              <a:rPr sz="1550">
                <a:solidFill>
                  <a:srgbClr val="435266"/>
                </a:solidFill>
                <a:latin typeface="Aptos"/>
              </a:rPr>
              <a:t>• File CSV xuất định kỳ từ thiết bị.</a:t>
            </a:r>
          </a:p>
        </p:txBody>
      </p:sp>
      <p:sp>
        <p:nvSpPr>
          <p:cNvPr id="15" name="Rounded Rectangle 14"/>
          <p:cNvSpPr/>
          <p:nvPr/>
        </p:nvSpPr>
        <p:spPr>
          <a:xfrm>
            <a:off x="7552944" y="1508760"/>
            <a:ext cx="3154680" cy="4343400"/>
          </a:xfrm>
          <a:prstGeom prst="roundRect">
            <a:avLst/>
          </a:prstGeom>
          <a:solidFill>
            <a:srgbClr val="F0F4F7"/>
          </a:solidFill>
          <a:ln>
            <a:solidFill>
              <a:srgbClr val="D7DD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690104" y="1691640"/>
            <a:ext cx="2880360" cy="457200"/>
          </a:xfrm>
          <a:prstGeom prst="rect">
            <a:avLst/>
          </a:prstGeom>
          <a:noFill/>
        </p:spPr>
        <p:txBody>
          <a:bodyPr wrap="none">
            <a:spAutoFit/>
          </a:bodyPr>
          <a:lstStyle/>
          <a:p>
            <a:r>
              <a:rPr sz="2000" b="1">
                <a:solidFill>
                  <a:srgbClr val="0F3F6F"/>
                </a:solidFill>
                <a:latin typeface="Aptos Narrow"/>
              </a:rPr>
              <a:t>Dữ liệu phi cấu trúc</a:t>
            </a:r>
          </a:p>
        </p:txBody>
      </p:sp>
      <p:sp>
        <p:nvSpPr>
          <p:cNvPr id="17" name="TextBox 16"/>
          <p:cNvSpPr txBox="1"/>
          <p:nvPr/>
        </p:nvSpPr>
        <p:spPr>
          <a:xfrm>
            <a:off x="7717536" y="2148840"/>
            <a:ext cx="2788920" cy="3429000"/>
          </a:xfrm>
          <a:prstGeom prst="rect">
            <a:avLst/>
          </a:prstGeom>
          <a:noFill/>
        </p:spPr>
        <p:txBody>
          <a:bodyPr wrap="square">
            <a:spAutoFit/>
          </a:bodyPr>
          <a:lstStyle/>
          <a:p>
            <a:pPr>
              <a:spcAft>
                <a:spcPts val="500"/>
              </a:spcAft>
            </a:pPr>
            <a:r>
              <a:rPr sz="1550">
                <a:solidFill>
                  <a:srgbClr val="435266"/>
                </a:solidFill>
                <a:latin typeface="Aptos"/>
              </a:rPr>
              <a:t>• Ảnh lỗi bề mặt sản phẩm.</a:t>
            </a:r>
          </a:p>
          <a:p>
            <a:pPr>
              <a:spcAft>
                <a:spcPts val="500"/>
              </a:spcAft>
            </a:pPr>
            <a:r>
              <a:rPr sz="1550">
                <a:solidFill>
                  <a:srgbClr val="435266"/>
                </a:solidFill>
                <a:latin typeface="Aptos"/>
              </a:rPr>
              <a:t>• Video từ camera dây chuyền.</a:t>
            </a:r>
          </a:p>
          <a:p>
            <a:pPr>
              <a:spcAft>
                <a:spcPts val="500"/>
              </a:spcAft>
            </a:pPr>
            <a:r>
              <a:rPr sz="1550">
                <a:solidFill>
                  <a:srgbClr val="435266"/>
                </a:solidFill>
                <a:latin typeface="Aptos"/>
              </a:rPr>
              <a:t>• Âm thanh rung bất thường của máy.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210312"/>
          </a:xfrm>
          <a:prstGeom prst="rect">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Parallelogram 2"/>
          <p:cNvSpPr/>
          <p:nvPr/>
        </p:nvSpPr>
        <p:spPr>
          <a:xfrm>
            <a:off x="8339327" y="0"/>
            <a:ext cx="640080" cy="210312"/>
          </a:xfrm>
          <a:prstGeom prst="parallelogram">
            <a:avLst/>
          </a:prstGeom>
          <a:solidFill>
            <a:srgbClr val="8497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Parallelogram 3"/>
          <p:cNvSpPr/>
          <p:nvPr/>
        </p:nvSpPr>
        <p:spPr>
          <a:xfrm>
            <a:off x="8732520" y="0"/>
            <a:ext cx="969264" cy="1005840"/>
          </a:xfrm>
          <a:prstGeom prst="parallelogram">
            <a:avLst/>
          </a:prstGeom>
          <a:solidFill>
            <a:srgbClr val="85B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Parallelogram 4"/>
          <p:cNvSpPr/>
          <p:nvPr/>
        </p:nvSpPr>
        <p:spPr>
          <a:xfrm>
            <a:off x="9747504" y="0"/>
            <a:ext cx="1005840" cy="1005840"/>
          </a:xfrm>
          <a:prstGeom prst="parallelogram">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8368" y="1389888"/>
            <a:ext cx="2743200" cy="411480"/>
          </a:xfrm>
          <a:prstGeom prst="rect">
            <a:avLst/>
          </a:prstGeom>
          <a:noFill/>
        </p:spPr>
        <p:txBody>
          <a:bodyPr wrap="none">
            <a:spAutoFit/>
          </a:bodyPr>
          <a:lstStyle/>
          <a:p>
            <a:r>
              <a:rPr sz="2200" b="1">
                <a:solidFill>
                  <a:srgbClr val="85B518"/>
                </a:solidFill>
                <a:latin typeface="Aptos Narrow"/>
              </a:rPr>
              <a:t>PHẦN 1.2</a:t>
            </a:r>
          </a:p>
        </p:txBody>
      </p:sp>
      <p:sp>
        <p:nvSpPr>
          <p:cNvPr id="7" name="TextBox 6"/>
          <p:cNvSpPr txBox="1"/>
          <p:nvPr/>
        </p:nvSpPr>
        <p:spPr>
          <a:xfrm>
            <a:off x="658368" y="2011680"/>
            <a:ext cx="10241280" cy="1325880"/>
          </a:xfrm>
          <a:prstGeom prst="rect">
            <a:avLst/>
          </a:prstGeom>
          <a:noFill/>
        </p:spPr>
        <p:txBody>
          <a:bodyPr wrap="none">
            <a:spAutoFit/>
          </a:bodyPr>
          <a:lstStyle/>
          <a:p>
            <a:r>
              <a:rPr sz="3700" b="1">
                <a:solidFill>
                  <a:srgbClr val="0F3F6F"/>
                </a:solidFill>
                <a:latin typeface="Aptos Narrow"/>
              </a:rPr>
              <a:t>Đặc trưng Big Data</a:t>
            </a:r>
          </a:p>
        </p:txBody>
      </p:sp>
      <p:sp>
        <p:nvSpPr>
          <p:cNvPr id="8" name="TextBox 7"/>
          <p:cNvSpPr txBox="1"/>
          <p:nvPr/>
        </p:nvSpPr>
        <p:spPr>
          <a:xfrm>
            <a:off x="685800" y="3364992"/>
            <a:ext cx="10012680" cy="914400"/>
          </a:xfrm>
          <a:prstGeom prst="rect">
            <a:avLst/>
          </a:prstGeom>
          <a:noFill/>
        </p:spPr>
        <p:txBody>
          <a:bodyPr wrap="none">
            <a:spAutoFit/>
          </a:bodyPr>
          <a:lstStyle/>
          <a:p>
            <a:r>
              <a:rPr sz="1800">
                <a:solidFill>
                  <a:srgbClr val="435266"/>
                </a:solidFill>
                <a:latin typeface="Aptos"/>
              </a:rPr>
              <a:t>Mô hình 5V, ví dụ trong công nghiệp và các góc nhìn mở rộng</a:t>
            </a:r>
          </a:p>
        </p:txBody>
      </p:sp>
      <p:sp>
        <p:nvSpPr>
          <p:cNvPr id="9" name="Rectangle 8"/>
          <p:cNvSpPr/>
          <p:nvPr/>
        </p:nvSpPr>
        <p:spPr>
          <a:xfrm>
            <a:off x="685800" y="4974336"/>
            <a:ext cx="5212080" cy="50292"/>
          </a:xfrm>
          <a:prstGeom prst="rect">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016752" y="4974336"/>
            <a:ext cx="1143000" cy="50292"/>
          </a:xfrm>
          <a:prstGeom prst="rect">
            <a:avLst/>
          </a:prstGeom>
          <a:solidFill>
            <a:srgbClr val="85B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1475720" y="6492240"/>
            <a:ext cx="384048" cy="182880"/>
          </a:xfrm>
          <a:prstGeom prst="rect">
            <a:avLst/>
          </a:prstGeom>
          <a:noFill/>
        </p:spPr>
        <p:txBody>
          <a:bodyPr wrap="none">
            <a:spAutoFit/>
          </a:bodyPr>
          <a:lstStyle/>
          <a:p>
            <a:pPr algn="r"/>
            <a:r>
              <a:rPr sz="800">
                <a:solidFill>
                  <a:srgbClr val="5F5F5F"/>
                </a:solidFill>
                <a:latin typeface="Aptos"/>
              </a:rP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210312"/>
          </a:xfrm>
          <a:prstGeom prst="rect">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Parallelogram 2"/>
          <p:cNvSpPr/>
          <p:nvPr/>
        </p:nvSpPr>
        <p:spPr>
          <a:xfrm>
            <a:off x="8339327" y="0"/>
            <a:ext cx="640080" cy="210312"/>
          </a:xfrm>
          <a:prstGeom prst="parallelogram">
            <a:avLst/>
          </a:prstGeom>
          <a:solidFill>
            <a:srgbClr val="8497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Parallelogram 3"/>
          <p:cNvSpPr/>
          <p:nvPr/>
        </p:nvSpPr>
        <p:spPr>
          <a:xfrm>
            <a:off x="8732520" y="0"/>
            <a:ext cx="969264" cy="1005840"/>
          </a:xfrm>
          <a:prstGeom prst="parallelogram">
            <a:avLst/>
          </a:prstGeom>
          <a:solidFill>
            <a:srgbClr val="85B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Parallelogram 4"/>
          <p:cNvSpPr/>
          <p:nvPr/>
        </p:nvSpPr>
        <p:spPr>
          <a:xfrm>
            <a:off x="9747504" y="0"/>
            <a:ext cx="1005840" cy="1005840"/>
          </a:xfrm>
          <a:prstGeom prst="parallelogram">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30352" y="347472"/>
            <a:ext cx="8321040" cy="512064"/>
          </a:xfrm>
          <a:prstGeom prst="rect">
            <a:avLst/>
          </a:prstGeom>
          <a:noFill/>
        </p:spPr>
        <p:txBody>
          <a:bodyPr wrap="none">
            <a:spAutoFit/>
          </a:bodyPr>
          <a:lstStyle/>
          <a:p>
            <a:r>
              <a:rPr sz="2700" b="1">
                <a:solidFill>
                  <a:srgbClr val="0F3F6F"/>
                </a:solidFill>
                <a:latin typeface="Aptos Narrow"/>
              </a:rPr>
              <a:t>Đặc trưng Big Data — Mô hình 5V</a:t>
            </a:r>
          </a:p>
        </p:txBody>
      </p:sp>
      <p:sp>
        <p:nvSpPr>
          <p:cNvPr id="7" name="TextBox 6"/>
          <p:cNvSpPr txBox="1"/>
          <p:nvPr/>
        </p:nvSpPr>
        <p:spPr>
          <a:xfrm>
            <a:off x="11475720" y="6492240"/>
            <a:ext cx="384048" cy="182880"/>
          </a:xfrm>
          <a:prstGeom prst="rect">
            <a:avLst/>
          </a:prstGeom>
          <a:noFill/>
        </p:spPr>
        <p:txBody>
          <a:bodyPr wrap="none">
            <a:spAutoFit/>
          </a:bodyPr>
          <a:lstStyle/>
          <a:p>
            <a:pPr algn="r"/>
            <a:r>
              <a:rPr sz="800">
                <a:solidFill>
                  <a:srgbClr val="5F5F5F"/>
                </a:solidFill>
                <a:latin typeface="Aptos"/>
              </a:rPr>
              <a:t>12</a:t>
            </a:r>
          </a:p>
        </p:txBody>
      </p:sp>
      <p:pic>
        <p:nvPicPr>
          <p:cNvPr id="8" name="Picture 7" descr="body-10.png"/>
          <p:cNvPicPr>
            <a:picLocks noChangeAspect="1"/>
          </p:cNvPicPr>
          <p:nvPr/>
        </p:nvPicPr>
        <p:blipFill>
          <a:blip r:embed="rId2"/>
          <a:stretch>
            <a:fillRect/>
          </a:stretch>
        </p:blipFill>
        <p:spPr>
          <a:xfrm>
            <a:off x="1397186" y="969264"/>
            <a:ext cx="9083683" cy="5605272"/>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210312"/>
          </a:xfrm>
          <a:prstGeom prst="rect">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Parallelogram 2"/>
          <p:cNvSpPr/>
          <p:nvPr/>
        </p:nvSpPr>
        <p:spPr>
          <a:xfrm>
            <a:off x="8339327" y="0"/>
            <a:ext cx="640080" cy="210312"/>
          </a:xfrm>
          <a:prstGeom prst="parallelogram">
            <a:avLst/>
          </a:prstGeom>
          <a:solidFill>
            <a:srgbClr val="8497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Parallelogram 3"/>
          <p:cNvSpPr/>
          <p:nvPr/>
        </p:nvSpPr>
        <p:spPr>
          <a:xfrm>
            <a:off x="8732520" y="0"/>
            <a:ext cx="969264" cy="1005840"/>
          </a:xfrm>
          <a:prstGeom prst="parallelogram">
            <a:avLst/>
          </a:prstGeom>
          <a:solidFill>
            <a:srgbClr val="85B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Parallelogram 4"/>
          <p:cNvSpPr/>
          <p:nvPr/>
        </p:nvSpPr>
        <p:spPr>
          <a:xfrm>
            <a:off x="9747504" y="0"/>
            <a:ext cx="1005840" cy="1005840"/>
          </a:xfrm>
          <a:prstGeom prst="parallelogram">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30352" y="347472"/>
            <a:ext cx="8321040" cy="512064"/>
          </a:xfrm>
          <a:prstGeom prst="rect">
            <a:avLst/>
          </a:prstGeom>
          <a:noFill/>
        </p:spPr>
        <p:txBody>
          <a:bodyPr wrap="none">
            <a:spAutoFit/>
          </a:bodyPr>
          <a:lstStyle/>
          <a:p>
            <a:r>
              <a:rPr sz="2700" b="1">
                <a:solidFill>
                  <a:srgbClr val="0F3F6F"/>
                </a:solidFill>
                <a:latin typeface="Aptos Narrow"/>
              </a:rPr>
              <a:t>Volume và Velocity trong bối cảnh công nghiệp</a:t>
            </a:r>
          </a:p>
        </p:txBody>
      </p:sp>
      <p:sp>
        <p:nvSpPr>
          <p:cNvPr id="7" name="TextBox 6"/>
          <p:cNvSpPr txBox="1"/>
          <p:nvPr/>
        </p:nvSpPr>
        <p:spPr>
          <a:xfrm>
            <a:off x="11475720" y="6492240"/>
            <a:ext cx="384048" cy="182880"/>
          </a:xfrm>
          <a:prstGeom prst="rect">
            <a:avLst/>
          </a:prstGeom>
          <a:noFill/>
        </p:spPr>
        <p:txBody>
          <a:bodyPr wrap="none">
            <a:spAutoFit/>
          </a:bodyPr>
          <a:lstStyle/>
          <a:p>
            <a:pPr algn="r"/>
            <a:r>
              <a:rPr sz="800">
                <a:solidFill>
                  <a:srgbClr val="5F5F5F"/>
                </a:solidFill>
                <a:latin typeface="Aptos"/>
              </a:rPr>
              <a:t>13</a:t>
            </a:r>
          </a:p>
        </p:txBody>
      </p:sp>
      <p:sp>
        <p:nvSpPr>
          <p:cNvPr id="8" name="TextBox 7"/>
          <p:cNvSpPr txBox="1"/>
          <p:nvPr/>
        </p:nvSpPr>
        <p:spPr>
          <a:xfrm>
            <a:off x="749808" y="987552"/>
            <a:ext cx="10607040" cy="320040"/>
          </a:xfrm>
          <a:prstGeom prst="rect">
            <a:avLst/>
          </a:prstGeom>
          <a:noFill/>
        </p:spPr>
        <p:txBody>
          <a:bodyPr wrap="none">
            <a:spAutoFit/>
          </a:bodyPr>
          <a:lstStyle/>
          <a:p>
            <a:r>
              <a:rPr sz="1300" i="1">
                <a:solidFill>
                  <a:srgbClr val="0F3F6F"/>
                </a:solidFill>
                <a:latin typeface="Aptos"/>
              </a:rPr>
              <a:t>Hai chữ V đầu tiên thường là lý do trực tiếp khiến doanh nghiệp phải thay đổi kiến trúc hệ thống.</a:t>
            </a:r>
          </a:p>
        </p:txBody>
      </p:sp>
      <p:sp>
        <p:nvSpPr>
          <p:cNvPr id="9" name="Rounded Rectangle 8"/>
          <p:cNvSpPr/>
          <p:nvPr/>
        </p:nvSpPr>
        <p:spPr>
          <a:xfrm>
            <a:off x="548640" y="1508760"/>
            <a:ext cx="3154680" cy="4343400"/>
          </a:xfrm>
          <a:prstGeom prst="roundRect">
            <a:avLst/>
          </a:prstGeom>
          <a:solidFill>
            <a:srgbClr val="E7EEF5"/>
          </a:solidFill>
          <a:ln>
            <a:solidFill>
              <a:srgbClr val="D7DD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85800" y="1691640"/>
            <a:ext cx="2880360" cy="457200"/>
          </a:xfrm>
          <a:prstGeom prst="rect">
            <a:avLst/>
          </a:prstGeom>
          <a:noFill/>
        </p:spPr>
        <p:txBody>
          <a:bodyPr wrap="none">
            <a:spAutoFit/>
          </a:bodyPr>
          <a:lstStyle/>
          <a:p>
            <a:r>
              <a:rPr sz="2000" b="1">
                <a:solidFill>
                  <a:srgbClr val="0F3F6F"/>
                </a:solidFill>
                <a:latin typeface="Aptos Narrow"/>
              </a:rPr>
              <a:t>Volume</a:t>
            </a:r>
          </a:p>
        </p:txBody>
      </p:sp>
      <p:sp>
        <p:nvSpPr>
          <p:cNvPr id="11" name="TextBox 10"/>
          <p:cNvSpPr txBox="1"/>
          <p:nvPr/>
        </p:nvSpPr>
        <p:spPr>
          <a:xfrm>
            <a:off x="713232" y="2148840"/>
            <a:ext cx="2788920" cy="3429000"/>
          </a:xfrm>
          <a:prstGeom prst="rect">
            <a:avLst/>
          </a:prstGeom>
          <a:noFill/>
        </p:spPr>
        <p:txBody>
          <a:bodyPr wrap="square">
            <a:spAutoFit/>
          </a:bodyPr>
          <a:lstStyle/>
          <a:p>
            <a:pPr>
              <a:spcAft>
                <a:spcPts val="500"/>
              </a:spcAft>
            </a:pPr>
            <a:r>
              <a:rPr sz="1550">
                <a:solidFill>
                  <a:srgbClr val="435266"/>
                </a:solidFill>
                <a:latin typeface="Aptos"/>
              </a:rPr>
              <a:t>• Hàng triệu bản ghi cảm biến/ngày.</a:t>
            </a:r>
          </a:p>
          <a:p>
            <a:pPr>
              <a:spcAft>
                <a:spcPts val="500"/>
              </a:spcAft>
            </a:pPr>
            <a:r>
              <a:rPr sz="1550">
                <a:solidFill>
                  <a:srgbClr val="435266"/>
                </a:solidFill>
                <a:latin typeface="Aptos"/>
              </a:rPr>
              <a:t>• Ảnh camera chất lượng cao lưu trữ liên tục.</a:t>
            </a:r>
          </a:p>
          <a:p>
            <a:pPr>
              <a:spcAft>
                <a:spcPts val="500"/>
              </a:spcAft>
            </a:pPr>
            <a:r>
              <a:rPr sz="1550">
                <a:solidFill>
                  <a:srgbClr val="435266"/>
                </a:solidFill>
                <a:latin typeface="Aptos"/>
              </a:rPr>
              <a:t>• Dữ liệu lịch sử máy móc nhiều năm để phân tích xu hướng.</a:t>
            </a:r>
          </a:p>
        </p:txBody>
      </p:sp>
      <p:sp>
        <p:nvSpPr>
          <p:cNvPr id="12" name="Rounded Rectangle 11"/>
          <p:cNvSpPr/>
          <p:nvPr/>
        </p:nvSpPr>
        <p:spPr>
          <a:xfrm>
            <a:off x="4050791" y="1508760"/>
            <a:ext cx="3154680" cy="4343400"/>
          </a:xfrm>
          <a:prstGeom prst="roundRect">
            <a:avLst/>
          </a:prstGeom>
          <a:solidFill>
            <a:srgbClr val="E9F3D6"/>
          </a:solidFill>
          <a:ln>
            <a:solidFill>
              <a:srgbClr val="D7DD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187952" y="1691640"/>
            <a:ext cx="2880360" cy="457200"/>
          </a:xfrm>
          <a:prstGeom prst="rect">
            <a:avLst/>
          </a:prstGeom>
          <a:noFill/>
        </p:spPr>
        <p:txBody>
          <a:bodyPr wrap="none">
            <a:spAutoFit/>
          </a:bodyPr>
          <a:lstStyle/>
          <a:p>
            <a:r>
              <a:rPr sz="2000" b="1">
                <a:solidFill>
                  <a:srgbClr val="0F3F6F"/>
                </a:solidFill>
                <a:latin typeface="Aptos Narrow"/>
              </a:rPr>
              <a:t>Velocity</a:t>
            </a:r>
          </a:p>
        </p:txBody>
      </p:sp>
      <p:sp>
        <p:nvSpPr>
          <p:cNvPr id="14" name="TextBox 13"/>
          <p:cNvSpPr txBox="1"/>
          <p:nvPr/>
        </p:nvSpPr>
        <p:spPr>
          <a:xfrm>
            <a:off x="4215383" y="2148840"/>
            <a:ext cx="2788920" cy="3429000"/>
          </a:xfrm>
          <a:prstGeom prst="rect">
            <a:avLst/>
          </a:prstGeom>
          <a:noFill/>
        </p:spPr>
        <p:txBody>
          <a:bodyPr wrap="square">
            <a:spAutoFit/>
          </a:bodyPr>
          <a:lstStyle/>
          <a:p>
            <a:pPr>
              <a:spcAft>
                <a:spcPts val="500"/>
              </a:spcAft>
            </a:pPr>
            <a:r>
              <a:rPr sz="1550">
                <a:solidFill>
                  <a:srgbClr val="435266"/>
                </a:solidFill>
                <a:latin typeface="Aptos"/>
              </a:rPr>
              <a:t>• Cảm biến gửi dữ liệu theo giây hoặc mili giây.</a:t>
            </a:r>
          </a:p>
          <a:p>
            <a:pPr>
              <a:spcAft>
                <a:spcPts val="500"/>
              </a:spcAft>
            </a:pPr>
            <a:r>
              <a:rPr sz="1550">
                <a:solidFill>
                  <a:srgbClr val="435266"/>
                </a:solidFill>
                <a:latin typeface="Aptos"/>
              </a:rPr>
              <a:t>• Cảnh báo nhiệt độ/rung động cần phản ứng ngay.</a:t>
            </a:r>
          </a:p>
          <a:p>
            <a:pPr>
              <a:spcAft>
                <a:spcPts val="500"/>
              </a:spcAft>
            </a:pPr>
            <a:r>
              <a:rPr sz="1550">
                <a:solidFill>
                  <a:srgbClr val="435266"/>
                </a:solidFill>
                <a:latin typeface="Aptos"/>
              </a:rPr>
              <a:t>• Dữ liệu streaming phục vụ dashboard real-time.</a:t>
            </a:r>
          </a:p>
        </p:txBody>
      </p:sp>
      <p:sp>
        <p:nvSpPr>
          <p:cNvPr id="15" name="Rounded Rectangle 14"/>
          <p:cNvSpPr/>
          <p:nvPr/>
        </p:nvSpPr>
        <p:spPr>
          <a:xfrm>
            <a:off x="7552944" y="1508760"/>
            <a:ext cx="3154680" cy="4343400"/>
          </a:xfrm>
          <a:prstGeom prst="roundRect">
            <a:avLst/>
          </a:prstGeom>
          <a:solidFill>
            <a:srgbClr val="F0F4F7"/>
          </a:solidFill>
          <a:ln>
            <a:solidFill>
              <a:srgbClr val="D7DD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690104" y="1691640"/>
            <a:ext cx="2880360" cy="457200"/>
          </a:xfrm>
          <a:prstGeom prst="rect">
            <a:avLst/>
          </a:prstGeom>
          <a:noFill/>
        </p:spPr>
        <p:txBody>
          <a:bodyPr wrap="none">
            <a:spAutoFit/>
          </a:bodyPr>
          <a:lstStyle/>
          <a:p>
            <a:r>
              <a:rPr sz="2000" b="1">
                <a:solidFill>
                  <a:srgbClr val="0F3F6F"/>
                </a:solidFill>
                <a:latin typeface="Aptos Narrow"/>
              </a:rPr>
              <a:t>Ý nghĩa kỹ thuật</a:t>
            </a:r>
          </a:p>
        </p:txBody>
      </p:sp>
      <p:sp>
        <p:nvSpPr>
          <p:cNvPr id="17" name="TextBox 16"/>
          <p:cNvSpPr txBox="1"/>
          <p:nvPr/>
        </p:nvSpPr>
        <p:spPr>
          <a:xfrm>
            <a:off x="7717536" y="2148840"/>
            <a:ext cx="2788920" cy="3429000"/>
          </a:xfrm>
          <a:prstGeom prst="rect">
            <a:avLst/>
          </a:prstGeom>
          <a:noFill/>
        </p:spPr>
        <p:txBody>
          <a:bodyPr wrap="square">
            <a:spAutoFit/>
          </a:bodyPr>
          <a:lstStyle/>
          <a:p>
            <a:pPr>
              <a:spcAft>
                <a:spcPts val="500"/>
              </a:spcAft>
            </a:pPr>
            <a:r>
              <a:rPr sz="1550">
                <a:solidFill>
                  <a:srgbClr val="435266"/>
                </a:solidFill>
                <a:latin typeface="Aptos"/>
              </a:rPr>
              <a:t>• Cần hệ thống lưu trữ phân tán.</a:t>
            </a:r>
          </a:p>
          <a:p>
            <a:pPr>
              <a:spcAft>
                <a:spcPts val="500"/>
              </a:spcAft>
            </a:pPr>
            <a:r>
              <a:rPr sz="1550">
                <a:solidFill>
                  <a:srgbClr val="435266"/>
                </a:solidFill>
                <a:latin typeface="Aptos"/>
              </a:rPr>
              <a:t>• Cần pipeline thu thập ổn định và nhanh.</a:t>
            </a:r>
          </a:p>
          <a:p>
            <a:pPr>
              <a:spcAft>
                <a:spcPts val="500"/>
              </a:spcAft>
            </a:pPr>
            <a:r>
              <a:rPr sz="1550">
                <a:solidFill>
                  <a:srgbClr val="435266"/>
                </a:solidFill>
                <a:latin typeface="Aptos"/>
              </a:rPr>
              <a:t>• Cần xử lý dòng dữ liệu thay vì chỉ batch.</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210312"/>
          </a:xfrm>
          <a:prstGeom prst="rect">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Parallelogram 2"/>
          <p:cNvSpPr/>
          <p:nvPr/>
        </p:nvSpPr>
        <p:spPr>
          <a:xfrm>
            <a:off x="8339327" y="0"/>
            <a:ext cx="640080" cy="210312"/>
          </a:xfrm>
          <a:prstGeom prst="parallelogram">
            <a:avLst/>
          </a:prstGeom>
          <a:solidFill>
            <a:srgbClr val="8497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Parallelogram 3"/>
          <p:cNvSpPr/>
          <p:nvPr/>
        </p:nvSpPr>
        <p:spPr>
          <a:xfrm>
            <a:off x="8732520" y="0"/>
            <a:ext cx="969264" cy="1005840"/>
          </a:xfrm>
          <a:prstGeom prst="parallelogram">
            <a:avLst/>
          </a:prstGeom>
          <a:solidFill>
            <a:srgbClr val="85B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Parallelogram 4"/>
          <p:cNvSpPr/>
          <p:nvPr/>
        </p:nvSpPr>
        <p:spPr>
          <a:xfrm>
            <a:off x="9747504" y="0"/>
            <a:ext cx="1005840" cy="1005840"/>
          </a:xfrm>
          <a:prstGeom prst="parallelogram">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30352" y="347472"/>
            <a:ext cx="8321040" cy="512064"/>
          </a:xfrm>
          <a:prstGeom prst="rect">
            <a:avLst/>
          </a:prstGeom>
          <a:noFill/>
        </p:spPr>
        <p:txBody>
          <a:bodyPr wrap="none">
            <a:spAutoFit/>
          </a:bodyPr>
          <a:lstStyle/>
          <a:p>
            <a:r>
              <a:rPr sz="2700" b="1">
                <a:solidFill>
                  <a:srgbClr val="0F3F6F"/>
                </a:solidFill>
                <a:latin typeface="Aptos Narrow"/>
              </a:rPr>
              <a:t>Variety, Veracity và Value</a:t>
            </a:r>
          </a:p>
        </p:txBody>
      </p:sp>
      <p:sp>
        <p:nvSpPr>
          <p:cNvPr id="7" name="TextBox 6"/>
          <p:cNvSpPr txBox="1"/>
          <p:nvPr/>
        </p:nvSpPr>
        <p:spPr>
          <a:xfrm>
            <a:off x="11475720" y="6492240"/>
            <a:ext cx="384048" cy="182880"/>
          </a:xfrm>
          <a:prstGeom prst="rect">
            <a:avLst/>
          </a:prstGeom>
          <a:noFill/>
        </p:spPr>
        <p:txBody>
          <a:bodyPr wrap="none">
            <a:spAutoFit/>
          </a:bodyPr>
          <a:lstStyle/>
          <a:p>
            <a:pPr algn="r"/>
            <a:r>
              <a:rPr sz="800">
                <a:solidFill>
                  <a:srgbClr val="5F5F5F"/>
                </a:solidFill>
                <a:latin typeface="Aptos"/>
              </a:rPr>
              <a:t>14</a:t>
            </a:r>
          </a:p>
        </p:txBody>
      </p:sp>
      <p:sp>
        <p:nvSpPr>
          <p:cNvPr id="8" name="TextBox 7"/>
          <p:cNvSpPr txBox="1"/>
          <p:nvPr/>
        </p:nvSpPr>
        <p:spPr>
          <a:xfrm>
            <a:off x="749808" y="987552"/>
            <a:ext cx="10607040" cy="320040"/>
          </a:xfrm>
          <a:prstGeom prst="rect">
            <a:avLst/>
          </a:prstGeom>
          <a:noFill/>
        </p:spPr>
        <p:txBody>
          <a:bodyPr wrap="none">
            <a:spAutoFit/>
          </a:bodyPr>
          <a:lstStyle/>
          <a:p>
            <a:r>
              <a:rPr sz="1300" i="1">
                <a:solidFill>
                  <a:srgbClr val="0F3F6F"/>
                </a:solidFill>
                <a:latin typeface="Aptos"/>
              </a:rPr>
              <a:t>Trong đào tạo nhập môn, Value là chữ V quan trọng nhất vì nó gắn Big Data với lợi ích doanh nghiệp.</a:t>
            </a:r>
          </a:p>
        </p:txBody>
      </p:sp>
      <p:sp>
        <p:nvSpPr>
          <p:cNvPr id="9" name="Rounded Rectangle 8"/>
          <p:cNvSpPr/>
          <p:nvPr/>
        </p:nvSpPr>
        <p:spPr>
          <a:xfrm>
            <a:off x="548640" y="1508760"/>
            <a:ext cx="3154680" cy="4343400"/>
          </a:xfrm>
          <a:prstGeom prst="roundRect">
            <a:avLst/>
          </a:prstGeom>
          <a:solidFill>
            <a:srgbClr val="E7EEF5"/>
          </a:solidFill>
          <a:ln>
            <a:solidFill>
              <a:srgbClr val="D7DD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85800" y="1691640"/>
            <a:ext cx="2880360" cy="457200"/>
          </a:xfrm>
          <a:prstGeom prst="rect">
            <a:avLst/>
          </a:prstGeom>
          <a:noFill/>
        </p:spPr>
        <p:txBody>
          <a:bodyPr wrap="none">
            <a:spAutoFit/>
          </a:bodyPr>
          <a:lstStyle/>
          <a:p>
            <a:r>
              <a:rPr sz="2000" b="1">
                <a:solidFill>
                  <a:srgbClr val="0F3F6F"/>
                </a:solidFill>
                <a:latin typeface="Aptos Narrow"/>
              </a:rPr>
              <a:t>Variety</a:t>
            </a:r>
          </a:p>
        </p:txBody>
      </p:sp>
      <p:sp>
        <p:nvSpPr>
          <p:cNvPr id="11" name="TextBox 10"/>
          <p:cNvSpPr txBox="1"/>
          <p:nvPr/>
        </p:nvSpPr>
        <p:spPr>
          <a:xfrm>
            <a:off x="713232" y="2148840"/>
            <a:ext cx="2788920" cy="3429000"/>
          </a:xfrm>
          <a:prstGeom prst="rect">
            <a:avLst/>
          </a:prstGeom>
          <a:noFill/>
        </p:spPr>
        <p:txBody>
          <a:bodyPr wrap="square">
            <a:spAutoFit/>
          </a:bodyPr>
          <a:lstStyle/>
          <a:p>
            <a:pPr>
              <a:spcAft>
                <a:spcPts val="500"/>
              </a:spcAft>
            </a:pPr>
            <a:r>
              <a:rPr sz="1550">
                <a:solidFill>
                  <a:srgbClr val="435266"/>
                </a:solidFill>
                <a:latin typeface="Aptos"/>
              </a:rPr>
              <a:t>• Nhiều định dạng và nhiều nguồn dữ liệu.</a:t>
            </a:r>
          </a:p>
          <a:p>
            <a:pPr>
              <a:spcAft>
                <a:spcPts val="500"/>
              </a:spcAft>
            </a:pPr>
            <a:r>
              <a:rPr sz="1550">
                <a:solidFill>
                  <a:srgbClr val="435266"/>
                </a:solidFill>
                <a:latin typeface="Aptos"/>
              </a:rPr>
              <a:t>• Cần tích hợp dữ liệu máy, người và hệ thống quản trị.</a:t>
            </a:r>
          </a:p>
        </p:txBody>
      </p:sp>
      <p:sp>
        <p:nvSpPr>
          <p:cNvPr id="12" name="Rounded Rectangle 11"/>
          <p:cNvSpPr/>
          <p:nvPr/>
        </p:nvSpPr>
        <p:spPr>
          <a:xfrm>
            <a:off x="4050791" y="1508760"/>
            <a:ext cx="3154680" cy="4343400"/>
          </a:xfrm>
          <a:prstGeom prst="roundRect">
            <a:avLst/>
          </a:prstGeom>
          <a:solidFill>
            <a:srgbClr val="E9F3D6"/>
          </a:solidFill>
          <a:ln>
            <a:solidFill>
              <a:srgbClr val="D7DD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187952" y="1691640"/>
            <a:ext cx="2880360" cy="457200"/>
          </a:xfrm>
          <a:prstGeom prst="rect">
            <a:avLst/>
          </a:prstGeom>
          <a:noFill/>
        </p:spPr>
        <p:txBody>
          <a:bodyPr wrap="none">
            <a:spAutoFit/>
          </a:bodyPr>
          <a:lstStyle/>
          <a:p>
            <a:r>
              <a:rPr sz="2000" b="1">
                <a:solidFill>
                  <a:srgbClr val="0F3F6F"/>
                </a:solidFill>
                <a:latin typeface="Aptos Narrow"/>
              </a:rPr>
              <a:t>Veracity</a:t>
            </a:r>
          </a:p>
        </p:txBody>
      </p:sp>
      <p:sp>
        <p:nvSpPr>
          <p:cNvPr id="14" name="TextBox 13"/>
          <p:cNvSpPr txBox="1"/>
          <p:nvPr/>
        </p:nvSpPr>
        <p:spPr>
          <a:xfrm>
            <a:off x="4215383" y="2148840"/>
            <a:ext cx="2788920" cy="3429000"/>
          </a:xfrm>
          <a:prstGeom prst="rect">
            <a:avLst/>
          </a:prstGeom>
          <a:noFill/>
        </p:spPr>
        <p:txBody>
          <a:bodyPr wrap="square">
            <a:spAutoFit/>
          </a:bodyPr>
          <a:lstStyle/>
          <a:p>
            <a:pPr>
              <a:spcAft>
                <a:spcPts val="500"/>
              </a:spcAft>
            </a:pPr>
            <a:r>
              <a:rPr sz="1550">
                <a:solidFill>
                  <a:srgbClr val="435266"/>
                </a:solidFill>
                <a:latin typeface="Aptos"/>
              </a:rPr>
              <a:t>• Cảm biến lỗi, mất gói tin, sai đơn vị đo.</a:t>
            </a:r>
          </a:p>
          <a:p>
            <a:pPr>
              <a:spcAft>
                <a:spcPts val="500"/>
              </a:spcAft>
            </a:pPr>
            <a:r>
              <a:rPr sz="1550">
                <a:solidFill>
                  <a:srgbClr val="435266"/>
                </a:solidFill>
                <a:latin typeface="Aptos"/>
              </a:rPr>
              <a:t>• Dữ liệu bẩn có thể dẫn đến quyết định sai.</a:t>
            </a:r>
          </a:p>
        </p:txBody>
      </p:sp>
      <p:sp>
        <p:nvSpPr>
          <p:cNvPr id="15" name="Rounded Rectangle 14"/>
          <p:cNvSpPr/>
          <p:nvPr/>
        </p:nvSpPr>
        <p:spPr>
          <a:xfrm>
            <a:off x="7552944" y="1508760"/>
            <a:ext cx="3154680" cy="4343400"/>
          </a:xfrm>
          <a:prstGeom prst="roundRect">
            <a:avLst/>
          </a:prstGeom>
          <a:solidFill>
            <a:srgbClr val="F0F4F7"/>
          </a:solidFill>
          <a:ln>
            <a:solidFill>
              <a:srgbClr val="D7DD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690104" y="1691640"/>
            <a:ext cx="2880360" cy="457200"/>
          </a:xfrm>
          <a:prstGeom prst="rect">
            <a:avLst/>
          </a:prstGeom>
          <a:noFill/>
        </p:spPr>
        <p:txBody>
          <a:bodyPr wrap="none">
            <a:spAutoFit/>
          </a:bodyPr>
          <a:lstStyle/>
          <a:p>
            <a:r>
              <a:rPr sz="2000" b="1">
                <a:solidFill>
                  <a:srgbClr val="0F3F6F"/>
                </a:solidFill>
                <a:latin typeface="Aptos Narrow"/>
              </a:rPr>
              <a:t>Value</a:t>
            </a:r>
          </a:p>
        </p:txBody>
      </p:sp>
      <p:sp>
        <p:nvSpPr>
          <p:cNvPr id="17" name="TextBox 16"/>
          <p:cNvSpPr txBox="1"/>
          <p:nvPr/>
        </p:nvSpPr>
        <p:spPr>
          <a:xfrm>
            <a:off x="7717536" y="2148840"/>
            <a:ext cx="2788920" cy="3429000"/>
          </a:xfrm>
          <a:prstGeom prst="rect">
            <a:avLst/>
          </a:prstGeom>
          <a:noFill/>
        </p:spPr>
        <p:txBody>
          <a:bodyPr wrap="square">
            <a:spAutoFit/>
          </a:bodyPr>
          <a:lstStyle/>
          <a:p>
            <a:pPr>
              <a:spcAft>
                <a:spcPts val="500"/>
              </a:spcAft>
            </a:pPr>
            <a:r>
              <a:rPr sz="1550">
                <a:solidFill>
                  <a:srgbClr val="435266"/>
                </a:solidFill>
                <a:latin typeface="Aptos"/>
              </a:rPr>
              <a:t>• Mục tiêu cuối cùng là giảm lỗi, giảm downtime, tối ưu chi phí.</a:t>
            </a:r>
          </a:p>
          <a:p>
            <a:pPr>
              <a:spcAft>
                <a:spcPts val="500"/>
              </a:spcAft>
            </a:pPr>
            <a:r>
              <a:rPr sz="1550">
                <a:solidFill>
                  <a:srgbClr val="435266"/>
                </a:solidFill>
                <a:latin typeface="Aptos"/>
              </a:rPr>
              <a:t>• Không phải cứ nhiều dữ liệu là có giá trị nếu không tạo được insight.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210312"/>
          </a:xfrm>
          <a:prstGeom prst="rect">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Parallelogram 2"/>
          <p:cNvSpPr/>
          <p:nvPr/>
        </p:nvSpPr>
        <p:spPr>
          <a:xfrm>
            <a:off x="8339327" y="0"/>
            <a:ext cx="640080" cy="210312"/>
          </a:xfrm>
          <a:prstGeom prst="parallelogram">
            <a:avLst/>
          </a:prstGeom>
          <a:solidFill>
            <a:srgbClr val="8497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Parallelogram 3"/>
          <p:cNvSpPr/>
          <p:nvPr/>
        </p:nvSpPr>
        <p:spPr>
          <a:xfrm>
            <a:off x="8732520" y="0"/>
            <a:ext cx="969264" cy="1005840"/>
          </a:xfrm>
          <a:prstGeom prst="parallelogram">
            <a:avLst/>
          </a:prstGeom>
          <a:solidFill>
            <a:srgbClr val="85B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Parallelogram 4"/>
          <p:cNvSpPr/>
          <p:nvPr/>
        </p:nvSpPr>
        <p:spPr>
          <a:xfrm>
            <a:off x="9747504" y="0"/>
            <a:ext cx="1005840" cy="1005840"/>
          </a:xfrm>
          <a:prstGeom prst="parallelogram">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30352" y="347472"/>
            <a:ext cx="8321040" cy="512064"/>
          </a:xfrm>
          <a:prstGeom prst="rect">
            <a:avLst/>
          </a:prstGeom>
          <a:noFill/>
        </p:spPr>
        <p:txBody>
          <a:bodyPr wrap="none">
            <a:spAutoFit/>
          </a:bodyPr>
          <a:lstStyle/>
          <a:p>
            <a:r>
              <a:rPr sz="2700" b="1">
                <a:solidFill>
                  <a:srgbClr val="0F3F6F"/>
                </a:solidFill>
                <a:latin typeface="Aptos Narrow"/>
              </a:rPr>
              <a:t>5V trong bối cảnh công nghiệp sản xuất</a:t>
            </a:r>
          </a:p>
        </p:txBody>
      </p:sp>
      <p:sp>
        <p:nvSpPr>
          <p:cNvPr id="7" name="TextBox 6"/>
          <p:cNvSpPr txBox="1"/>
          <p:nvPr/>
        </p:nvSpPr>
        <p:spPr>
          <a:xfrm>
            <a:off x="11475720" y="6492240"/>
            <a:ext cx="384048" cy="182880"/>
          </a:xfrm>
          <a:prstGeom prst="rect">
            <a:avLst/>
          </a:prstGeom>
          <a:noFill/>
        </p:spPr>
        <p:txBody>
          <a:bodyPr wrap="none">
            <a:spAutoFit/>
          </a:bodyPr>
          <a:lstStyle/>
          <a:p>
            <a:pPr algn="r"/>
            <a:r>
              <a:rPr sz="800">
                <a:solidFill>
                  <a:srgbClr val="5F5F5F"/>
                </a:solidFill>
                <a:latin typeface="Aptos"/>
              </a:rPr>
              <a:t>15</a:t>
            </a:r>
          </a:p>
        </p:txBody>
      </p:sp>
      <p:pic>
        <p:nvPicPr>
          <p:cNvPr id="8" name="Picture 7" descr="body-11.png"/>
          <p:cNvPicPr>
            <a:picLocks noChangeAspect="1"/>
          </p:cNvPicPr>
          <p:nvPr/>
        </p:nvPicPr>
        <p:blipFill>
          <a:blip r:embed="rId2"/>
          <a:stretch>
            <a:fillRect/>
          </a:stretch>
        </p:blipFill>
        <p:spPr>
          <a:xfrm>
            <a:off x="1397186" y="969264"/>
            <a:ext cx="9083683" cy="5605272"/>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210312"/>
          </a:xfrm>
          <a:prstGeom prst="rect">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Parallelogram 2"/>
          <p:cNvSpPr/>
          <p:nvPr/>
        </p:nvSpPr>
        <p:spPr>
          <a:xfrm>
            <a:off x="8339327" y="0"/>
            <a:ext cx="640080" cy="210312"/>
          </a:xfrm>
          <a:prstGeom prst="parallelogram">
            <a:avLst/>
          </a:prstGeom>
          <a:solidFill>
            <a:srgbClr val="8497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Parallelogram 3"/>
          <p:cNvSpPr/>
          <p:nvPr/>
        </p:nvSpPr>
        <p:spPr>
          <a:xfrm>
            <a:off x="8732520" y="0"/>
            <a:ext cx="969264" cy="1005840"/>
          </a:xfrm>
          <a:prstGeom prst="parallelogram">
            <a:avLst/>
          </a:prstGeom>
          <a:solidFill>
            <a:srgbClr val="85B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Parallelogram 4"/>
          <p:cNvSpPr/>
          <p:nvPr/>
        </p:nvSpPr>
        <p:spPr>
          <a:xfrm>
            <a:off x="9747504" y="0"/>
            <a:ext cx="1005840" cy="1005840"/>
          </a:xfrm>
          <a:prstGeom prst="parallelogram">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30352" y="347472"/>
            <a:ext cx="8321040" cy="512064"/>
          </a:xfrm>
          <a:prstGeom prst="rect">
            <a:avLst/>
          </a:prstGeom>
          <a:noFill/>
        </p:spPr>
        <p:txBody>
          <a:bodyPr wrap="none">
            <a:spAutoFit/>
          </a:bodyPr>
          <a:lstStyle/>
          <a:p>
            <a:r>
              <a:rPr sz="2700" b="1">
                <a:solidFill>
                  <a:srgbClr val="0F3F6F"/>
                </a:solidFill>
                <a:latin typeface="Aptos Narrow"/>
              </a:rPr>
              <a:t>Góc nhìn mở rộng: từ 5V đến 7V</a:t>
            </a:r>
          </a:p>
        </p:txBody>
      </p:sp>
      <p:sp>
        <p:nvSpPr>
          <p:cNvPr id="7" name="TextBox 6"/>
          <p:cNvSpPr txBox="1"/>
          <p:nvPr/>
        </p:nvSpPr>
        <p:spPr>
          <a:xfrm>
            <a:off x="11475720" y="6492240"/>
            <a:ext cx="384048" cy="182880"/>
          </a:xfrm>
          <a:prstGeom prst="rect">
            <a:avLst/>
          </a:prstGeom>
          <a:noFill/>
        </p:spPr>
        <p:txBody>
          <a:bodyPr wrap="none">
            <a:spAutoFit/>
          </a:bodyPr>
          <a:lstStyle/>
          <a:p>
            <a:pPr algn="r"/>
            <a:r>
              <a:rPr sz="800">
                <a:solidFill>
                  <a:srgbClr val="5F5F5F"/>
                </a:solidFill>
                <a:latin typeface="Aptos"/>
              </a:rPr>
              <a:t>16</a:t>
            </a:r>
          </a:p>
        </p:txBody>
      </p:sp>
      <p:pic>
        <p:nvPicPr>
          <p:cNvPr id="8" name="Picture 7" descr="body-12.png"/>
          <p:cNvPicPr>
            <a:picLocks noChangeAspect="1"/>
          </p:cNvPicPr>
          <p:nvPr/>
        </p:nvPicPr>
        <p:blipFill>
          <a:blip r:embed="rId2"/>
          <a:stretch>
            <a:fillRect/>
          </a:stretch>
        </p:blipFill>
        <p:spPr>
          <a:xfrm>
            <a:off x="1397186" y="969264"/>
            <a:ext cx="9083683" cy="5605272"/>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210312"/>
          </a:xfrm>
          <a:prstGeom prst="rect">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Parallelogram 2"/>
          <p:cNvSpPr/>
          <p:nvPr/>
        </p:nvSpPr>
        <p:spPr>
          <a:xfrm>
            <a:off x="8339327" y="0"/>
            <a:ext cx="640080" cy="210312"/>
          </a:xfrm>
          <a:prstGeom prst="parallelogram">
            <a:avLst/>
          </a:prstGeom>
          <a:solidFill>
            <a:srgbClr val="8497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Parallelogram 3"/>
          <p:cNvSpPr/>
          <p:nvPr/>
        </p:nvSpPr>
        <p:spPr>
          <a:xfrm>
            <a:off x="8732520" y="0"/>
            <a:ext cx="969264" cy="1005840"/>
          </a:xfrm>
          <a:prstGeom prst="parallelogram">
            <a:avLst/>
          </a:prstGeom>
          <a:solidFill>
            <a:srgbClr val="85B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Parallelogram 4"/>
          <p:cNvSpPr/>
          <p:nvPr/>
        </p:nvSpPr>
        <p:spPr>
          <a:xfrm>
            <a:off x="9747504" y="0"/>
            <a:ext cx="1005840" cy="1005840"/>
          </a:xfrm>
          <a:prstGeom prst="parallelogram">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8368" y="1389888"/>
            <a:ext cx="2743200" cy="411480"/>
          </a:xfrm>
          <a:prstGeom prst="rect">
            <a:avLst/>
          </a:prstGeom>
          <a:noFill/>
        </p:spPr>
        <p:txBody>
          <a:bodyPr wrap="none">
            <a:spAutoFit/>
          </a:bodyPr>
          <a:lstStyle/>
          <a:p>
            <a:r>
              <a:rPr sz="2200" b="1">
                <a:solidFill>
                  <a:srgbClr val="85B518"/>
                </a:solidFill>
                <a:latin typeface="Aptos Narrow"/>
              </a:rPr>
              <a:t>PHẦN 1.3</a:t>
            </a:r>
          </a:p>
        </p:txBody>
      </p:sp>
      <p:sp>
        <p:nvSpPr>
          <p:cNvPr id="7" name="TextBox 6"/>
          <p:cNvSpPr txBox="1"/>
          <p:nvPr/>
        </p:nvSpPr>
        <p:spPr>
          <a:xfrm>
            <a:off x="658368" y="2011680"/>
            <a:ext cx="10241280" cy="1325880"/>
          </a:xfrm>
          <a:prstGeom prst="rect">
            <a:avLst/>
          </a:prstGeom>
          <a:noFill/>
        </p:spPr>
        <p:txBody>
          <a:bodyPr wrap="none">
            <a:spAutoFit/>
          </a:bodyPr>
          <a:lstStyle/>
          <a:p>
            <a:r>
              <a:rPr sz="3700" b="1">
                <a:solidFill>
                  <a:srgbClr val="0F3F6F"/>
                </a:solidFill>
                <a:latin typeface="Aptos Narrow"/>
              </a:rPr>
              <a:t>Kiến trúc hệ thống Big Data</a:t>
            </a:r>
          </a:p>
        </p:txBody>
      </p:sp>
      <p:sp>
        <p:nvSpPr>
          <p:cNvPr id="8" name="TextBox 7"/>
          <p:cNvSpPr txBox="1"/>
          <p:nvPr/>
        </p:nvSpPr>
        <p:spPr>
          <a:xfrm>
            <a:off x="685800" y="3364992"/>
            <a:ext cx="10012680" cy="914400"/>
          </a:xfrm>
          <a:prstGeom prst="rect">
            <a:avLst/>
          </a:prstGeom>
          <a:noFill/>
        </p:spPr>
        <p:txBody>
          <a:bodyPr wrap="none">
            <a:spAutoFit/>
          </a:bodyPr>
          <a:lstStyle/>
          <a:p>
            <a:r>
              <a:rPr sz="1800">
                <a:solidFill>
                  <a:srgbClr val="435266"/>
                </a:solidFill>
                <a:latin typeface="Aptos"/>
              </a:rPr>
              <a:t>Pipeline tổng quan, hệ sinh thái công nghệ và các mẫu kiến trúc phổ biến</a:t>
            </a:r>
          </a:p>
        </p:txBody>
      </p:sp>
      <p:sp>
        <p:nvSpPr>
          <p:cNvPr id="9" name="Rectangle 8"/>
          <p:cNvSpPr/>
          <p:nvPr/>
        </p:nvSpPr>
        <p:spPr>
          <a:xfrm>
            <a:off x="685800" y="4974336"/>
            <a:ext cx="5212080" cy="50292"/>
          </a:xfrm>
          <a:prstGeom prst="rect">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016752" y="4974336"/>
            <a:ext cx="1143000" cy="50292"/>
          </a:xfrm>
          <a:prstGeom prst="rect">
            <a:avLst/>
          </a:prstGeom>
          <a:solidFill>
            <a:srgbClr val="85B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1475720" y="6492240"/>
            <a:ext cx="384048" cy="182880"/>
          </a:xfrm>
          <a:prstGeom prst="rect">
            <a:avLst/>
          </a:prstGeom>
          <a:noFill/>
        </p:spPr>
        <p:txBody>
          <a:bodyPr wrap="none">
            <a:spAutoFit/>
          </a:bodyPr>
          <a:lstStyle/>
          <a:p>
            <a:pPr algn="r"/>
            <a:r>
              <a:rPr sz="800">
                <a:solidFill>
                  <a:srgbClr val="5F5F5F"/>
                </a:solidFill>
                <a:latin typeface="Aptos"/>
              </a:rPr>
              <a:t>17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210312"/>
          </a:xfrm>
          <a:prstGeom prst="rect">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Parallelogram 2"/>
          <p:cNvSpPr/>
          <p:nvPr/>
        </p:nvSpPr>
        <p:spPr>
          <a:xfrm>
            <a:off x="8339327" y="0"/>
            <a:ext cx="640080" cy="210312"/>
          </a:xfrm>
          <a:prstGeom prst="parallelogram">
            <a:avLst/>
          </a:prstGeom>
          <a:solidFill>
            <a:srgbClr val="8497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Parallelogram 3"/>
          <p:cNvSpPr/>
          <p:nvPr/>
        </p:nvSpPr>
        <p:spPr>
          <a:xfrm>
            <a:off x="8732520" y="0"/>
            <a:ext cx="969264" cy="1005840"/>
          </a:xfrm>
          <a:prstGeom prst="parallelogram">
            <a:avLst/>
          </a:prstGeom>
          <a:solidFill>
            <a:srgbClr val="85B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Parallelogram 4"/>
          <p:cNvSpPr/>
          <p:nvPr/>
        </p:nvSpPr>
        <p:spPr>
          <a:xfrm>
            <a:off x="9747504" y="0"/>
            <a:ext cx="1005840" cy="1005840"/>
          </a:xfrm>
          <a:prstGeom prst="parallelogram">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30352" y="347472"/>
            <a:ext cx="8321040" cy="512064"/>
          </a:xfrm>
          <a:prstGeom prst="rect">
            <a:avLst/>
          </a:prstGeom>
          <a:noFill/>
        </p:spPr>
        <p:txBody>
          <a:bodyPr wrap="none">
            <a:spAutoFit/>
          </a:bodyPr>
          <a:lstStyle/>
          <a:p>
            <a:r>
              <a:rPr sz="2700" b="1">
                <a:solidFill>
                  <a:srgbClr val="0F3F6F"/>
                </a:solidFill>
                <a:latin typeface="Aptos Narrow"/>
              </a:rPr>
              <a:t>Kiến trúc tổng quan hệ thống Big Data</a:t>
            </a:r>
          </a:p>
        </p:txBody>
      </p:sp>
      <p:sp>
        <p:nvSpPr>
          <p:cNvPr id="7" name="TextBox 6"/>
          <p:cNvSpPr txBox="1"/>
          <p:nvPr/>
        </p:nvSpPr>
        <p:spPr>
          <a:xfrm>
            <a:off x="11475720" y="6492240"/>
            <a:ext cx="384048" cy="182880"/>
          </a:xfrm>
          <a:prstGeom prst="rect">
            <a:avLst/>
          </a:prstGeom>
          <a:noFill/>
        </p:spPr>
        <p:txBody>
          <a:bodyPr wrap="none">
            <a:spAutoFit/>
          </a:bodyPr>
          <a:lstStyle/>
          <a:p>
            <a:pPr algn="r"/>
            <a:r>
              <a:rPr sz="800">
                <a:solidFill>
                  <a:srgbClr val="5F5F5F"/>
                </a:solidFill>
                <a:latin typeface="Aptos"/>
              </a:rPr>
              <a:t>18</a:t>
            </a:r>
          </a:p>
        </p:txBody>
      </p:sp>
      <p:pic>
        <p:nvPicPr>
          <p:cNvPr id="8" name="Picture 7" descr="body-14.png"/>
          <p:cNvPicPr>
            <a:picLocks noChangeAspect="1"/>
          </p:cNvPicPr>
          <p:nvPr/>
        </p:nvPicPr>
        <p:blipFill>
          <a:blip r:embed="rId2"/>
          <a:stretch>
            <a:fillRect/>
          </a:stretch>
        </p:blipFill>
        <p:spPr>
          <a:xfrm>
            <a:off x="1397186" y="969264"/>
            <a:ext cx="9083683" cy="5605272"/>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210312"/>
          </a:xfrm>
          <a:prstGeom prst="rect">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Parallelogram 2"/>
          <p:cNvSpPr/>
          <p:nvPr/>
        </p:nvSpPr>
        <p:spPr>
          <a:xfrm>
            <a:off x="8339327" y="0"/>
            <a:ext cx="640080" cy="210312"/>
          </a:xfrm>
          <a:prstGeom prst="parallelogram">
            <a:avLst/>
          </a:prstGeom>
          <a:solidFill>
            <a:srgbClr val="8497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Parallelogram 3"/>
          <p:cNvSpPr/>
          <p:nvPr/>
        </p:nvSpPr>
        <p:spPr>
          <a:xfrm>
            <a:off x="8732520" y="0"/>
            <a:ext cx="969264" cy="1005840"/>
          </a:xfrm>
          <a:prstGeom prst="parallelogram">
            <a:avLst/>
          </a:prstGeom>
          <a:solidFill>
            <a:srgbClr val="85B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Parallelogram 4"/>
          <p:cNvSpPr/>
          <p:nvPr/>
        </p:nvSpPr>
        <p:spPr>
          <a:xfrm>
            <a:off x="9747504" y="0"/>
            <a:ext cx="1005840" cy="1005840"/>
          </a:xfrm>
          <a:prstGeom prst="parallelogram">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30352" y="347472"/>
            <a:ext cx="8321040" cy="512064"/>
          </a:xfrm>
          <a:prstGeom prst="rect">
            <a:avLst/>
          </a:prstGeom>
          <a:noFill/>
        </p:spPr>
        <p:txBody>
          <a:bodyPr wrap="none">
            <a:spAutoFit/>
          </a:bodyPr>
          <a:lstStyle/>
          <a:p>
            <a:r>
              <a:rPr sz="2700" b="1">
                <a:solidFill>
                  <a:srgbClr val="0F3F6F"/>
                </a:solidFill>
                <a:latin typeface="Aptos Narrow"/>
              </a:rPr>
              <a:t>Tầng nguồn dữ liệu và Ingestion</a:t>
            </a:r>
          </a:p>
        </p:txBody>
      </p:sp>
      <p:sp>
        <p:nvSpPr>
          <p:cNvPr id="7" name="TextBox 6"/>
          <p:cNvSpPr txBox="1"/>
          <p:nvPr/>
        </p:nvSpPr>
        <p:spPr>
          <a:xfrm>
            <a:off x="11475720" y="6492240"/>
            <a:ext cx="384048" cy="182880"/>
          </a:xfrm>
          <a:prstGeom prst="rect">
            <a:avLst/>
          </a:prstGeom>
          <a:noFill/>
        </p:spPr>
        <p:txBody>
          <a:bodyPr wrap="none">
            <a:spAutoFit/>
          </a:bodyPr>
          <a:lstStyle/>
          <a:p>
            <a:pPr algn="r"/>
            <a:r>
              <a:rPr sz="800">
                <a:solidFill>
                  <a:srgbClr val="5F5F5F"/>
                </a:solidFill>
                <a:latin typeface="Aptos"/>
              </a:rPr>
              <a:t>19</a:t>
            </a:r>
          </a:p>
        </p:txBody>
      </p:sp>
      <p:sp>
        <p:nvSpPr>
          <p:cNvPr id="8" name="TextBox 7"/>
          <p:cNvSpPr txBox="1"/>
          <p:nvPr/>
        </p:nvSpPr>
        <p:spPr>
          <a:xfrm>
            <a:off x="777240" y="987552"/>
            <a:ext cx="10607040" cy="320040"/>
          </a:xfrm>
          <a:prstGeom prst="rect">
            <a:avLst/>
          </a:prstGeom>
          <a:noFill/>
        </p:spPr>
        <p:txBody>
          <a:bodyPr wrap="none">
            <a:spAutoFit/>
          </a:bodyPr>
          <a:lstStyle/>
          <a:p>
            <a:r>
              <a:rPr sz="1300" i="1">
                <a:solidFill>
                  <a:srgbClr val="0F3F6F"/>
                </a:solidFill>
                <a:latin typeface="Aptos"/>
              </a:rPr>
              <a:t>Ingestion đóng vai trò “cửa vào” của hệ thống Big Data — nếu thiết kế kém, toàn bộ pipeline phía sau đều bị ảnh hưởng.</a:t>
            </a:r>
          </a:p>
        </p:txBody>
      </p:sp>
      <p:sp>
        <p:nvSpPr>
          <p:cNvPr id="9" name="Rounded Rectangle 8"/>
          <p:cNvSpPr/>
          <p:nvPr/>
        </p:nvSpPr>
        <p:spPr>
          <a:xfrm>
            <a:off x="640080" y="1965960"/>
            <a:ext cx="2057400" cy="2468880"/>
          </a:xfrm>
          <a:prstGeom prst="roundRect">
            <a:avLst/>
          </a:prstGeom>
          <a:solidFill>
            <a:srgbClr val="E7EEF5"/>
          </a:solidFill>
          <a:ln>
            <a:solidFill>
              <a:srgbClr val="D6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49808" y="2130552"/>
            <a:ext cx="1837943" cy="402336"/>
          </a:xfrm>
          <a:prstGeom prst="rect">
            <a:avLst/>
          </a:prstGeom>
          <a:noFill/>
        </p:spPr>
        <p:txBody>
          <a:bodyPr wrap="none">
            <a:spAutoFit/>
          </a:bodyPr>
          <a:lstStyle/>
          <a:p>
            <a:r>
              <a:rPr sz="1800" b="1">
                <a:solidFill>
                  <a:srgbClr val="0F3F6F"/>
                </a:solidFill>
                <a:latin typeface="Aptos Narrow"/>
              </a:rPr>
              <a:t>Nguồn dữ liệu</a:t>
            </a:r>
          </a:p>
        </p:txBody>
      </p:sp>
      <p:sp>
        <p:nvSpPr>
          <p:cNvPr id="11" name="TextBox 10"/>
          <p:cNvSpPr txBox="1"/>
          <p:nvPr/>
        </p:nvSpPr>
        <p:spPr>
          <a:xfrm>
            <a:off x="749808" y="2532888"/>
            <a:ext cx="1837943" cy="1792224"/>
          </a:xfrm>
          <a:prstGeom prst="rect">
            <a:avLst/>
          </a:prstGeom>
          <a:noFill/>
        </p:spPr>
        <p:txBody>
          <a:bodyPr wrap="square">
            <a:spAutoFit/>
          </a:bodyPr>
          <a:lstStyle/>
          <a:p>
            <a:r>
              <a:rPr sz="1450">
                <a:solidFill>
                  <a:srgbClr val="435266"/>
                </a:solidFill>
                <a:latin typeface="Aptos"/>
              </a:rPr>
              <a:t>• Cảm biến IoT</a:t>
            </a:r>
          </a:p>
          <a:p>
            <a:r>
              <a:rPr sz="1450">
                <a:solidFill>
                  <a:srgbClr val="435266"/>
                </a:solidFill>
                <a:latin typeface="Aptos"/>
              </a:rPr>
              <a:t>• Máy CNC/PLC</a:t>
            </a:r>
          </a:p>
          <a:p>
            <a:r>
              <a:rPr sz="1450">
                <a:solidFill>
                  <a:srgbClr val="435266"/>
                </a:solidFill>
                <a:latin typeface="Aptos"/>
              </a:rPr>
              <a:t>• ERP/MES</a:t>
            </a:r>
          </a:p>
          <a:p>
            <a:r>
              <a:rPr sz="1450">
                <a:solidFill>
                  <a:srgbClr val="435266"/>
                </a:solidFill>
                <a:latin typeface="Aptos"/>
              </a:rPr>
              <a:t>• Camera/Log hệ thống</a:t>
            </a:r>
          </a:p>
        </p:txBody>
      </p:sp>
      <p:cxnSp>
        <p:nvCxnSpPr>
          <p:cNvPr id="12" name="Connector 11"/>
          <p:cNvCxnSpPr/>
          <p:nvPr/>
        </p:nvCxnSpPr>
        <p:spPr>
          <a:xfrm>
            <a:off x="2697480" y="3200400"/>
            <a:ext cx="566928" cy="0"/>
          </a:xfrm>
          <a:prstGeom prst="line">
            <a:avLst/>
          </a:prstGeom>
          <a:ln w="25400">
            <a:solidFill>
              <a:srgbClr val="0F3F6F"/>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355848" y="1965960"/>
            <a:ext cx="2057400" cy="2468880"/>
          </a:xfrm>
          <a:prstGeom prst="roundRect">
            <a:avLst/>
          </a:prstGeom>
          <a:solidFill>
            <a:srgbClr val="E9F3D6"/>
          </a:solidFill>
          <a:ln>
            <a:solidFill>
              <a:srgbClr val="D6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465576" y="2130552"/>
            <a:ext cx="1837943" cy="402336"/>
          </a:xfrm>
          <a:prstGeom prst="rect">
            <a:avLst/>
          </a:prstGeom>
          <a:noFill/>
        </p:spPr>
        <p:txBody>
          <a:bodyPr wrap="none">
            <a:spAutoFit/>
          </a:bodyPr>
          <a:lstStyle/>
          <a:p>
            <a:r>
              <a:rPr sz="1800" b="1">
                <a:solidFill>
                  <a:srgbClr val="0F3F6F"/>
                </a:solidFill>
                <a:latin typeface="Aptos Narrow"/>
              </a:rPr>
              <a:t>Ingestion</a:t>
            </a:r>
          </a:p>
        </p:txBody>
      </p:sp>
      <p:sp>
        <p:nvSpPr>
          <p:cNvPr id="15" name="TextBox 14"/>
          <p:cNvSpPr txBox="1"/>
          <p:nvPr/>
        </p:nvSpPr>
        <p:spPr>
          <a:xfrm>
            <a:off x="3465576" y="2532888"/>
            <a:ext cx="1837943" cy="1792224"/>
          </a:xfrm>
          <a:prstGeom prst="rect">
            <a:avLst/>
          </a:prstGeom>
          <a:noFill/>
        </p:spPr>
        <p:txBody>
          <a:bodyPr wrap="square">
            <a:spAutoFit/>
          </a:bodyPr>
          <a:lstStyle/>
          <a:p>
            <a:r>
              <a:rPr sz="1450">
                <a:solidFill>
                  <a:srgbClr val="435266"/>
                </a:solidFill>
                <a:latin typeface="Aptos"/>
              </a:rPr>
              <a:t>• Kafka</a:t>
            </a:r>
          </a:p>
          <a:p>
            <a:r>
              <a:rPr sz="1450">
                <a:solidFill>
                  <a:srgbClr val="435266"/>
                </a:solidFill>
                <a:latin typeface="Aptos"/>
              </a:rPr>
              <a:t>• MQTT</a:t>
            </a:r>
          </a:p>
          <a:p>
            <a:r>
              <a:rPr sz="1450">
                <a:solidFill>
                  <a:srgbClr val="435266"/>
                </a:solidFill>
                <a:latin typeface="Aptos"/>
              </a:rPr>
              <a:t>• NiFi</a:t>
            </a:r>
          </a:p>
          <a:p>
            <a:r>
              <a:rPr sz="1450">
                <a:solidFill>
                  <a:srgbClr val="435266"/>
                </a:solidFill>
                <a:latin typeface="Aptos"/>
              </a:rPr>
              <a:t>• API / File batch</a:t>
            </a:r>
          </a:p>
        </p:txBody>
      </p:sp>
      <p:cxnSp>
        <p:nvCxnSpPr>
          <p:cNvPr id="16" name="Connector 15"/>
          <p:cNvCxnSpPr/>
          <p:nvPr/>
        </p:nvCxnSpPr>
        <p:spPr>
          <a:xfrm>
            <a:off x="5413248" y="3200400"/>
            <a:ext cx="566928" cy="0"/>
          </a:xfrm>
          <a:prstGeom prst="line">
            <a:avLst/>
          </a:prstGeom>
          <a:ln w="25400">
            <a:solidFill>
              <a:srgbClr val="0F3F6F"/>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071616" y="1965960"/>
            <a:ext cx="2057400" cy="2468880"/>
          </a:xfrm>
          <a:prstGeom prst="roundRect">
            <a:avLst/>
          </a:prstGeom>
          <a:solidFill>
            <a:srgbClr val="F0F4F7"/>
          </a:solidFill>
          <a:ln>
            <a:solidFill>
              <a:srgbClr val="D6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181344" y="2130552"/>
            <a:ext cx="1837943" cy="402336"/>
          </a:xfrm>
          <a:prstGeom prst="rect">
            <a:avLst/>
          </a:prstGeom>
          <a:noFill/>
        </p:spPr>
        <p:txBody>
          <a:bodyPr wrap="none">
            <a:spAutoFit/>
          </a:bodyPr>
          <a:lstStyle/>
          <a:p>
            <a:r>
              <a:rPr sz="1800" b="1">
                <a:solidFill>
                  <a:srgbClr val="0F3F6F"/>
                </a:solidFill>
                <a:latin typeface="Aptos Narrow"/>
              </a:rPr>
              <a:t>Mục tiêu</a:t>
            </a:r>
          </a:p>
        </p:txBody>
      </p:sp>
      <p:sp>
        <p:nvSpPr>
          <p:cNvPr id="19" name="TextBox 18"/>
          <p:cNvSpPr txBox="1"/>
          <p:nvPr/>
        </p:nvSpPr>
        <p:spPr>
          <a:xfrm>
            <a:off x="6181344" y="2532888"/>
            <a:ext cx="1837943" cy="1792224"/>
          </a:xfrm>
          <a:prstGeom prst="rect">
            <a:avLst/>
          </a:prstGeom>
          <a:noFill/>
        </p:spPr>
        <p:txBody>
          <a:bodyPr wrap="square">
            <a:spAutoFit/>
          </a:bodyPr>
          <a:lstStyle/>
          <a:p>
            <a:r>
              <a:rPr sz="1450">
                <a:solidFill>
                  <a:srgbClr val="435266"/>
                </a:solidFill>
                <a:latin typeface="Aptos"/>
              </a:rPr>
              <a:t>• Thu thập đủ</a:t>
            </a:r>
          </a:p>
          <a:p>
            <a:r>
              <a:rPr sz="1450">
                <a:solidFill>
                  <a:srgbClr val="435266"/>
                </a:solidFill>
                <a:latin typeface="Aptos"/>
              </a:rPr>
              <a:t>• Không mất dữ liệu</a:t>
            </a:r>
          </a:p>
          <a:p>
            <a:r>
              <a:rPr sz="1450">
                <a:solidFill>
                  <a:srgbClr val="435266"/>
                </a:solidFill>
                <a:latin typeface="Aptos"/>
              </a:rPr>
              <a:t>• Chuẩn hóa định dạng</a:t>
            </a:r>
          </a:p>
        </p:txBody>
      </p:sp>
      <p:cxnSp>
        <p:nvCxnSpPr>
          <p:cNvPr id="20" name="Connector 19"/>
          <p:cNvCxnSpPr/>
          <p:nvPr/>
        </p:nvCxnSpPr>
        <p:spPr>
          <a:xfrm>
            <a:off x="8129016" y="3200400"/>
            <a:ext cx="566928" cy="0"/>
          </a:xfrm>
          <a:prstGeom prst="line">
            <a:avLst/>
          </a:prstGeom>
          <a:ln w="25400">
            <a:solidFill>
              <a:srgbClr val="0F3F6F"/>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8787384" y="1965960"/>
            <a:ext cx="2057400" cy="2468880"/>
          </a:xfrm>
          <a:prstGeom prst="roundRect">
            <a:avLst/>
          </a:prstGeom>
          <a:solidFill>
            <a:srgbClr val="E7EEF5"/>
          </a:solidFill>
          <a:ln>
            <a:solidFill>
              <a:srgbClr val="D6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897111" y="2130552"/>
            <a:ext cx="1837943" cy="402336"/>
          </a:xfrm>
          <a:prstGeom prst="rect">
            <a:avLst/>
          </a:prstGeom>
          <a:noFill/>
        </p:spPr>
        <p:txBody>
          <a:bodyPr wrap="none">
            <a:spAutoFit/>
          </a:bodyPr>
          <a:lstStyle/>
          <a:p>
            <a:r>
              <a:rPr sz="1800" b="1">
                <a:solidFill>
                  <a:srgbClr val="0F3F6F"/>
                </a:solidFill>
                <a:latin typeface="Aptos Narrow"/>
              </a:rPr>
              <a:t>Đầu ra</a:t>
            </a:r>
          </a:p>
        </p:txBody>
      </p:sp>
      <p:sp>
        <p:nvSpPr>
          <p:cNvPr id="23" name="TextBox 22"/>
          <p:cNvSpPr txBox="1"/>
          <p:nvPr/>
        </p:nvSpPr>
        <p:spPr>
          <a:xfrm>
            <a:off x="8897111" y="2532888"/>
            <a:ext cx="1837943" cy="1792224"/>
          </a:xfrm>
          <a:prstGeom prst="rect">
            <a:avLst/>
          </a:prstGeom>
          <a:noFill/>
        </p:spPr>
        <p:txBody>
          <a:bodyPr wrap="square">
            <a:spAutoFit/>
          </a:bodyPr>
          <a:lstStyle/>
          <a:p>
            <a:r>
              <a:rPr sz="1450">
                <a:solidFill>
                  <a:srgbClr val="435266"/>
                </a:solidFill>
                <a:latin typeface="Aptos"/>
              </a:rPr>
              <a:t>• Dữ liệu sẵn sàng đưa vào lưu trữ</a:t>
            </a:r>
          </a:p>
          <a:p>
            <a:r>
              <a:rPr sz="1450">
                <a:solidFill>
                  <a:srgbClr val="435266"/>
                </a:solidFill>
                <a:latin typeface="Aptos"/>
              </a:rPr>
              <a:t>• Dòng dữ liệu streaming hoặc file batch</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210312"/>
          </a:xfrm>
          <a:prstGeom prst="rect">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Parallelogram 2"/>
          <p:cNvSpPr/>
          <p:nvPr/>
        </p:nvSpPr>
        <p:spPr>
          <a:xfrm>
            <a:off x="8339327" y="0"/>
            <a:ext cx="640080" cy="210312"/>
          </a:xfrm>
          <a:prstGeom prst="parallelogram">
            <a:avLst/>
          </a:prstGeom>
          <a:solidFill>
            <a:srgbClr val="8497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Parallelogram 3"/>
          <p:cNvSpPr/>
          <p:nvPr/>
        </p:nvSpPr>
        <p:spPr>
          <a:xfrm>
            <a:off x="8732520" y="0"/>
            <a:ext cx="969264" cy="1005840"/>
          </a:xfrm>
          <a:prstGeom prst="parallelogram">
            <a:avLst/>
          </a:prstGeom>
          <a:solidFill>
            <a:srgbClr val="85B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Parallelogram 4"/>
          <p:cNvSpPr/>
          <p:nvPr/>
        </p:nvSpPr>
        <p:spPr>
          <a:xfrm>
            <a:off x="9747504" y="0"/>
            <a:ext cx="1005840" cy="1005840"/>
          </a:xfrm>
          <a:prstGeom prst="parallelogram">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30352" y="347472"/>
            <a:ext cx="8321040" cy="512064"/>
          </a:xfrm>
          <a:prstGeom prst="rect">
            <a:avLst/>
          </a:prstGeom>
          <a:noFill/>
        </p:spPr>
        <p:txBody>
          <a:bodyPr wrap="none">
            <a:spAutoFit/>
          </a:bodyPr>
          <a:lstStyle/>
          <a:p>
            <a:r>
              <a:rPr sz="2700" b="1">
                <a:solidFill>
                  <a:srgbClr val="0F3F6F"/>
                </a:solidFill>
                <a:latin typeface="Aptos Narrow"/>
              </a:rPr>
              <a:t>Tầng lưu trữ dữ liệu</a:t>
            </a:r>
          </a:p>
        </p:txBody>
      </p:sp>
      <p:sp>
        <p:nvSpPr>
          <p:cNvPr id="7" name="TextBox 6"/>
          <p:cNvSpPr txBox="1"/>
          <p:nvPr/>
        </p:nvSpPr>
        <p:spPr>
          <a:xfrm>
            <a:off x="11475720" y="6492240"/>
            <a:ext cx="384048" cy="182880"/>
          </a:xfrm>
          <a:prstGeom prst="rect">
            <a:avLst/>
          </a:prstGeom>
          <a:noFill/>
        </p:spPr>
        <p:txBody>
          <a:bodyPr wrap="none">
            <a:spAutoFit/>
          </a:bodyPr>
          <a:lstStyle/>
          <a:p>
            <a:pPr algn="r"/>
            <a:r>
              <a:rPr sz="800">
                <a:solidFill>
                  <a:srgbClr val="5F5F5F"/>
                </a:solidFill>
                <a:latin typeface="Aptos"/>
              </a:rPr>
              <a:t>20</a:t>
            </a:r>
          </a:p>
        </p:txBody>
      </p:sp>
      <p:sp>
        <p:nvSpPr>
          <p:cNvPr id="8" name="TextBox 7"/>
          <p:cNvSpPr txBox="1"/>
          <p:nvPr/>
        </p:nvSpPr>
        <p:spPr>
          <a:xfrm>
            <a:off x="777240" y="987552"/>
            <a:ext cx="10607040" cy="320040"/>
          </a:xfrm>
          <a:prstGeom prst="rect">
            <a:avLst/>
          </a:prstGeom>
          <a:noFill/>
        </p:spPr>
        <p:txBody>
          <a:bodyPr wrap="none">
            <a:spAutoFit/>
          </a:bodyPr>
          <a:lstStyle/>
          <a:p>
            <a:r>
              <a:rPr sz="1300" i="1">
                <a:solidFill>
                  <a:srgbClr val="0F3F6F"/>
                </a:solidFill>
                <a:latin typeface="Aptos"/>
              </a:rPr>
              <a:t>Một hệ thống tốt thường tách dữ liệu theo lớp để vừa lưu trữ dài hạn vừa phục vụ phân tích hiệu quả.</a:t>
            </a:r>
          </a:p>
        </p:txBody>
      </p:sp>
      <p:sp>
        <p:nvSpPr>
          <p:cNvPr id="9" name="Rounded Rectangle 8"/>
          <p:cNvSpPr/>
          <p:nvPr/>
        </p:nvSpPr>
        <p:spPr>
          <a:xfrm>
            <a:off x="640080" y="1965960"/>
            <a:ext cx="2057400" cy="2468880"/>
          </a:xfrm>
          <a:prstGeom prst="roundRect">
            <a:avLst/>
          </a:prstGeom>
          <a:solidFill>
            <a:srgbClr val="E7EEF5"/>
          </a:solidFill>
          <a:ln>
            <a:solidFill>
              <a:srgbClr val="D6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49808" y="2130552"/>
            <a:ext cx="1837943" cy="402336"/>
          </a:xfrm>
          <a:prstGeom prst="rect">
            <a:avLst/>
          </a:prstGeom>
          <a:noFill/>
        </p:spPr>
        <p:txBody>
          <a:bodyPr wrap="none">
            <a:spAutoFit/>
          </a:bodyPr>
          <a:lstStyle/>
          <a:p>
            <a:r>
              <a:rPr sz="1800" b="1">
                <a:solidFill>
                  <a:srgbClr val="0F3F6F"/>
                </a:solidFill>
                <a:latin typeface="Aptos Narrow"/>
              </a:rPr>
              <a:t>Raw Zone</a:t>
            </a:r>
          </a:p>
        </p:txBody>
      </p:sp>
      <p:sp>
        <p:nvSpPr>
          <p:cNvPr id="11" name="TextBox 10"/>
          <p:cNvSpPr txBox="1"/>
          <p:nvPr/>
        </p:nvSpPr>
        <p:spPr>
          <a:xfrm>
            <a:off x="749808" y="2532888"/>
            <a:ext cx="1837943" cy="1792224"/>
          </a:xfrm>
          <a:prstGeom prst="rect">
            <a:avLst/>
          </a:prstGeom>
          <a:noFill/>
        </p:spPr>
        <p:txBody>
          <a:bodyPr wrap="square">
            <a:spAutoFit/>
          </a:bodyPr>
          <a:lstStyle/>
          <a:p>
            <a:r>
              <a:rPr sz="1450">
                <a:solidFill>
                  <a:srgbClr val="435266"/>
                </a:solidFill>
                <a:latin typeface="Aptos"/>
              </a:rPr>
              <a:t>• Lưu dữ liệu gốc</a:t>
            </a:r>
          </a:p>
          <a:p>
            <a:r>
              <a:rPr sz="1450">
                <a:solidFill>
                  <a:srgbClr val="435266"/>
                </a:solidFill>
                <a:latin typeface="Aptos"/>
              </a:rPr>
              <a:t>• Giữ đầy đủ để truy vết</a:t>
            </a:r>
          </a:p>
          <a:p>
            <a:r>
              <a:rPr sz="1450">
                <a:solidFill>
                  <a:srgbClr val="435266"/>
                </a:solidFill>
                <a:latin typeface="Aptos"/>
              </a:rPr>
              <a:t>• Chi phí thấp</a:t>
            </a:r>
          </a:p>
        </p:txBody>
      </p:sp>
      <p:cxnSp>
        <p:nvCxnSpPr>
          <p:cNvPr id="12" name="Connector 11"/>
          <p:cNvCxnSpPr/>
          <p:nvPr/>
        </p:nvCxnSpPr>
        <p:spPr>
          <a:xfrm>
            <a:off x="2697480" y="3200400"/>
            <a:ext cx="566928" cy="0"/>
          </a:xfrm>
          <a:prstGeom prst="line">
            <a:avLst/>
          </a:prstGeom>
          <a:ln w="25400">
            <a:solidFill>
              <a:srgbClr val="0F3F6F"/>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355848" y="1965960"/>
            <a:ext cx="2057400" cy="2468880"/>
          </a:xfrm>
          <a:prstGeom prst="roundRect">
            <a:avLst/>
          </a:prstGeom>
          <a:solidFill>
            <a:srgbClr val="E9F3D6"/>
          </a:solidFill>
          <a:ln>
            <a:solidFill>
              <a:srgbClr val="D6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465576" y="2130552"/>
            <a:ext cx="1837943" cy="402336"/>
          </a:xfrm>
          <a:prstGeom prst="rect">
            <a:avLst/>
          </a:prstGeom>
          <a:noFill/>
        </p:spPr>
        <p:txBody>
          <a:bodyPr wrap="none">
            <a:spAutoFit/>
          </a:bodyPr>
          <a:lstStyle/>
          <a:p>
            <a:r>
              <a:rPr sz="1800" b="1">
                <a:solidFill>
                  <a:srgbClr val="0F3F6F"/>
                </a:solidFill>
                <a:latin typeface="Aptos Narrow"/>
              </a:rPr>
              <a:t>Processed Zone</a:t>
            </a:r>
          </a:p>
        </p:txBody>
      </p:sp>
      <p:sp>
        <p:nvSpPr>
          <p:cNvPr id="15" name="TextBox 14"/>
          <p:cNvSpPr txBox="1"/>
          <p:nvPr/>
        </p:nvSpPr>
        <p:spPr>
          <a:xfrm>
            <a:off x="3465576" y="2532888"/>
            <a:ext cx="1837943" cy="1792224"/>
          </a:xfrm>
          <a:prstGeom prst="rect">
            <a:avLst/>
          </a:prstGeom>
          <a:noFill/>
        </p:spPr>
        <p:txBody>
          <a:bodyPr wrap="square">
            <a:spAutoFit/>
          </a:bodyPr>
          <a:lstStyle/>
          <a:p>
            <a:r>
              <a:rPr sz="1450">
                <a:solidFill>
                  <a:srgbClr val="435266"/>
                </a:solidFill>
                <a:latin typeface="Aptos"/>
              </a:rPr>
              <a:t>• Dữ liệu đã làm sạch</a:t>
            </a:r>
          </a:p>
          <a:p>
            <a:r>
              <a:rPr sz="1450">
                <a:solidFill>
                  <a:srgbClr val="435266"/>
                </a:solidFill>
                <a:latin typeface="Aptos"/>
              </a:rPr>
              <a:t>• Bổ sung schema</a:t>
            </a:r>
          </a:p>
          <a:p>
            <a:r>
              <a:rPr sz="1450">
                <a:solidFill>
                  <a:srgbClr val="435266"/>
                </a:solidFill>
                <a:latin typeface="Aptos"/>
              </a:rPr>
              <a:t>• Dễ phân tích hơn</a:t>
            </a:r>
          </a:p>
        </p:txBody>
      </p:sp>
      <p:cxnSp>
        <p:nvCxnSpPr>
          <p:cNvPr id="16" name="Connector 15"/>
          <p:cNvCxnSpPr/>
          <p:nvPr/>
        </p:nvCxnSpPr>
        <p:spPr>
          <a:xfrm>
            <a:off x="5413248" y="3200400"/>
            <a:ext cx="566928" cy="0"/>
          </a:xfrm>
          <a:prstGeom prst="line">
            <a:avLst/>
          </a:prstGeom>
          <a:ln w="25400">
            <a:solidFill>
              <a:srgbClr val="0F3F6F"/>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071616" y="1965960"/>
            <a:ext cx="2057400" cy="2468880"/>
          </a:xfrm>
          <a:prstGeom prst="roundRect">
            <a:avLst/>
          </a:prstGeom>
          <a:solidFill>
            <a:srgbClr val="F0F4F7"/>
          </a:solidFill>
          <a:ln>
            <a:solidFill>
              <a:srgbClr val="D6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181344" y="2130552"/>
            <a:ext cx="1837943" cy="402336"/>
          </a:xfrm>
          <a:prstGeom prst="rect">
            <a:avLst/>
          </a:prstGeom>
          <a:noFill/>
        </p:spPr>
        <p:txBody>
          <a:bodyPr wrap="none">
            <a:spAutoFit/>
          </a:bodyPr>
          <a:lstStyle/>
          <a:p>
            <a:r>
              <a:rPr sz="1800" b="1">
                <a:solidFill>
                  <a:srgbClr val="0F3F6F"/>
                </a:solidFill>
                <a:latin typeface="Aptos Narrow"/>
              </a:rPr>
              <a:t>Serving Zone</a:t>
            </a:r>
          </a:p>
        </p:txBody>
      </p:sp>
      <p:sp>
        <p:nvSpPr>
          <p:cNvPr id="19" name="TextBox 18"/>
          <p:cNvSpPr txBox="1"/>
          <p:nvPr/>
        </p:nvSpPr>
        <p:spPr>
          <a:xfrm>
            <a:off x="6181344" y="2532888"/>
            <a:ext cx="1837943" cy="1792224"/>
          </a:xfrm>
          <a:prstGeom prst="rect">
            <a:avLst/>
          </a:prstGeom>
          <a:noFill/>
        </p:spPr>
        <p:txBody>
          <a:bodyPr wrap="square">
            <a:spAutoFit/>
          </a:bodyPr>
          <a:lstStyle/>
          <a:p>
            <a:r>
              <a:rPr sz="1450">
                <a:solidFill>
                  <a:srgbClr val="435266"/>
                </a:solidFill>
                <a:latin typeface="Aptos"/>
              </a:rPr>
              <a:t>• Dữ liệu sẵn cho dashboard</a:t>
            </a:r>
          </a:p>
          <a:p>
            <a:r>
              <a:rPr sz="1450">
                <a:solidFill>
                  <a:srgbClr val="435266"/>
                </a:solidFill>
                <a:latin typeface="Aptos"/>
              </a:rPr>
              <a:t>• Truy vấn nhanh</a:t>
            </a:r>
          </a:p>
          <a:p>
            <a:r>
              <a:rPr sz="1450">
                <a:solidFill>
                  <a:srgbClr val="435266"/>
                </a:solidFill>
                <a:latin typeface="Aptos"/>
              </a:rPr>
              <a:t>• Phục vụ BI/ML</a:t>
            </a:r>
          </a:p>
        </p:txBody>
      </p:sp>
      <p:cxnSp>
        <p:nvCxnSpPr>
          <p:cNvPr id="20" name="Connector 19"/>
          <p:cNvCxnSpPr/>
          <p:nvPr/>
        </p:nvCxnSpPr>
        <p:spPr>
          <a:xfrm>
            <a:off x="8129016" y="3200400"/>
            <a:ext cx="566928" cy="0"/>
          </a:xfrm>
          <a:prstGeom prst="line">
            <a:avLst/>
          </a:prstGeom>
          <a:ln w="25400">
            <a:solidFill>
              <a:srgbClr val="0F3F6F"/>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8787384" y="1965960"/>
            <a:ext cx="2057400" cy="2468880"/>
          </a:xfrm>
          <a:prstGeom prst="roundRect">
            <a:avLst/>
          </a:prstGeom>
          <a:solidFill>
            <a:srgbClr val="E7EEF5"/>
          </a:solidFill>
          <a:ln>
            <a:solidFill>
              <a:srgbClr val="D6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897111" y="2130552"/>
            <a:ext cx="1837943" cy="402336"/>
          </a:xfrm>
          <a:prstGeom prst="rect">
            <a:avLst/>
          </a:prstGeom>
          <a:noFill/>
        </p:spPr>
        <p:txBody>
          <a:bodyPr wrap="none">
            <a:spAutoFit/>
          </a:bodyPr>
          <a:lstStyle/>
          <a:p>
            <a:r>
              <a:rPr sz="1800" b="1">
                <a:solidFill>
                  <a:srgbClr val="0F3F6F"/>
                </a:solidFill>
                <a:latin typeface="Aptos Narrow"/>
              </a:rPr>
              <a:t>Ví dụ</a:t>
            </a:r>
          </a:p>
        </p:txBody>
      </p:sp>
      <p:sp>
        <p:nvSpPr>
          <p:cNvPr id="23" name="TextBox 22"/>
          <p:cNvSpPr txBox="1"/>
          <p:nvPr/>
        </p:nvSpPr>
        <p:spPr>
          <a:xfrm>
            <a:off x="8897111" y="2532888"/>
            <a:ext cx="1837943" cy="1792224"/>
          </a:xfrm>
          <a:prstGeom prst="rect">
            <a:avLst/>
          </a:prstGeom>
          <a:noFill/>
        </p:spPr>
        <p:txBody>
          <a:bodyPr wrap="square">
            <a:spAutoFit/>
          </a:bodyPr>
          <a:lstStyle/>
          <a:p>
            <a:r>
              <a:rPr sz="1450">
                <a:solidFill>
                  <a:srgbClr val="435266"/>
                </a:solidFill>
                <a:latin typeface="Aptos"/>
              </a:rPr>
              <a:t>• HDFS</a:t>
            </a:r>
          </a:p>
          <a:p>
            <a:r>
              <a:rPr sz="1450">
                <a:solidFill>
                  <a:srgbClr val="435266"/>
                </a:solidFill>
                <a:latin typeface="Aptos"/>
              </a:rPr>
              <a:t>• S3/Data Lake</a:t>
            </a:r>
          </a:p>
          <a:p>
            <a:r>
              <a:rPr sz="1450">
                <a:solidFill>
                  <a:srgbClr val="435266"/>
                </a:solidFill>
                <a:latin typeface="Aptos"/>
              </a:rPr>
              <a:t>• Warehouse</a:t>
            </a:r>
          </a:p>
          <a:p>
            <a:r>
              <a:rPr sz="1450">
                <a:solidFill>
                  <a:srgbClr val="435266"/>
                </a:solidFill>
                <a:latin typeface="Aptos"/>
              </a:rPr>
              <a:t>• NoSQL</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210312"/>
          </a:xfrm>
          <a:prstGeom prst="rect">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Parallelogram 2"/>
          <p:cNvSpPr/>
          <p:nvPr/>
        </p:nvSpPr>
        <p:spPr>
          <a:xfrm>
            <a:off x="8339327" y="0"/>
            <a:ext cx="640080" cy="210312"/>
          </a:xfrm>
          <a:prstGeom prst="parallelogram">
            <a:avLst/>
          </a:prstGeom>
          <a:solidFill>
            <a:srgbClr val="8497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Parallelogram 3"/>
          <p:cNvSpPr/>
          <p:nvPr/>
        </p:nvSpPr>
        <p:spPr>
          <a:xfrm>
            <a:off x="8732520" y="0"/>
            <a:ext cx="969264" cy="1005840"/>
          </a:xfrm>
          <a:prstGeom prst="parallelogram">
            <a:avLst/>
          </a:prstGeom>
          <a:solidFill>
            <a:srgbClr val="85B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Parallelogram 4"/>
          <p:cNvSpPr/>
          <p:nvPr/>
        </p:nvSpPr>
        <p:spPr>
          <a:xfrm>
            <a:off x="9747504" y="0"/>
            <a:ext cx="1005840" cy="1005840"/>
          </a:xfrm>
          <a:prstGeom prst="parallelogram">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30352" y="347472"/>
            <a:ext cx="8321040" cy="512064"/>
          </a:xfrm>
          <a:prstGeom prst="rect">
            <a:avLst/>
          </a:prstGeom>
          <a:noFill/>
        </p:spPr>
        <p:txBody>
          <a:bodyPr wrap="none">
            <a:spAutoFit/>
          </a:bodyPr>
          <a:lstStyle/>
          <a:p>
            <a:r>
              <a:rPr sz="2700" b="1">
                <a:solidFill>
                  <a:srgbClr val="0F3F6F"/>
                </a:solidFill>
                <a:latin typeface="Aptos Narrow"/>
              </a:rPr>
              <a:t>Tầng xử lý, phân tích và trực quan hóa</a:t>
            </a:r>
          </a:p>
        </p:txBody>
      </p:sp>
      <p:sp>
        <p:nvSpPr>
          <p:cNvPr id="7" name="TextBox 6"/>
          <p:cNvSpPr txBox="1"/>
          <p:nvPr/>
        </p:nvSpPr>
        <p:spPr>
          <a:xfrm>
            <a:off x="11475720" y="6492240"/>
            <a:ext cx="384048" cy="182880"/>
          </a:xfrm>
          <a:prstGeom prst="rect">
            <a:avLst/>
          </a:prstGeom>
          <a:noFill/>
        </p:spPr>
        <p:txBody>
          <a:bodyPr wrap="none">
            <a:spAutoFit/>
          </a:bodyPr>
          <a:lstStyle/>
          <a:p>
            <a:pPr algn="r"/>
            <a:r>
              <a:rPr sz="800">
                <a:solidFill>
                  <a:srgbClr val="5F5F5F"/>
                </a:solidFill>
                <a:latin typeface="Aptos"/>
              </a:rPr>
              <a:t>21</a:t>
            </a:r>
          </a:p>
        </p:txBody>
      </p:sp>
      <p:sp>
        <p:nvSpPr>
          <p:cNvPr id="8" name="TextBox 7"/>
          <p:cNvSpPr txBox="1"/>
          <p:nvPr/>
        </p:nvSpPr>
        <p:spPr>
          <a:xfrm>
            <a:off x="777240" y="987552"/>
            <a:ext cx="10607040" cy="320040"/>
          </a:xfrm>
          <a:prstGeom prst="rect">
            <a:avLst/>
          </a:prstGeom>
          <a:noFill/>
        </p:spPr>
        <p:txBody>
          <a:bodyPr wrap="none">
            <a:spAutoFit/>
          </a:bodyPr>
          <a:lstStyle/>
          <a:p>
            <a:r>
              <a:rPr sz="1300" i="1">
                <a:solidFill>
                  <a:srgbClr val="0F3F6F"/>
                </a:solidFill>
                <a:latin typeface="Aptos"/>
              </a:rPr>
              <a:t>Từ góc nhìn quản trị, đây là nơi dữ liệu được chuyển thành insight và hành động cụ thể.</a:t>
            </a:r>
          </a:p>
        </p:txBody>
      </p:sp>
      <p:sp>
        <p:nvSpPr>
          <p:cNvPr id="9" name="Rounded Rectangle 8"/>
          <p:cNvSpPr/>
          <p:nvPr/>
        </p:nvSpPr>
        <p:spPr>
          <a:xfrm>
            <a:off x="640080" y="1965960"/>
            <a:ext cx="2057400" cy="2468880"/>
          </a:xfrm>
          <a:prstGeom prst="roundRect">
            <a:avLst/>
          </a:prstGeom>
          <a:solidFill>
            <a:srgbClr val="E7EEF5"/>
          </a:solidFill>
          <a:ln>
            <a:solidFill>
              <a:srgbClr val="D6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49808" y="2130552"/>
            <a:ext cx="1837943" cy="402336"/>
          </a:xfrm>
          <a:prstGeom prst="rect">
            <a:avLst/>
          </a:prstGeom>
          <a:noFill/>
        </p:spPr>
        <p:txBody>
          <a:bodyPr wrap="none">
            <a:spAutoFit/>
          </a:bodyPr>
          <a:lstStyle/>
          <a:p>
            <a:r>
              <a:rPr sz="1800" b="1">
                <a:solidFill>
                  <a:srgbClr val="0F3F6F"/>
                </a:solidFill>
                <a:latin typeface="Aptos Narrow"/>
              </a:rPr>
              <a:t>Processing</a:t>
            </a:r>
          </a:p>
        </p:txBody>
      </p:sp>
      <p:sp>
        <p:nvSpPr>
          <p:cNvPr id="11" name="TextBox 10"/>
          <p:cNvSpPr txBox="1"/>
          <p:nvPr/>
        </p:nvSpPr>
        <p:spPr>
          <a:xfrm>
            <a:off x="749808" y="2532888"/>
            <a:ext cx="1837943" cy="1792224"/>
          </a:xfrm>
          <a:prstGeom prst="rect">
            <a:avLst/>
          </a:prstGeom>
          <a:noFill/>
        </p:spPr>
        <p:txBody>
          <a:bodyPr wrap="square">
            <a:spAutoFit/>
          </a:bodyPr>
          <a:lstStyle/>
          <a:p>
            <a:r>
              <a:rPr sz="1450">
                <a:solidFill>
                  <a:srgbClr val="435266"/>
                </a:solidFill>
                <a:latin typeface="Aptos"/>
              </a:rPr>
              <a:t>• ETL/ELT</a:t>
            </a:r>
          </a:p>
          <a:p>
            <a:r>
              <a:rPr sz="1450">
                <a:solidFill>
                  <a:srgbClr val="435266"/>
                </a:solidFill>
                <a:latin typeface="Aptos"/>
              </a:rPr>
              <a:t>• Batch processing</a:t>
            </a:r>
          </a:p>
          <a:p>
            <a:r>
              <a:rPr sz="1450">
                <a:solidFill>
                  <a:srgbClr val="435266"/>
                </a:solidFill>
                <a:latin typeface="Aptos"/>
              </a:rPr>
              <a:t>• Stream processing</a:t>
            </a:r>
          </a:p>
        </p:txBody>
      </p:sp>
      <p:cxnSp>
        <p:nvCxnSpPr>
          <p:cNvPr id="12" name="Connector 11"/>
          <p:cNvCxnSpPr/>
          <p:nvPr/>
        </p:nvCxnSpPr>
        <p:spPr>
          <a:xfrm>
            <a:off x="2697480" y="3200400"/>
            <a:ext cx="566928" cy="0"/>
          </a:xfrm>
          <a:prstGeom prst="line">
            <a:avLst/>
          </a:prstGeom>
          <a:ln w="25400">
            <a:solidFill>
              <a:srgbClr val="0F3F6F"/>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355848" y="1965960"/>
            <a:ext cx="2057400" cy="2468880"/>
          </a:xfrm>
          <a:prstGeom prst="roundRect">
            <a:avLst/>
          </a:prstGeom>
          <a:solidFill>
            <a:srgbClr val="E9F3D6"/>
          </a:solidFill>
          <a:ln>
            <a:solidFill>
              <a:srgbClr val="D6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465576" y="2130552"/>
            <a:ext cx="1837943" cy="402336"/>
          </a:xfrm>
          <a:prstGeom prst="rect">
            <a:avLst/>
          </a:prstGeom>
          <a:noFill/>
        </p:spPr>
        <p:txBody>
          <a:bodyPr wrap="none">
            <a:spAutoFit/>
          </a:bodyPr>
          <a:lstStyle/>
          <a:p>
            <a:r>
              <a:rPr sz="1800" b="1">
                <a:solidFill>
                  <a:srgbClr val="0F3F6F"/>
                </a:solidFill>
                <a:latin typeface="Aptos Narrow"/>
              </a:rPr>
              <a:t>Analytics</a:t>
            </a:r>
          </a:p>
        </p:txBody>
      </p:sp>
      <p:sp>
        <p:nvSpPr>
          <p:cNvPr id="15" name="TextBox 14"/>
          <p:cNvSpPr txBox="1"/>
          <p:nvPr/>
        </p:nvSpPr>
        <p:spPr>
          <a:xfrm>
            <a:off x="3465576" y="2532888"/>
            <a:ext cx="1837943" cy="1792224"/>
          </a:xfrm>
          <a:prstGeom prst="rect">
            <a:avLst/>
          </a:prstGeom>
          <a:noFill/>
        </p:spPr>
        <p:txBody>
          <a:bodyPr wrap="square">
            <a:spAutoFit/>
          </a:bodyPr>
          <a:lstStyle/>
          <a:p>
            <a:r>
              <a:rPr sz="1450">
                <a:solidFill>
                  <a:srgbClr val="435266"/>
                </a:solidFill>
                <a:latin typeface="Aptos"/>
              </a:rPr>
              <a:t>• Thống kê mô tả</a:t>
            </a:r>
          </a:p>
          <a:p>
            <a:r>
              <a:rPr sz="1450">
                <a:solidFill>
                  <a:srgbClr val="435266"/>
                </a:solidFill>
                <a:latin typeface="Aptos"/>
              </a:rPr>
              <a:t>• Phát hiện bất thường</a:t>
            </a:r>
          </a:p>
          <a:p>
            <a:r>
              <a:rPr sz="1450">
                <a:solidFill>
                  <a:srgbClr val="435266"/>
                </a:solidFill>
                <a:latin typeface="Aptos"/>
              </a:rPr>
              <a:t>• Dự báo</a:t>
            </a:r>
          </a:p>
          <a:p>
            <a:r>
              <a:rPr sz="1450">
                <a:solidFill>
                  <a:srgbClr val="435266"/>
                </a:solidFill>
                <a:latin typeface="Aptos"/>
              </a:rPr>
              <a:t>• ML</a:t>
            </a:r>
          </a:p>
        </p:txBody>
      </p:sp>
      <p:cxnSp>
        <p:nvCxnSpPr>
          <p:cNvPr id="16" name="Connector 15"/>
          <p:cNvCxnSpPr/>
          <p:nvPr/>
        </p:nvCxnSpPr>
        <p:spPr>
          <a:xfrm>
            <a:off x="5413248" y="3200400"/>
            <a:ext cx="566928" cy="0"/>
          </a:xfrm>
          <a:prstGeom prst="line">
            <a:avLst/>
          </a:prstGeom>
          <a:ln w="25400">
            <a:solidFill>
              <a:srgbClr val="0F3F6F"/>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071616" y="1965960"/>
            <a:ext cx="2057400" cy="2468880"/>
          </a:xfrm>
          <a:prstGeom prst="roundRect">
            <a:avLst/>
          </a:prstGeom>
          <a:solidFill>
            <a:srgbClr val="F0F4F7"/>
          </a:solidFill>
          <a:ln>
            <a:solidFill>
              <a:srgbClr val="D6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181344" y="2130552"/>
            <a:ext cx="1837943" cy="402336"/>
          </a:xfrm>
          <a:prstGeom prst="rect">
            <a:avLst/>
          </a:prstGeom>
          <a:noFill/>
        </p:spPr>
        <p:txBody>
          <a:bodyPr wrap="none">
            <a:spAutoFit/>
          </a:bodyPr>
          <a:lstStyle/>
          <a:p>
            <a:r>
              <a:rPr sz="1800" b="1">
                <a:solidFill>
                  <a:srgbClr val="0F3F6F"/>
                </a:solidFill>
                <a:latin typeface="Aptos Narrow"/>
              </a:rPr>
              <a:t>Visualization</a:t>
            </a:r>
          </a:p>
        </p:txBody>
      </p:sp>
      <p:sp>
        <p:nvSpPr>
          <p:cNvPr id="19" name="TextBox 18"/>
          <p:cNvSpPr txBox="1"/>
          <p:nvPr/>
        </p:nvSpPr>
        <p:spPr>
          <a:xfrm>
            <a:off x="6181344" y="2532888"/>
            <a:ext cx="1837943" cy="1792224"/>
          </a:xfrm>
          <a:prstGeom prst="rect">
            <a:avLst/>
          </a:prstGeom>
          <a:noFill/>
        </p:spPr>
        <p:txBody>
          <a:bodyPr wrap="square">
            <a:spAutoFit/>
          </a:bodyPr>
          <a:lstStyle/>
          <a:p>
            <a:r>
              <a:rPr sz="1450">
                <a:solidFill>
                  <a:srgbClr val="435266"/>
                </a:solidFill>
                <a:latin typeface="Aptos"/>
              </a:rPr>
              <a:t>• Dashboard KPI</a:t>
            </a:r>
          </a:p>
          <a:p>
            <a:r>
              <a:rPr sz="1450">
                <a:solidFill>
                  <a:srgbClr val="435266"/>
                </a:solidFill>
                <a:latin typeface="Aptos"/>
              </a:rPr>
              <a:t>• Báo cáo vận hành</a:t>
            </a:r>
          </a:p>
          <a:p>
            <a:r>
              <a:rPr sz="1450">
                <a:solidFill>
                  <a:srgbClr val="435266"/>
                </a:solidFill>
                <a:latin typeface="Aptos"/>
              </a:rPr>
              <a:t>• Cảnh báo real-time</a:t>
            </a:r>
          </a:p>
        </p:txBody>
      </p:sp>
      <p:cxnSp>
        <p:nvCxnSpPr>
          <p:cNvPr id="20" name="Connector 19"/>
          <p:cNvCxnSpPr/>
          <p:nvPr/>
        </p:nvCxnSpPr>
        <p:spPr>
          <a:xfrm>
            <a:off x="8129016" y="3200400"/>
            <a:ext cx="566928" cy="0"/>
          </a:xfrm>
          <a:prstGeom prst="line">
            <a:avLst/>
          </a:prstGeom>
          <a:ln w="25400">
            <a:solidFill>
              <a:srgbClr val="0F3F6F"/>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8787384" y="1965960"/>
            <a:ext cx="2057400" cy="2468880"/>
          </a:xfrm>
          <a:prstGeom prst="roundRect">
            <a:avLst/>
          </a:prstGeom>
          <a:solidFill>
            <a:srgbClr val="E7EEF5"/>
          </a:solidFill>
          <a:ln>
            <a:solidFill>
              <a:srgbClr val="D6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897111" y="2130552"/>
            <a:ext cx="1837943" cy="402336"/>
          </a:xfrm>
          <a:prstGeom prst="rect">
            <a:avLst/>
          </a:prstGeom>
          <a:noFill/>
        </p:spPr>
        <p:txBody>
          <a:bodyPr wrap="none">
            <a:spAutoFit/>
          </a:bodyPr>
          <a:lstStyle/>
          <a:p>
            <a:r>
              <a:rPr sz="1800" b="1">
                <a:solidFill>
                  <a:srgbClr val="0F3F6F"/>
                </a:solidFill>
                <a:latin typeface="Aptos Narrow"/>
              </a:rPr>
              <a:t>Business Value</a:t>
            </a:r>
          </a:p>
        </p:txBody>
      </p:sp>
      <p:sp>
        <p:nvSpPr>
          <p:cNvPr id="23" name="TextBox 22"/>
          <p:cNvSpPr txBox="1"/>
          <p:nvPr/>
        </p:nvSpPr>
        <p:spPr>
          <a:xfrm>
            <a:off x="8897111" y="2532888"/>
            <a:ext cx="1837943" cy="1792224"/>
          </a:xfrm>
          <a:prstGeom prst="rect">
            <a:avLst/>
          </a:prstGeom>
          <a:noFill/>
        </p:spPr>
        <p:txBody>
          <a:bodyPr wrap="square">
            <a:spAutoFit/>
          </a:bodyPr>
          <a:lstStyle/>
          <a:p>
            <a:r>
              <a:rPr sz="1450">
                <a:solidFill>
                  <a:srgbClr val="435266"/>
                </a:solidFill>
                <a:latin typeface="Aptos"/>
              </a:rPr>
              <a:t>• Quyết định nhanh hơn</a:t>
            </a:r>
          </a:p>
          <a:p>
            <a:r>
              <a:rPr sz="1450">
                <a:solidFill>
                  <a:srgbClr val="435266"/>
                </a:solidFill>
                <a:latin typeface="Aptos"/>
              </a:rPr>
              <a:t>• Giảm downtime</a:t>
            </a:r>
          </a:p>
          <a:p>
            <a:r>
              <a:rPr sz="1450">
                <a:solidFill>
                  <a:srgbClr val="435266"/>
                </a:solidFill>
                <a:latin typeface="Aptos"/>
              </a:rPr>
              <a:t>• Tối ưu chất lượng</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210312"/>
          </a:xfrm>
          <a:prstGeom prst="rect">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Parallelogram 2"/>
          <p:cNvSpPr/>
          <p:nvPr/>
        </p:nvSpPr>
        <p:spPr>
          <a:xfrm>
            <a:off x="8339327" y="0"/>
            <a:ext cx="640080" cy="210312"/>
          </a:xfrm>
          <a:prstGeom prst="parallelogram">
            <a:avLst/>
          </a:prstGeom>
          <a:solidFill>
            <a:srgbClr val="8497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Parallelogram 3"/>
          <p:cNvSpPr/>
          <p:nvPr/>
        </p:nvSpPr>
        <p:spPr>
          <a:xfrm>
            <a:off x="8732520" y="0"/>
            <a:ext cx="969264" cy="1005840"/>
          </a:xfrm>
          <a:prstGeom prst="parallelogram">
            <a:avLst/>
          </a:prstGeom>
          <a:solidFill>
            <a:srgbClr val="85B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Parallelogram 4"/>
          <p:cNvSpPr/>
          <p:nvPr/>
        </p:nvSpPr>
        <p:spPr>
          <a:xfrm>
            <a:off x="9747504" y="0"/>
            <a:ext cx="1005840" cy="1005840"/>
          </a:xfrm>
          <a:prstGeom prst="parallelogram">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30352" y="347472"/>
            <a:ext cx="8321040" cy="512064"/>
          </a:xfrm>
          <a:prstGeom prst="rect">
            <a:avLst/>
          </a:prstGeom>
          <a:noFill/>
        </p:spPr>
        <p:txBody>
          <a:bodyPr wrap="none">
            <a:spAutoFit/>
          </a:bodyPr>
          <a:lstStyle/>
          <a:p>
            <a:r>
              <a:rPr sz="2700" b="1">
                <a:solidFill>
                  <a:srgbClr val="0F3F6F"/>
                </a:solidFill>
                <a:latin typeface="Aptos Narrow"/>
              </a:rPr>
              <a:t>Hệ sinh thái công nghệ theo từng lớp kiến trúc</a:t>
            </a:r>
          </a:p>
        </p:txBody>
      </p:sp>
      <p:sp>
        <p:nvSpPr>
          <p:cNvPr id="7" name="TextBox 6"/>
          <p:cNvSpPr txBox="1"/>
          <p:nvPr/>
        </p:nvSpPr>
        <p:spPr>
          <a:xfrm>
            <a:off x="11475720" y="6492240"/>
            <a:ext cx="384048" cy="182880"/>
          </a:xfrm>
          <a:prstGeom prst="rect">
            <a:avLst/>
          </a:prstGeom>
          <a:noFill/>
        </p:spPr>
        <p:txBody>
          <a:bodyPr wrap="none">
            <a:spAutoFit/>
          </a:bodyPr>
          <a:lstStyle/>
          <a:p>
            <a:pPr algn="r"/>
            <a:r>
              <a:rPr sz="800">
                <a:solidFill>
                  <a:srgbClr val="5F5F5F"/>
                </a:solidFill>
                <a:latin typeface="Aptos"/>
              </a:rPr>
              <a:t>22</a:t>
            </a:r>
          </a:p>
        </p:txBody>
      </p:sp>
      <p:pic>
        <p:nvPicPr>
          <p:cNvPr id="8" name="Picture 7" descr="body-15.png"/>
          <p:cNvPicPr>
            <a:picLocks noChangeAspect="1"/>
          </p:cNvPicPr>
          <p:nvPr/>
        </p:nvPicPr>
        <p:blipFill>
          <a:blip r:embed="rId2"/>
          <a:stretch>
            <a:fillRect/>
          </a:stretch>
        </p:blipFill>
        <p:spPr>
          <a:xfrm>
            <a:off x="1397186" y="969264"/>
            <a:ext cx="9083683" cy="5605272"/>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210312"/>
          </a:xfrm>
          <a:prstGeom prst="rect">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Parallelogram 2"/>
          <p:cNvSpPr/>
          <p:nvPr/>
        </p:nvSpPr>
        <p:spPr>
          <a:xfrm>
            <a:off x="8339327" y="0"/>
            <a:ext cx="640080" cy="210312"/>
          </a:xfrm>
          <a:prstGeom prst="parallelogram">
            <a:avLst/>
          </a:prstGeom>
          <a:solidFill>
            <a:srgbClr val="8497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Parallelogram 3"/>
          <p:cNvSpPr/>
          <p:nvPr/>
        </p:nvSpPr>
        <p:spPr>
          <a:xfrm>
            <a:off x="8732520" y="0"/>
            <a:ext cx="969264" cy="1005840"/>
          </a:xfrm>
          <a:prstGeom prst="parallelogram">
            <a:avLst/>
          </a:prstGeom>
          <a:solidFill>
            <a:srgbClr val="85B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Parallelogram 4"/>
          <p:cNvSpPr/>
          <p:nvPr/>
        </p:nvSpPr>
        <p:spPr>
          <a:xfrm>
            <a:off x="9747504" y="0"/>
            <a:ext cx="1005840" cy="1005840"/>
          </a:xfrm>
          <a:prstGeom prst="parallelogram">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30352" y="347472"/>
            <a:ext cx="8321040" cy="512064"/>
          </a:xfrm>
          <a:prstGeom prst="rect">
            <a:avLst/>
          </a:prstGeom>
          <a:noFill/>
        </p:spPr>
        <p:txBody>
          <a:bodyPr wrap="none">
            <a:spAutoFit/>
          </a:bodyPr>
          <a:lstStyle/>
          <a:p>
            <a:r>
              <a:rPr sz="2700" b="1">
                <a:solidFill>
                  <a:srgbClr val="0F3F6F"/>
                </a:solidFill>
                <a:latin typeface="Aptos Narrow"/>
              </a:rPr>
              <a:t>Xử lý theo lô (Batch) và theo luồng (Stream)</a:t>
            </a:r>
          </a:p>
        </p:txBody>
      </p:sp>
      <p:sp>
        <p:nvSpPr>
          <p:cNvPr id="7" name="TextBox 6"/>
          <p:cNvSpPr txBox="1"/>
          <p:nvPr/>
        </p:nvSpPr>
        <p:spPr>
          <a:xfrm>
            <a:off x="11475720" y="6492240"/>
            <a:ext cx="384048" cy="182880"/>
          </a:xfrm>
          <a:prstGeom prst="rect">
            <a:avLst/>
          </a:prstGeom>
          <a:noFill/>
        </p:spPr>
        <p:txBody>
          <a:bodyPr wrap="none">
            <a:spAutoFit/>
          </a:bodyPr>
          <a:lstStyle/>
          <a:p>
            <a:pPr algn="r"/>
            <a:r>
              <a:rPr sz="800">
                <a:solidFill>
                  <a:srgbClr val="5F5F5F"/>
                </a:solidFill>
                <a:latin typeface="Aptos"/>
              </a:rPr>
              <a:t>23</a:t>
            </a:r>
          </a:p>
        </p:txBody>
      </p:sp>
      <p:pic>
        <p:nvPicPr>
          <p:cNvPr id="8" name="Picture 7" descr="body-16.png"/>
          <p:cNvPicPr>
            <a:picLocks noChangeAspect="1"/>
          </p:cNvPicPr>
          <p:nvPr/>
        </p:nvPicPr>
        <p:blipFill>
          <a:blip r:embed="rId2"/>
          <a:stretch>
            <a:fillRect/>
          </a:stretch>
        </p:blipFill>
        <p:spPr>
          <a:xfrm>
            <a:off x="1397186" y="969264"/>
            <a:ext cx="9083683" cy="5605272"/>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210312"/>
          </a:xfrm>
          <a:prstGeom prst="rect">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Parallelogram 2"/>
          <p:cNvSpPr/>
          <p:nvPr/>
        </p:nvSpPr>
        <p:spPr>
          <a:xfrm>
            <a:off x="8339327" y="0"/>
            <a:ext cx="640080" cy="210312"/>
          </a:xfrm>
          <a:prstGeom prst="parallelogram">
            <a:avLst/>
          </a:prstGeom>
          <a:solidFill>
            <a:srgbClr val="8497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Parallelogram 3"/>
          <p:cNvSpPr/>
          <p:nvPr/>
        </p:nvSpPr>
        <p:spPr>
          <a:xfrm>
            <a:off x="8732520" y="0"/>
            <a:ext cx="969264" cy="1005840"/>
          </a:xfrm>
          <a:prstGeom prst="parallelogram">
            <a:avLst/>
          </a:prstGeom>
          <a:solidFill>
            <a:srgbClr val="85B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Parallelogram 4"/>
          <p:cNvSpPr/>
          <p:nvPr/>
        </p:nvSpPr>
        <p:spPr>
          <a:xfrm>
            <a:off x="9747504" y="0"/>
            <a:ext cx="1005840" cy="1005840"/>
          </a:xfrm>
          <a:prstGeom prst="parallelogram">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30352" y="347472"/>
            <a:ext cx="8321040" cy="512064"/>
          </a:xfrm>
          <a:prstGeom prst="rect">
            <a:avLst/>
          </a:prstGeom>
          <a:noFill/>
        </p:spPr>
        <p:txBody>
          <a:bodyPr wrap="none">
            <a:spAutoFit/>
          </a:bodyPr>
          <a:lstStyle/>
          <a:p>
            <a:r>
              <a:rPr sz="2700" b="1">
                <a:solidFill>
                  <a:srgbClr val="0F3F6F"/>
                </a:solidFill>
                <a:latin typeface="Aptos Narrow"/>
              </a:rPr>
              <a:t>Khi nào dùng Batch, khi nào dùng Stream?</a:t>
            </a:r>
          </a:p>
        </p:txBody>
      </p:sp>
      <p:sp>
        <p:nvSpPr>
          <p:cNvPr id="7" name="TextBox 6"/>
          <p:cNvSpPr txBox="1"/>
          <p:nvPr/>
        </p:nvSpPr>
        <p:spPr>
          <a:xfrm>
            <a:off x="11475720" y="6492240"/>
            <a:ext cx="384048" cy="182880"/>
          </a:xfrm>
          <a:prstGeom prst="rect">
            <a:avLst/>
          </a:prstGeom>
          <a:noFill/>
        </p:spPr>
        <p:txBody>
          <a:bodyPr wrap="none">
            <a:spAutoFit/>
          </a:bodyPr>
          <a:lstStyle/>
          <a:p>
            <a:pPr algn="r"/>
            <a:r>
              <a:rPr sz="800">
                <a:solidFill>
                  <a:srgbClr val="5F5F5F"/>
                </a:solidFill>
                <a:latin typeface="Aptos"/>
              </a:rPr>
              <a:t>24</a:t>
            </a:r>
          </a:p>
        </p:txBody>
      </p:sp>
      <p:sp>
        <p:nvSpPr>
          <p:cNvPr id="8" name="Rounded Rectangle 7"/>
          <p:cNvSpPr/>
          <p:nvPr/>
        </p:nvSpPr>
        <p:spPr>
          <a:xfrm>
            <a:off x="658368" y="1234440"/>
            <a:ext cx="4983480" cy="4480560"/>
          </a:xfrm>
          <a:prstGeom prst="roundRect">
            <a:avLst/>
          </a:prstGeom>
          <a:solidFill>
            <a:srgbClr val="E7EEF5"/>
          </a:solidFill>
          <a:ln>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41247" y="1417320"/>
            <a:ext cx="4572000" cy="384048"/>
          </a:xfrm>
          <a:prstGeom prst="rect">
            <a:avLst/>
          </a:prstGeom>
          <a:noFill/>
        </p:spPr>
        <p:txBody>
          <a:bodyPr wrap="none">
            <a:spAutoFit/>
          </a:bodyPr>
          <a:lstStyle/>
          <a:p>
            <a:r>
              <a:rPr sz="2200" b="1">
                <a:solidFill>
                  <a:srgbClr val="0F3F6F"/>
                </a:solidFill>
                <a:latin typeface="Aptos Narrow"/>
              </a:rPr>
              <a:t>Batch phù hợp khi...</a:t>
            </a:r>
          </a:p>
        </p:txBody>
      </p:sp>
      <p:sp>
        <p:nvSpPr>
          <p:cNvPr id="10" name="TextBox 9"/>
          <p:cNvSpPr txBox="1"/>
          <p:nvPr/>
        </p:nvSpPr>
        <p:spPr>
          <a:xfrm>
            <a:off x="841247" y="1828800"/>
            <a:ext cx="4572000" cy="3657600"/>
          </a:xfrm>
          <a:prstGeom prst="rect">
            <a:avLst/>
          </a:prstGeom>
          <a:noFill/>
        </p:spPr>
        <p:txBody>
          <a:bodyPr wrap="square">
            <a:spAutoFit/>
          </a:bodyPr>
          <a:lstStyle/>
          <a:p>
            <a:pPr>
              <a:spcAft>
                <a:spcPts val="500"/>
              </a:spcAft>
            </a:pPr>
            <a:r>
              <a:rPr sz="1700">
                <a:solidFill>
                  <a:srgbClr val="435266"/>
                </a:solidFill>
                <a:latin typeface="Aptos"/>
              </a:rPr>
              <a:t>• Báo cáo tổng hợp cuối ngày/cuối ca/cuối tháng.</a:t>
            </a:r>
          </a:p>
          <a:p>
            <a:pPr>
              <a:spcAft>
                <a:spcPts val="500"/>
              </a:spcAft>
            </a:pPr>
            <a:r>
              <a:rPr sz="1700">
                <a:solidFill>
                  <a:srgbClr val="435266"/>
                </a:solidFill>
                <a:latin typeface="Aptos"/>
              </a:rPr>
              <a:t>• Xử lý dữ liệu lịch sử khối lượng lớn.</a:t>
            </a:r>
          </a:p>
          <a:p>
            <a:pPr>
              <a:spcAft>
                <a:spcPts val="500"/>
              </a:spcAft>
            </a:pPr>
            <a:r>
              <a:rPr sz="1700">
                <a:solidFill>
                  <a:srgbClr val="435266"/>
                </a:solidFill>
                <a:latin typeface="Aptos"/>
              </a:rPr>
              <a:t>• Không yêu cầu phản hồi ngay lập tức.</a:t>
            </a:r>
          </a:p>
          <a:p>
            <a:pPr>
              <a:spcAft>
                <a:spcPts val="500"/>
              </a:spcAft>
            </a:pPr>
            <a:r>
              <a:rPr sz="1700">
                <a:solidFill>
                  <a:srgbClr val="435266"/>
                </a:solidFill>
                <a:latin typeface="Aptos"/>
              </a:rPr>
              <a:t>• Ví dụ: tính OEE theo ngày, tổng hợp sản lượng tuần.</a:t>
            </a:r>
          </a:p>
        </p:txBody>
      </p:sp>
      <p:sp>
        <p:nvSpPr>
          <p:cNvPr id="11" name="Rounded Rectangle 10"/>
          <p:cNvSpPr/>
          <p:nvPr/>
        </p:nvSpPr>
        <p:spPr>
          <a:xfrm>
            <a:off x="6144768" y="1234440"/>
            <a:ext cx="4983480" cy="4480560"/>
          </a:xfrm>
          <a:prstGeom prst="roundRect">
            <a:avLst/>
          </a:prstGeom>
          <a:solidFill>
            <a:srgbClr val="E9F3D6"/>
          </a:solidFill>
          <a:ln>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327648" y="1417320"/>
            <a:ext cx="4572000" cy="384048"/>
          </a:xfrm>
          <a:prstGeom prst="rect">
            <a:avLst/>
          </a:prstGeom>
          <a:noFill/>
        </p:spPr>
        <p:txBody>
          <a:bodyPr wrap="none">
            <a:spAutoFit/>
          </a:bodyPr>
          <a:lstStyle/>
          <a:p>
            <a:r>
              <a:rPr sz="2200" b="1">
                <a:solidFill>
                  <a:srgbClr val="0F3F6F"/>
                </a:solidFill>
                <a:latin typeface="Aptos Narrow"/>
              </a:rPr>
              <a:t>Stream phù hợp khi...</a:t>
            </a:r>
          </a:p>
        </p:txBody>
      </p:sp>
      <p:sp>
        <p:nvSpPr>
          <p:cNvPr id="13" name="TextBox 12"/>
          <p:cNvSpPr txBox="1"/>
          <p:nvPr/>
        </p:nvSpPr>
        <p:spPr>
          <a:xfrm>
            <a:off x="6327648" y="1828800"/>
            <a:ext cx="4572000" cy="3657600"/>
          </a:xfrm>
          <a:prstGeom prst="rect">
            <a:avLst/>
          </a:prstGeom>
          <a:noFill/>
        </p:spPr>
        <p:txBody>
          <a:bodyPr wrap="square">
            <a:spAutoFit/>
          </a:bodyPr>
          <a:lstStyle/>
          <a:p>
            <a:pPr>
              <a:spcAft>
                <a:spcPts val="500"/>
              </a:spcAft>
            </a:pPr>
            <a:r>
              <a:rPr sz="1700">
                <a:solidFill>
                  <a:srgbClr val="435266"/>
                </a:solidFill>
                <a:latin typeface="Aptos"/>
              </a:rPr>
              <a:t>• Cần phát hiện bất thường gần thời gian thực.</a:t>
            </a:r>
          </a:p>
          <a:p>
            <a:pPr>
              <a:spcAft>
                <a:spcPts val="500"/>
              </a:spcAft>
            </a:pPr>
            <a:r>
              <a:rPr sz="1700">
                <a:solidFill>
                  <a:srgbClr val="435266"/>
                </a:solidFill>
                <a:latin typeface="Aptos"/>
              </a:rPr>
              <a:t>• Muốn dashboard cập nhật liên tục.</a:t>
            </a:r>
          </a:p>
          <a:p>
            <a:pPr>
              <a:spcAft>
                <a:spcPts val="500"/>
              </a:spcAft>
            </a:pPr>
            <a:r>
              <a:rPr sz="1700">
                <a:solidFill>
                  <a:srgbClr val="435266"/>
                </a:solidFill>
                <a:latin typeface="Aptos"/>
              </a:rPr>
              <a:t>• Cần cảnh báo ngay khi máy vượt ngưỡng.</a:t>
            </a:r>
          </a:p>
          <a:p>
            <a:pPr>
              <a:spcAft>
                <a:spcPts val="500"/>
              </a:spcAft>
            </a:pPr>
            <a:r>
              <a:rPr sz="1700">
                <a:solidFill>
                  <a:srgbClr val="435266"/>
                </a:solidFill>
                <a:latin typeface="Aptos"/>
              </a:rPr>
              <a:t>• Ví dụ: theo dõi nhiệt độ lò, rung động trục, lỗi camera.</a:t>
            </a:r>
          </a:p>
        </p:txBody>
      </p:sp>
      <p:sp>
        <p:nvSpPr>
          <p:cNvPr id="14" name="TextBox 13"/>
          <p:cNvSpPr txBox="1"/>
          <p:nvPr/>
        </p:nvSpPr>
        <p:spPr>
          <a:xfrm>
            <a:off x="777240" y="5897880"/>
            <a:ext cx="10607040" cy="384048"/>
          </a:xfrm>
          <a:prstGeom prst="rect">
            <a:avLst/>
          </a:prstGeom>
          <a:noFill/>
        </p:spPr>
        <p:txBody>
          <a:bodyPr wrap="none">
            <a:spAutoFit/>
          </a:bodyPr>
          <a:lstStyle/>
          <a:p>
            <a:pPr algn="ctr"/>
            <a:r>
              <a:rPr sz="1400" i="1">
                <a:solidFill>
                  <a:srgbClr val="0F3F6F"/>
                </a:solidFill>
                <a:latin typeface="Aptos"/>
              </a:rPr>
              <a:t>Nhiều hệ thống công nghiệp thực tế sử dụng đồng thời cả batch và stream trong cùng một pipeline.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210312"/>
          </a:xfrm>
          <a:prstGeom prst="rect">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Parallelogram 2"/>
          <p:cNvSpPr/>
          <p:nvPr/>
        </p:nvSpPr>
        <p:spPr>
          <a:xfrm>
            <a:off x="8339327" y="0"/>
            <a:ext cx="640080" cy="210312"/>
          </a:xfrm>
          <a:prstGeom prst="parallelogram">
            <a:avLst/>
          </a:prstGeom>
          <a:solidFill>
            <a:srgbClr val="8497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Parallelogram 3"/>
          <p:cNvSpPr/>
          <p:nvPr/>
        </p:nvSpPr>
        <p:spPr>
          <a:xfrm>
            <a:off x="8732520" y="0"/>
            <a:ext cx="969264" cy="1005840"/>
          </a:xfrm>
          <a:prstGeom prst="parallelogram">
            <a:avLst/>
          </a:prstGeom>
          <a:solidFill>
            <a:srgbClr val="85B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Parallelogram 4"/>
          <p:cNvSpPr/>
          <p:nvPr/>
        </p:nvSpPr>
        <p:spPr>
          <a:xfrm>
            <a:off x="9747504" y="0"/>
            <a:ext cx="1005840" cy="1005840"/>
          </a:xfrm>
          <a:prstGeom prst="parallelogram">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30352" y="347472"/>
            <a:ext cx="8321040" cy="512064"/>
          </a:xfrm>
          <a:prstGeom prst="rect">
            <a:avLst/>
          </a:prstGeom>
          <a:noFill/>
        </p:spPr>
        <p:txBody>
          <a:bodyPr wrap="none">
            <a:spAutoFit/>
          </a:bodyPr>
          <a:lstStyle/>
          <a:p>
            <a:r>
              <a:rPr sz="2700" b="1">
                <a:solidFill>
                  <a:srgbClr val="0F3F6F"/>
                </a:solidFill>
                <a:latin typeface="Aptos Narrow"/>
              </a:rPr>
              <a:t>Data Lake và Data Warehouse</a:t>
            </a:r>
          </a:p>
        </p:txBody>
      </p:sp>
      <p:sp>
        <p:nvSpPr>
          <p:cNvPr id="7" name="TextBox 6"/>
          <p:cNvSpPr txBox="1"/>
          <p:nvPr/>
        </p:nvSpPr>
        <p:spPr>
          <a:xfrm>
            <a:off x="11475720" y="6492240"/>
            <a:ext cx="384048" cy="182880"/>
          </a:xfrm>
          <a:prstGeom prst="rect">
            <a:avLst/>
          </a:prstGeom>
          <a:noFill/>
        </p:spPr>
        <p:txBody>
          <a:bodyPr wrap="none">
            <a:spAutoFit/>
          </a:bodyPr>
          <a:lstStyle/>
          <a:p>
            <a:pPr algn="r"/>
            <a:r>
              <a:rPr sz="800">
                <a:solidFill>
                  <a:srgbClr val="5F5F5F"/>
                </a:solidFill>
                <a:latin typeface="Aptos"/>
              </a:rPr>
              <a:t>25</a:t>
            </a:r>
          </a:p>
        </p:txBody>
      </p:sp>
      <p:pic>
        <p:nvPicPr>
          <p:cNvPr id="8" name="Picture 7" descr="body-17.png"/>
          <p:cNvPicPr>
            <a:picLocks noChangeAspect="1"/>
          </p:cNvPicPr>
          <p:nvPr/>
        </p:nvPicPr>
        <p:blipFill>
          <a:blip r:embed="rId2"/>
          <a:stretch>
            <a:fillRect/>
          </a:stretch>
        </p:blipFill>
        <p:spPr>
          <a:xfrm>
            <a:off x="1397186" y="969264"/>
            <a:ext cx="9083683" cy="5605272"/>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210312"/>
          </a:xfrm>
          <a:prstGeom prst="rect">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Parallelogram 2"/>
          <p:cNvSpPr/>
          <p:nvPr/>
        </p:nvSpPr>
        <p:spPr>
          <a:xfrm>
            <a:off x="8339327" y="0"/>
            <a:ext cx="640080" cy="210312"/>
          </a:xfrm>
          <a:prstGeom prst="parallelogram">
            <a:avLst/>
          </a:prstGeom>
          <a:solidFill>
            <a:srgbClr val="8497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Parallelogram 3"/>
          <p:cNvSpPr/>
          <p:nvPr/>
        </p:nvSpPr>
        <p:spPr>
          <a:xfrm>
            <a:off x="8732520" y="0"/>
            <a:ext cx="969264" cy="1005840"/>
          </a:xfrm>
          <a:prstGeom prst="parallelogram">
            <a:avLst/>
          </a:prstGeom>
          <a:solidFill>
            <a:srgbClr val="85B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Parallelogram 4"/>
          <p:cNvSpPr/>
          <p:nvPr/>
        </p:nvSpPr>
        <p:spPr>
          <a:xfrm>
            <a:off x="9747504" y="0"/>
            <a:ext cx="1005840" cy="1005840"/>
          </a:xfrm>
          <a:prstGeom prst="parallelogram">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30352" y="347472"/>
            <a:ext cx="8321040" cy="512064"/>
          </a:xfrm>
          <a:prstGeom prst="rect">
            <a:avLst/>
          </a:prstGeom>
          <a:noFill/>
        </p:spPr>
        <p:txBody>
          <a:bodyPr wrap="none">
            <a:spAutoFit/>
          </a:bodyPr>
          <a:lstStyle/>
          <a:p>
            <a:r>
              <a:rPr sz="2700" b="1">
                <a:solidFill>
                  <a:srgbClr val="0F3F6F"/>
                </a:solidFill>
                <a:latin typeface="Aptos Narrow"/>
              </a:rPr>
              <a:t>Data Lakehouse — xu hướng kết hợp hiện đại</a:t>
            </a:r>
          </a:p>
        </p:txBody>
      </p:sp>
      <p:sp>
        <p:nvSpPr>
          <p:cNvPr id="7" name="TextBox 6"/>
          <p:cNvSpPr txBox="1"/>
          <p:nvPr/>
        </p:nvSpPr>
        <p:spPr>
          <a:xfrm>
            <a:off x="11475720" y="6492240"/>
            <a:ext cx="384048" cy="182880"/>
          </a:xfrm>
          <a:prstGeom prst="rect">
            <a:avLst/>
          </a:prstGeom>
          <a:noFill/>
        </p:spPr>
        <p:txBody>
          <a:bodyPr wrap="none">
            <a:spAutoFit/>
          </a:bodyPr>
          <a:lstStyle/>
          <a:p>
            <a:pPr algn="r"/>
            <a:r>
              <a:rPr sz="800">
                <a:solidFill>
                  <a:srgbClr val="5F5F5F"/>
                </a:solidFill>
                <a:latin typeface="Aptos"/>
              </a:rPr>
              <a:t>26</a:t>
            </a:r>
          </a:p>
        </p:txBody>
      </p:sp>
      <p:sp>
        <p:nvSpPr>
          <p:cNvPr id="8" name="Rounded Rectangle 7"/>
          <p:cNvSpPr/>
          <p:nvPr/>
        </p:nvSpPr>
        <p:spPr>
          <a:xfrm>
            <a:off x="685800" y="987552"/>
            <a:ext cx="10698480" cy="502920"/>
          </a:xfrm>
          <a:prstGeom prst="roundRect">
            <a:avLst/>
          </a:prstGeom>
          <a:solidFill>
            <a:srgbClr val="E7EEF5"/>
          </a:solidFill>
          <a:ln>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i="1">
                <a:solidFill>
                  <a:srgbClr val="0F3F6F"/>
                </a:solidFill>
                <a:latin typeface="Aptos"/>
              </a:rPr>
              <a:t>Lakehouse xuất hiện để kết hợp tính linh hoạt của Data Lake với khả năng quản trị/truy vấn mạnh của Data Warehouse.</a:t>
            </a:r>
          </a:p>
        </p:txBody>
      </p:sp>
      <p:sp>
        <p:nvSpPr>
          <p:cNvPr id="9" name="TextBox 8"/>
          <p:cNvSpPr txBox="1"/>
          <p:nvPr/>
        </p:nvSpPr>
        <p:spPr>
          <a:xfrm>
            <a:off x="868680" y="1691640"/>
            <a:ext cx="10195560" cy="4434840"/>
          </a:xfrm>
          <a:prstGeom prst="rect">
            <a:avLst/>
          </a:prstGeom>
          <a:noFill/>
        </p:spPr>
        <p:txBody>
          <a:bodyPr wrap="square">
            <a:spAutoFit/>
          </a:bodyPr>
          <a:lstStyle/>
          <a:p>
            <a:pPr>
              <a:spcAft>
                <a:spcPts val="600"/>
              </a:spcAft>
            </a:pPr>
            <a:r>
              <a:rPr sz="2000" b="1">
                <a:solidFill>
                  <a:srgbClr val="435266"/>
                </a:solidFill>
                <a:latin typeface="Aptos"/>
              </a:rPr>
              <a:t>Điểm xuất phát: doanh nghiệp muốn vừa lưu dữ liệu thô đa dạng vừa hỗ trợ phân tích/BI/ML hiệu quả.</a:t>
            </a:r>
          </a:p>
          <a:p>
            <a:pPr>
              <a:spcAft>
                <a:spcPts val="600"/>
              </a:spcAft>
            </a:pPr>
            <a:r>
              <a:rPr sz="2000" b="1">
                <a:solidFill>
                  <a:srgbClr val="435266"/>
                </a:solidFill>
                <a:latin typeface="Aptos"/>
              </a:rPr>
              <a:t>Ưu điểm 1: hỗ trợ dữ liệu lớn, đa dạng như Data Lake.</a:t>
            </a:r>
          </a:p>
          <a:p>
            <a:pPr>
              <a:spcAft>
                <a:spcPts val="600"/>
              </a:spcAft>
            </a:pPr>
            <a:r>
              <a:rPr sz="2000" b="1">
                <a:solidFill>
                  <a:srgbClr val="435266"/>
                </a:solidFill>
                <a:latin typeface="Aptos"/>
              </a:rPr>
              <a:t>Ưu điểm 2: có quản lý schema, chất lượng dữ liệu, hiệu năng truy vấn tốt hơn Data Lake thuần túy.</a:t>
            </a:r>
          </a:p>
          <a:p>
            <a:pPr>
              <a:spcAft>
                <a:spcPts val="600"/>
              </a:spcAft>
            </a:pPr>
            <a:r>
              <a:rPr sz="2000" b="1">
                <a:solidFill>
                  <a:srgbClr val="435266"/>
                </a:solidFill>
                <a:latin typeface="Aptos"/>
              </a:rPr>
              <a:t>Ưu điểm 3: phù hợp cho cả kỹ sư dữ liệu, nhà phân tích và nhóm machine learning.</a:t>
            </a:r>
          </a:p>
          <a:p>
            <a:pPr>
              <a:spcAft>
                <a:spcPts val="600"/>
              </a:spcAft>
            </a:pPr>
            <a:r>
              <a:rPr sz="2000" b="1">
                <a:solidFill>
                  <a:srgbClr val="435266"/>
                </a:solidFill>
                <a:latin typeface="Aptos"/>
              </a:rPr>
              <a:t>Ví dụ công nghệ: Delta Lake, Apache Iceberg, Apache Hudi.</a:t>
            </a:r>
          </a:p>
          <a:p>
            <a:pPr>
              <a:spcAft>
                <a:spcPts val="600"/>
              </a:spcAft>
            </a:pPr>
            <a:r>
              <a:rPr sz="2000" b="1">
                <a:solidFill>
                  <a:srgbClr val="435266"/>
                </a:solidFill>
                <a:latin typeface="Aptos"/>
              </a:rPr>
              <a:t>Thông điệp: Lakehouse đang là mô hình phổ biến trên cloud và trong nhiều kiến trúc dữ liệu hiện đại.</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210312"/>
          </a:xfrm>
          <a:prstGeom prst="rect">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Parallelogram 2"/>
          <p:cNvSpPr/>
          <p:nvPr/>
        </p:nvSpPr>
        <p:spPr>
          <a:xfrm>
            <a:off x="8339327" y="0"/>
            <a:ext cx="640080" cy="210312"/>
          </a:xfrm>
          <a:prstGeom prst="parallelogram">
            <a:avLst/>
          </a:prstGeom>
          <a:solidFill>
            <a:srgbClr val="8497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Parallelogram 3"/>
          <p:cNvSpPr/>
          <p:nvPr/>
        </p:nvSpPr>
        <p:spPr>
          <a:xfrm>
            <a:off x="8732520" y="0"/>
            <a:ext cx="969264" cy="1005840"/>
          </a:xfrm>
          <a:prstGeom prst="parallelogram">
            <a:avLst/>
          </a:prstGeom>
          <a:solidFill>
            <a:srgbClr val="85B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Parallelogram 4"/>
          <p:cNvSpPr/>
          <p:nvPr/>
        </p:nvSpPr>
        <p:spPr>
          <a:xfrm>
            <a:off x="9747504" y="0"/>
            <a:ext cx="1005840" cy="1005840"/>
          </a:xfrm>
          <a:prstGeom prst="parallelogram">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30352" y="347472"/>
            <a:ext cx="8321040" cy="512064"/>
          </a:xfrm>
          <a:prstGeom prst="rect">
            <a:avLst/>
          </a:prstGeom>
          <a:noFill/>
        </p:spPr>
        <p:txBody>
          <a:bodyPr wrap="none">
            <a:spAutoFit/>
          </a:bodyPr>
          <a:lstStyle/>
          <a:p>
            <a:r>
              <a:rPr sz="2700" b="1">
                <a:solidFill>
                  <a:srgbClr val="0F3F6F"/>
                </a:solidFill>
                <a:latin typeface="Aptos Narrow"/>
              </a:rPr>
              <a:t>So sánh kiến trúc Lambda và Kappa</a:t>
            </a:r>
          </a:p>
        </p:txBody>
      </p:sp>
      <p:sp>
        <p:nvSpPr>
          <p:cNvPr id="7" name="TextBox 6"/>
          <p:cNvSpPr txBox="1"/>
          <p:nvPr/>
        </p:nvSpPr>
        <p:spPr>
          <a:xfrm>
            <a:off x="11475720" y="6492240"/>
            <a:ext cx="384048" cy="182880"/>
          </a:xfrm>
          <a:prstGeom prst="rect">
            <a:avLst/>
          </a:prstGeom>
          <a:noFill/>
        </p:spPr>
        <p:txBody>
          <a:bodyPr wrap="none">
            <a:spAutoFit/>
          </a:bodyPr>
          <a:lstStyle/>
          <a:p>
            <a:pPr algn="r"/>
            <a:r>
              <a:rPr sz="800">
                <a:solidFill>
                  <a:srgbClr val="5F5F5F"/>
                </a:solidFill>
                <a:latin typeface="Aptos"/>
              </a:rPr>
              <a:t>27</a:t>
            </a:r>
          </a:p>
        </p:txBody>
      </p:sp>
      <p:pic>
        <p:nvPicPr>
          <p:cNvPr id="8" name="Picture 7" descr="body-18.png"/>
          <p:cNvPicPr>
            <a:picLocks noChangeAspect="1"/>
          </p:cNvPicPr>
          <p:nvPr/>
        </p:nvPicPr>
        <p:blipFill>
          <a:blip r:embed="rId2"/>
          <a:stretch>
            <a:fillRect/>
          </a:stretch>
        </p:blipFill>
        <p:spPr>
          <a:xfrm>
            <a:off x="1397186" y="969264"/>
            <a:ext cx="9083683" cy="5605272"/>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210312"/>
          </a:xfrm>
          <a:prstGeom prst="rect">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Parallelogram 2"/>
          <p:cNvSpPr/>
          <p:nvPr/>
        </p:nvSpPr>
        <p:spPr>
          <a:xfrm>
            <a:off x="8339327" y="0"/>
            <a:ext cx="640080" cy="210312"/>
          </a:xfrm>
          <a:prstGeom prst="parallelogram">
            <a:avLst/>
          </a:prstGeom>
          <a:solidFill>
            <a:srgbClr val="8497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Parallelogram 3"/>
          <p:cNvSpPr/>
          <p:nvPr/>
        </p:nvSpPr>
        <p:spPr>
          <a:xfrm>
            <a:off x="8732520" y="0"/>
            <a:ext cx="969264" cy="1005840"/>
          </a:xfrm>
          <a:prstGeom prst="parallelogram">
            <a:avLst/>
          </a:prstGeom>
          <a:solidFill>
            <a:srgbClr val="85B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Parallelogram 4"/>
          <p:cNvSpPr/>
          <p:nvPr/>
        </p:nvSpPr>
        <p:spPr>
          <a:xfrm>
            <a:off x="9747504" y="0"/>
            <a:ext cx="1005840" cy="1005840"/>
          </a:xfrm>
          <a:prstGeom prst="parallelogram">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577840" y="1234440"/>
            <a:ext cx="1280160" cy="731520"/>
          </a:xfrm>
          <a:prstGeom prst="rect">
            <a:avLst/>
          </a:prstGeom>
          <a:noFill/>
        </p:spPr>
        <p:txBody>
          <a:bodyPr wrap="none">
            <a:spAutoFit/>
          </a:bodyPr>
          <a:lstStyle/>
          <a:p>
            <a:pPr algn="ctr"/>
            <a:r>
              <a:rPr sz="3400"/>
              <a:t>☕</a:t>
            </a:r>
          </a:p>
        </p:txBody>
      </p:sp>
      <p:sp>
        <p:nvSpPr>
          <p:cNvPr id="7" name="TextBox 6"/>
          <p:cNvSpPr txBox="1"/>
          <p:nvPr/>
        </p:nvSpPr>
        <p:spPr>
          <a:xfrm>
            <a:off x="1828800" y="1920240"/>
            <a:ext cx="8595360" cy="822960"/>
          </a:xfrm>
          <a:prstGeom prst="rect">
            <a:avLst/>
          </a:prstGeom>
          <a:noFill/>
        </p:spPr>
        <p:txBody>
          <a:bodyPr wrap="none">
            <a:spAutoFit/>
          </a:bodyPr>
          <a:lstStyle/>
          <a:p>
            <a:pPr algn="ctr"/>
            <a:r>
              <a:rPr sz="3200" b="1">
                <a:solidFill>
                  <a:srgbClr val="0F3F6F"/>
                </a:solidFill>
                <a:latin typeface="Aptos Narrow"/>
              </a:rPr>
              <a:t>Giải lao — 15 phút</a:t>
            </a:r>
          </a:p>
        </p:txBody>
      </p:sp>
      <p:sp>
        <p:nvSpPr>
          <p:cNvPr id="8" name="TextBox 7"/>
          <p:cNvSpPr txBox="1"/>
          <p:nvPr/>
        </p:nvSpPr>
        <p:spPr>
          <a:xfrm>
            <a:off x="1143000" y="2971800"/>
            <a:ext cx="10058400" cy="731520"/>
          </a:xfrm>
          <a:prstGeom prst="rect">
            <a:avLst/>
          </a:prstGeom>
          <a:noFill/>
        </p:spPr>
        <p:txBody>
          <a:bodyPr wrap="none">
            <a:spAutoFit/>
          </a:bodyPr>
          <a:lstStyle/>
          <a:p>
            <a:pPr algn="ctr"/>
            <a:r>
              <a:rPr sz="1800">
                <a:solidFill>
                  <a:srgbClr val="435266"/>
                </a:solidFill>
                <a:latin typeface="Aptos"/>
              </a:rPr>
              <a:t>Buổi học sẽ tiếp tục với Phần 1.4 — Ứng dụng Big Data trong công nghiệp</a:t>
            </a:r>
          </a:p>
        </p:txBody>
      </p:sp>
      <p:sp>
        <p:nvSpPr>
          <p:cNvPr id="9" name="TextBox 8"/>
          <p:cNvSpPr txBox="1"/>
          <p:nvPr/>
        </p:nvSpPr>
        <p:spPr>
          <a:xfrm>
            <a:off x="11475720" y="6492240"/>
            <a:ext cx="384048" cy="182880"/>
          </a:xfrm>
          <a:prstGeom prst="rect">
            <a:avLst/>
          </a:prstGeom>
          <a:noFill/>
        </p:spPr>
        <p:txBody>
          <a:bodyPr wrap="none">
            <a:spAutoFit/>
          </a:bodyPr>
          <a:lstStyle/>
          <a:p>
            <a:pPr algn="r"/>
            <a:r>
              <a:rPr sz="800">
                <a:solidFill>
                  <a:srgbClr val="5F5F5F"/>
                </a:solidFill>
                <a:latin typeface="Aptos"/>
              </a:rPr>
              <a:t>28</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210312"/>
          </a:xfrm>
          <a:prstGeom prst="rect">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Parallelogram 2"/>
          <p:cNvSpPr/>
          <p:nvPr/>
        </p:nvSpPr>
        <p:spPr>
          <a:xfrm>
            <a:off x="8339327" y="0"/>
            <a:ext cx="640080" cy="210312"/>
          </a:xfrm>
          <a:prstGeom prst="parallelogram">
            <a:avLst/>
          </a:prstGeom>
          <a:solidFill>
            <a:srgbClr val="8497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Parallelogram 3"/>
          <p:cNvSpPr/>
          <p:nvPr/>
        </p:nvSpPr>
        <p:spPr>
          <a:xfrm>
            <a:off x="8732520" y="0"/>
            <a:ext cx="969264" cy="1005840"/>
          </a:xfrm>
          <a:prstGeom prst="parallelogram">
            <a:avLst/>
          </a:prstGeom>
          <a:solidFill>
            <a:srgbClr val="85B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Parallelogram 4"/>
          <p:cNvSpPr/>
          <p:nvPr/>
        </p:nvSpPr>
        <p:spPr>
          <a:xfrm>
            <a:off x="9747504" y="0"/>
            <a:ext cx="1005840" cy="1005840"/>
          </a:xfrm>
          <a:prstGeom prst="parallelogram">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8368" y="1389888"/>
            <a:ext cx="2743200" cy="411480"/>
          </a:xfrm>
          <a:prstGeom prst="rect">
            <a:avLst/>
          </a:prstGeom>
          <a:noFill/>
        </p:spPr>
        <p:txBody>
          <a:bodyPr wrap="none">
            <a:spAutoFit/>
          </a:bodyPr>
          <a:lstStyle/>
          <a:p>
            <a:r>
              <a:rPr sz="2200" b="1">
                <a:solidFill>
                  <a:srgbClr val="85B518"/>
                </a:solidFill>
                <a:latin typeface="Aptos Narrow"/>
              </a:rPr>
              <a:t>PHẦN 1.4</a:t>
            </a:r>
          </a:p>
        </p:txBody>
      </p:sp>
      <p:sp>
        <p:nvSpPr>
          <p:cNvPr id="7" name="TextBox 6"/>
          <p:cNvSpPr txBox="1"/>
          <p:nvPr/>
        </p:nvSpPr>
        <p:spPr>
          <a:xfrm>
            <a:off x="658368" y="2011680"/>
            <a:ext cx="10241280" cy="1325880"/>
          </a:xfrm>
          <a:prstGeom prst="rect">
            <a:avLst/>
          </a:prstGeom>
          <a:noFill/>
        </p:spPr>
        <p:txBody>
          <a:bodyPr wrap="none">
            <a:spAutoFit/>
          </a:bodyPr>
          <a:lstStyle/>
          <a:p>
            <a:r>
              <a:rPr sz="3700" b="1">
                <a:solidFill>
                  <a:srgbClr val="0F3F6F"/>
                </a:solidFill>
                <a:latin typeface="Aptos Narrow"/>
              </a:rPr>
              <a:t>Ứng dụng Big Data trong công nghiệp</a:t>
            </a:r>
          </a:p>
        </p:txBody>
      </p:sp>
      <p:sp>
        <p:nvSpPr>
          <p:cNvPr id="8" name="TextBox 7"/>
          <p:cNvSpPr txBox="1"/>
          <p:nvPr/>
        </p:nvSpPr>
        <p:spPr>
          <a:xfrm>
            <a:off x="685800" y="3364992"/>
            <a:ext cx="10012680" cy="914400"/>
          </a:xfrm>
          <a:prstGeom prst="rect">
            <a:avLst/>
          </a:prstGeom>
          <a:noFill/>
        </p:spPr>
        <p:txBody>
          <a:bodyPr wrap="none">
            <a:spAutoFit/>
          </a:bodyPr>
          <a:lstStyle/>
          <a:p>
            <a:r>
              <a:rPr sz="1800">
                <a:solidFill>
                  <a:srgbClr val="435266"/>
                </a:solidFill>
                <a:latin typeface="Aptos"/>
              </a:rPr>
              <a:t>Vai trò trong Công nghiệp 4.0, case study thực tế và chuyển đổi số</a:t>
            </a:r>
          </a:p>
        </p:txBody>
      </p:sp>
      <p:sp>
        <p:nvSpPr>
          <p:cNvPr id="9" name="Rectangle 8"/>
          <p:cNvSpPr/>
          <p:nvPr/>
        </p:nvSpPr>
        <p:spPr>
          <a:xfrm>
            <a:off x="685800" y="4974336"/>
            <a:ext cx="5212080" cy="50292"/>
          </a:xfrm>
          <a:prstGeom prst="rect">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016752" y="4974336"/>
            <a:ext cx="1143000" cy="50292"/>
          </a:xfrm>
          <a:prstGeom prst="rect">
            <a:avLst/>
          </a:prstGeom>
          <a:solidFill>
            <a:srgbClr val="85B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1475720" y="6492240"/>
            <a:ext cx="384048" cy="182880"/>
          </a:xfrm>
          <a:prstGeom prst="rect">
            <a:avLst/>
          </a:prstGeom>
          <a:noFill/>
        </p:spPr>
        <p:txBody>
          <a:bodyPr wrap="none">
            <a:spAutoFit/>
          </a:bodyPr>
          <a:lstStyle/>
          <a:p>
            <a:pPr algn="r"/>
            <a:r>
              <a:rPr sz="800">
                <a:solidFill>
                  <a:srgbClr val="5F5F5F"/>
                </a:solidFill>
                <a:latin typeface="Aptos"/>
              </a:rPr>
              <a:t>29</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210312"/>
          </a:xfrm>
          <a:prstGeom prst="rect">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Parallelogram 2"/>
          <p:cNvSpPr/>
          <p:nvPr/>
        </p:nvSpPr>
        <p:spPr>
          <a:xfrm>
            <a:off x="8339327" y="0"/>
            <a:ext cx="640080" cy="210312"/>
          </a:xfrm>
          <a:prstGeom prst="parallelogram">
            <a:avLst/>
          </a:prstGeom>
          <a:solidFill>
            <a:srgbClr val="8497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Parallelogram 3"/>
          <p:cNvSpPr/>
          <p:nvPr/>
        </p:nvSpPr>
        <p:spPr>
          <a:xfrm>
            <a:off x="8732520" y="0"/>
            <a:ext cx="969264" cy="1005840"/>
          </a:xfrm>
          <a:prstGeom prst="parallelogram">
            <a:avLst/>
          </a:prstGeom>
          <a:solidFill>
            <a:srgbClr val="85B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Parallelogram 4"/>
          <p:cNvSpPr/>
          <p:nvPr/>
        </p:nvSpPr>
        <p:spPr>
          <a:xfrm>
            <a:off x="9747504" y="0"/>
            <a:ext cx="1005840" cy="1005840"/>
          </a:xfrm>
          <a:prstGeom prst="parallelogram">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30352" y="347472"/>
            <a:ext cx="8321040" cy="512064"/>
          </a:xfrm>
          <a:prstGeom prst="rect">
            <a:avLst/>
          </a:prstGeom>
          <a:noFill/>
        </p:spPr>
        <p:txBody>
          <a:bodyPr wrap="none">
            <a:spAutoFit/>
          </a:bodyPr>
          <a:lstStyle/>
          <a:p>
            <a:r>
              <a:rPr sz="2700" b="1">
                <a:solidFill>
                  <a:srgbClr val="0F3F6F"/>
                </a:solidFill>
                <a:latin typeface="Aptos Narrow"/>
              </a:rPr>
              <a:t>Vai trò Big Data trong Công nghiệp 4.0</a:t>
            </a:r>
          </a:p>
        </p:txBody>
      </p:sp>
      <p:sp>
        <p:nvSpPr>
          <p:cNvPr id="7" name="TextBox 6"/>
          <p:cNvSpPr txBox="1"/>
          <p:nvPr/>
        </p:nvSpPr>
        <p:spPr>
          <a:xfrm>
            <a:off x="11475720" y="6492240"/>
            <a:ext cx="384048" cy="182880"/>
          </a:xfrm>
          <a:prstGeom prst="rect">
            <a:avLst/>
          </a:prstGeom>
          <a:noFill/>
        </p:spPr>
        <p:txBody>
          <a:bodyPr wrap="none">
            <a:spAutoFit/>
          </a:bodyPr>
          <a:lstStyle/>
          <a:p>
            <a:pPr algn="r"/>
            <a:r>
              <a:rPr sz="800">
                <a:solidFill>
                  <a:srgbClr val="5F5F5F"/>
                </a:solidFill>
                <a:latin typeface="Aptos"/>
              </a:rPr>
              <a:t>30</a:t>
            </a:r>
          </a:p>
        </p:txBody>
      </p:sp>
      <p:pic>
        <p:nvPicPr>
          <p:cNvPr id="8" name="Picture 7" descr="body-21.png"/>
          <p:cNvPicPr>
            <a:picLocks noChangeAspect="1"/>
          </p:cNvPicPr>
          <p:nvPr/>
        </p:nvPicPr>
        <p:blipFill>
          <a:blip r:embed="rId2"/>
          <a:stretch>
            <a:fillRect/>
          </a:stretch>
        </p:blipFill>
        <p:spPr>
          <a:xfrm>
            <a:off x="1397186" y="969264"/>
            <a:ext cx="9083683" cy="5605272"/>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210312"/>
          </a:xfrm>
          <a:prstGeom prst="rect">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Parallelogram 2"/>
          <p:cNvSpPr/>
          <p:nvPr/>
        </p:nvSpPr>
        <p:spPr>
          <a:xfrm>
            <a:off x="8339327" y="0"/>
            <a:ext cx="640080" cy="210312"/>
          </a:xfrm>
          <a:prstGeom prst="parallelogram">
            <a:avLst/>
          </a:prstGeom>
          <a:solidFill>
            <a:srgbClr val="8497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Parallelogram 3"/>
          <p:cNvSpPr/>
          <p:nvPr/>
        </p:nvSpPr>
        <p:spPr>
          <a:xfrm>
            <a:off x="8732520" y="0"/>
            <a:ext cx="969264" cy="1005840"/>
          </a:xfrm>
          <a:prstGeom prst="parallelogram">
            <a:avLst/>
          </a:prstGeom>
          <a:solidFill>
            <a:srgbClr val="85B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Parallelogram 4"/>
          <p:cNvSpPr/>
          <p:nvPr/>
        </p:nvSpPr>
        <p:spPr>
          <a:xfrm>
            <a:off x="9747504" y="0"/>
            <a:ext cx="1005840" cy="1005840"/>
          </a:xfrm>
          <a:prstGeom prst="parallelogram">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30352" y="347472"/>
            <a:ext cx="8321040" cy="512064"/>
          </a:xfrm>
          <a:prstGeom prst="rect">
            <a:avLst/>
          </a:prstGeom>
          <a:noFill/>
        </p:spPr>
        <p:txBody>
          <a:bodyPr wrap="none">
            <a:spAutoFit/>
          </a:bodyPr>
          <a:lstStyle/>
          <a:p>
            <a:r>
              <a:rPr sz="2700" b="1">
                <a:solidFill>
                  <a:srgbClr val="0F3F6F"/>
                </a:solidFill>
                <a:latin typeface="Aptos Narrow"/>
              </a:rPr>
              <a:t>Ứng dụng Big Data theo chuỗi giá trị nhà máy</a:t>
            </a:r>
          </a:p>
        </p:txBody>
      </p:sp>
      <p:sp>
        <p:nvSpPr>
          <p:cNvPr id="7" name="TextBox 6"/>
          <p:cNvSpPr txBox="1"/>
          <p:nvPr/>
        </p:nvSpPr>
        <p:spPr>
          <a:xfrm>
            <a:off x="11475720" y="6492240"/>
            <a:ext cx="384048" cy="182880"/>
          </a:xfrm>
          <a:prstGeom prst="rect">
            <a:avLst/>
          </a:prstGeom>
          <a:noFill/>
        </p:spPr>
        <p:txBody>
          <a:bodyPr wrap="none">
            <a:spAutoFit/>
          </a:bodyPr>
          <a:lstStyle/>
          <a:p>
            <a:pPr algn="r"/>
            <a:r>
              <a:rPr sz="800">
                <a:solidFill>
                  <a:srgbClr val="5F5F5F"/>
                </a:solidFill>
                <a:latin typeface="Aptos"/>
              </a:rPr>
              <a:t>31</a:t>
            </a:r>
          </a:p>
        </p:txBody>
      </p:sp>
      <p:sp>
        <p:nvSpPr>
          <p:cNvPr id="8" name="Rounded Rectangle 7"/>
          <p:cNvSpPr/>
          <p:nvPr/>
        </p:nvSpPr>
        <p:spPr>
          <a:xfrm>
            <a:off x="548640" y="1920240"/>
            <a:ext cx="1828800" cy="2148840"/>
          </a:xfrm>
          <a:prstGeom prst="roundRect">
            <a:avLst/>
          </a:prstGeom>
          <a:solidFill>
            <a:srgbClr val="E7EEF5"/>
          </a:solidFill>
          <a:ln>
            <a:solidFill>
              <a:srgbClr val="D6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21792" y="2084831"/>
            <a:ext cx="1682496" cy="365760"/>
          </a:xfrm>
          <a:prstGeom prst="rect">
            <a:avLst/>
          </a:prstGeom>
          <a:noFill/>
        </p:spPr>
        <p:txBody>
          <a:bodyPr wrap="none">
            <a:spAutoFit/>
          </a:bodyPr>
          <a:lstStyle/>
          <a:p>
            <a:r>
              <a:rPr sz="1800" b="1">
                <a:solidFill>
                  <a:srgbClr val="0F3F6F"/>
                </a:solidFill>
                <a:latin typeface="Aptos Narrow"/>
              </a:rPr>
              <a:t>Mua hàng</a:t>
            </a:r>
          </a:p>
        </p:txBody>
      </p:sp>
      <p:sp>
        <p:nvSpPr>
          <p:cNvPr id="10" name="TextBox 9"/>
          <p:cNvSpPr txBox="1"/>
          <p:nvPr/>
        </p:nvSpPr>
        <p:spPr>
          <a:xfrm>
            <a:off x="640080" y="2468880"/>
            <a:ext cx="1645920" cy="1325880"/>
          </a:xfrm>
          <a:prstGeom prst="rect">
            <a:avLst/>
          </a:prstGeom>
          <a:noFill/>
        </p:spPr>
        <p:txBody>
          <a:bodyPr wrap="square">
            <a:spAutoFit/>
          </a:bodyPr>
          <a:lstStyle/>
          <a:p>
            <a:pPr algn="ctr"/>
            <a:r>
              <a:rPr sz="1400">
                <a:solidFill>
                  <a:srgbClr val="435266"/>
                </a:solidFill>
                <a:latin typeface="Aptos"/>
              </a:rPr>
              <a:t>Dự báo nhu cầu vật tư, giảm tồn kho và đứt hàng.</a:t>
            </a:r>
          </a:p>
        </p:txBody>
      </p:sp>
      <p:cxnSp>
        <p:nvCxnSpPr>
          <p:cNvPr id="11" name="Connector 10"/>
          <p:cNvCxnSpPr/>
          <p:nvPr/>
        </p:nvCxnSpPr>
        <p:spPr>
          <a:xfrm>
            <a:off x="2377440" y="2999232"/>
            <a:ext cx="137160" cy="0"/>
          </a:xfrm>
          <a:prstGeom prst="line">
            <a:avLst/>
          </a:prstGeom>
          <a:ln w="25400">
            <a:solidFill>
              <a:srgbClr val="0F3F6F"/>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606040" y="1920240"/>
            <a:ext cx="1828800" cy="2148840"/>
          </a:xfrm>
          <a:prstGeom prst="roundRect">
            <a:avLst/>
          </a:prstGeom>
          <a:solidFill>
            <a:srgbClr val="E9F3D6"/>
          </a:solidFill>
          <a:ln>
            <a:solidFill>
              <a:srgbClr val="D6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679192" y="2084831"/>
            <a:ext cx="1682496" cy="365760"/>
          </a:xfrm>
          <a:prstGeom prst="rect">
            <a:avLst/>
          </a:prstGeom>
          <a:noFill/>
        </p:spPr>
        <p:txBody>
          <a:bodyPr wrap="none">
            <a:spAutoFit/>
          </a:bodyPr>
          <a:lstStyle/>
          <a:p>
            <a:r>
              <a:rPr sz="1800" b="1">
                <a:solidFill>
                  <a:srgbClr val="0F3F6F"/>
                </a:solidFill>
                <a:latin typeface="Aptos Narrow"/>
              </a:rPr>
              <a:t>Sản xuất</a:t>
            </a:r>
          </a:p>
        </p:txBody>
      </p:sp>
      <p:sp>
        <p:nvSpPr>
          <p:cNvPr id="14" name="TextBox 13"/>
          <p:cNvSpPr txBox="1"/>
          <p:nvPr/>
        </p:nvSpPr>
        <p:spPr>
          <a:xfrm>
            <a:off x="2697480" y="2468880"/>
            <a:ext cx="1645920" cy="1325880"/>
          </a:xfrm>
          <a:prstGeom prst="rect">
            <a:avLst/>
          </a:prstGeom>
          <a:noFill/>
        </p:spPr>
        <p:txBody>
          <a:bodyPr wrap="square">
            <a:spAutoFit/>
          </a:bodyPr>
          <a:lstStyle/>
          <a:p>
            <a:pPr algn="ctr"/>
            <a:r>
              <a:rPr sz="1400">
                <a:solidFill>
                  <a:srgbClr val="435266"/>
                </a:solidFill>
                <a:latin typeface="Aptos"/>
              </a:rPr>
              <a:t>Giám sát máy móc, tối ưu throughput và giảm downtime.</a:t>
            </a:r>
          </a:p>
        </p:txBody>
      </p:sp>
      <p:cxnSp>
        <p:nvCxnSpPr>
          <p:cNvPr id="15" name="Connector 14"/>
          <p:cNvCxnSpPr/>
          <p:nvPr/>
        </p:nvCxnSpPr>
        <p:spPr>
          <a:xfrm>
            <a:off x="4434840" y="2999232"/>
            <a:ext cx="137160" cy="0"/>
          </a:xfrm>
          <a:prstGeom prst="line">
            <a:avLst/>
          </a:prstGeom>
          <a:ln w="25400">
            <a:solidFill>
              <a:srgbClr val="0F3F6F"/>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4663440" y="1920240"/>
            <a:ext cx="1828800" cy="2148840"/>
          </a:xfrm>
          <a:prstGeom prst="roundRect">
            <a:avLst/>
          </a:prstGeom>
          <a:solidFill>
            <a:srgbClr val="F0F4F7"/>
          </a:solidFill>
          <a:ln>
            <a:solidFill>
              <a:srgbClr val="D6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736592" y="2084831"/>
            <a:ext cx="1682496" cy="365760"/>
          </a:xfrm>
          <a:prstGeom prst="rect">
            <a:avLst/>
          </a:prstGeom>
          <a:noFill/>
        </p:spPr>
        <p:txBody>
          <a:bodyPr wrap="none">
            <a:spAutoFit/>
          </a:bodyPr>
          <a:lstStyle/>
          <a:p>
            <a:r>
              <a:rPr sz="1800" b="1">
                <a:solidFill>
                  <a:srgbClr val="0F3F6F"/>
                </a:solidFill>
                <a:latin typeface="Aptos Narrow"/>
              </a:rPr>
              <a:t>Chất lượng</a:t>
            </a:r>
          </a:p>
        </p:txBody>
      </p:sp>
      <p:sp>
        <p:nvSpPr>
          <p:cNvPr id="18" name="TextBox 17"/>
          <p:cNvSpPr txBox="1"/>
          <p:nvPr/>
        </p:nvSpPr>
        <p:spPr>
          <a:xfrm>
            <a:off x="4754879" y="2468880"/>
            <a:ext cx="1645920" cy="1325880"/>
          </a:xfrm>
          <a:prstGeom prst="rect">
            <a:avLst/>
          </a:prstGeom>
          <a:noFill/>
        </p:spPr>
        <p:txBody>
          <a:bodyPr wrap="square">
            <a:spAutoFit/>
          </a:bodyPr>
          <a:lstStyle/>
          <a:p>
            <a:pPr algn="ctr"/>
            <a:r>
              <a:rPr sz="1400">
                <a:solidFill>
                  <a:srgbClr val="435266"/>
                </a:solidFill>
                <a:latin typeface="Aptos"/>
              </a:rPr>
              <a:t>Phát hiện lỗi, truy vết nguyên nhân, giảm phế phẩm.</a:t>
            </a:r>
          </a:p>
        </p:txBody>
      </p:sp>
      <p:cxnSp>
        <p:nvCxnSpPr>
          <p:cNvPr id="19" name="Connector 18"/>
          <p:cNvCxnSpPr/>
          <p:nvPr/>
        </p:nvCxnSpPr>
        <p:spPr>
          <a:xfrm>
            <a:off x="6492240" y="2999232"/>
            <a:ext cx="137160" cy="0"/>
          </a:xfrm>
          <a:prstGeom prst="line">
            <a:avLst/>
          </a:prstGeom>
          <a:ln w="25400">
            <a:solidFill>
              <a:srgbClr val="0F3F6F"/>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720840" y="1920240"/>
            <a:ext cx="1828800" cy="2148840"/>
          </a:xfrm>
          <a:prstGeom prst="roundRect">
            <a:avLst/>
          </a:prstGeom>
          <a:solidFill>
            <a:srgbClr val="E7EEF5"/>
          </a:solidFill>
          <a:ln>
            <a:solidFill>
              <a:srgbClr val="D6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793992" y="2084831"/>
            <a:ext cx="1682496" cy="365760"/>
          </a:xfrm>
          <a:prstGeom prst="rect">
            <a:avLst/>
          </a:prstGeom>
          <a:noFill/>
        </p:spPr>
        <p:txBody>
          <a:bodyPr wrap="none">
            <a:spAutoFit/>
          </a:bodyPr>
          <a:lstStyle/>
          <a:p>
            <a:r>
              <a:rPr sz="1800" b="1">
                <a:solidFill>
                  <a:srgbClr val="0F3F6F"/>
                </a:solidFill>
                <a:latin typeface="Aptos Narrow"/>
              </a:rPr>
              <a:t>Bảo trì</a:t>
            </a:r>
          </a:p>
        </p:txBody>
      </p:sp>
      <p:sp>
        <p:nvSpPr>
          <p:cNvPr id="22" name="TextBox 21"/>
          <p:cNvSpPr txBox="1"/>
          <p:nvPr/>
        </p:nvSpPr>
        <p:spPr>
          <a:xfrm>
            <a:off x="6812279" y="2468880"/>
            <a:ext cx="1645920" cy="1325880"/>
          </a:xfrm>
          <a:prstGeom prst="rect">
            <a:avLst/>
          </a:prstGeom>
          <a:noFill/>
        </p:spPr>
        <p:txBody>
          <a:bodyPr wrap="square">
            <a:spAutoFit/>
          </a:bodyPr>
          <a:lstStyle/>
          <a:p>
            <a:pPr algn="ctr"/>
            <a:r>
              <a:rPr sz="1400">
                <a:solidFill>
                  <a:srgbClr val="435266"/>
                </a:solidFill>
                <a:latin typeface="Aptos"/>
              </a:rPr>
              <a:t>Ưu tiên bảo trì dự đoán thay vì sửa chữa bị động.</a:t>
            </a:r>
          </a:p>
        </p:txBody>
      </p:sp>
      <p:cxnSp>
        <p:nvCxnSpPr>
          <p:cNvPr id="23" name="Connector 22"/>
          <p:cNvCxnSpPr/>
          <p:nvPr/>
        </p:nvCxnSpPr>
        <p:spPr>
          <a:xfrm>
            <a:off x="8549640" y="2999232"/>
            <a:ext cx="137160" cy="0"/>
          </a:xfrm>
          <a:prstGeom prst="line">
            <a:avLst/>
          </a:prstGeom>
          <a:ln w="25400">
            <a:solidFill>
              <a:srgbClr val="0F3F6F"/>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778240" y="1920240"/>
            <a:ext cx="1828800" cy="2148840"/>
          </a:xfrm>
          <a:prstGeom prst="roundRect">
            <a:avLst/>
          </a:prstGeom>
          <a:solidFill>
            <a:srgbClr val="E9F3D6"/>
          </a:solidFill>
          <a:ln>
            <a:solidFill>
              <a:srgbClr val="D6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851392" y="2084831"/>
            <a:ext cx="1682496" cy="365760"/>
          </a:xfrm>
          <a:prstGeom prst="rect">
            <a:avLst/>
          </a:prstGeom>
          <a:noFill/>
        </p:spPr>
        <p:txBody>
          <a:bodyPr wrap="none">
            <a:spAutoFit/>
          </a:bodyPr>
          <a:lstStyle/>
          <a:p>
            <a:r>
              <a:rPr sz="1800" b="1">
                <a:solidFill>
                  <a:srgbClr val="0F3F6F"/>
                </a:solidFill>
                <a:latin typeface="Aptos Narrow"/>
              </a:rPr>
              <a:t>Phân phối</a:t>
            </a:r>
          </a:p>
        </p:txBody>
      </p:sp>
      <p:sp>
        <p:nvSpPr>
          <p:cNvPr id="26" name="TextBox 25"/>
          <p:cNvSpPr txBox="1"/>
          <p:nvPr/>
        </p:nvSpPr>
        <p:spPr>
          <a:xfrm>
            <a:off x="8869680" y="2468880"/>
            <a:ext cx="1645920" cy="1325880"/>
          </a:xfrm>
          <a:prstGeom prst="rect">
            <a:avLst/>
          </a:prstGeom>
          <a:noFill/>
        </p:spPr>
        <p:txBody>
          <a:bodyPr wrap="square">
            <a:spAutoFit/>
          </a:bodyPr>
          <a:lstStyle/>
          <a:p>
            <a:pPr algn="ctr"/>
            <a:r>
              <a:rPr sz="1400">
                <a:solidFill>
                  <a:srgbClr val="435266"/>
                </a:solidFill>
                <a:latin typeface="Aptos"/>
              </a:rPr>
              <a:t>Tối ưu giao hàng, năng lượng và lịch vận chuyển.</a:t>
            </a:r>
          </a:p>
        </p:txBody>
      </p:sp>
      <p:sp>
        <p:nvSpPr>
          <p:cNvPr id="27" name="TextBox 26"/>
          <p:cNvSpPr txBox="1"/>
          <p:nvPr/>
        </p:nvSpPr>
        <p:spPr>
          <a:xfrm>
            <a:off x="868680" y="4983480"/>
            <a:ext cx="10332720" cy="914400"/>
          </a:xfrm>
          <a:prstGeom prst="rect">
            <a:avLst/>
          </a:prstGeom>
          <a:noFill/>
        </p:spPr>
        <p:txBody>
          <a:bodyPr wrap="none">
            <a:spAutoFit/>
          </a:bodyPr>
          <a:lstStyle/>
          <a:p>
            <a:pPr algn="ctr"/>
            <a:r>
              <a:rPr sz="1600" b="1">
                <a:solidFill>
                  <a:srgbClr val="0F3F6F"/>
                </a:solidFill>
                <a:latin typeface="Aptos"/>
              </a:rPr>
              <a:t>Thông điệp: Big Data không chỉ tối ưu một công đoạn riêng lẻ mà có thể kết nối toàn bộ chuỗi giá trị của nhà máy.</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210312"/>
          </a:xfrm>
          <a:prstGeom prst="rect">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Parallelogram 2"/>
          <p:cNvSpPr/>
          <p:nvPr/>
        </p:nvSpPr>
        <p:spPr>
          <a:xfrm>
            <a:off x="8339327" y="0"/>
            <a:ext cx="640080" cy="210312"/>
          </a:xfrm>
          <a:prstGeom prst="parallelogram">
            <a:avLst/>
          </a:prstGeom>
          <a:solidFill>
            <a:srgbClr val="8497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Parallelogram 3"/>
          <p:cNvSpPr/>
          <p:nvPr/>
        </p:nvSpPr>
        <p:spPr>
          <a:xfrm>
            <a:off x="8732520" y="0"/>
            <a:ext cx="969264" cy="1005840"/>
          </a:xfrm>
          <a:prstGeom prst="parallelogram">
            <a:avLst/>
          </a:prstGeom>
          <a:solidFill>
            <a:srgbClr val="85B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Parallelogram 4"/>
          <p:cNvSpPr/>
          <p:nvPr/>
        </p:nvSpPr>
        <p:spPr>
          <a:xfrm>
            <a:off x="9747504" y="0"/>
            <a:ext cx="1005840" cy="1005840"/>
          </a:xfrm>
          <a:prstGeom prst="parallelogram">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30352" y="347472"/>
            <a:ext cx="8321040" cy="512064"/>
          </a:xfrm>
          <a:prstGeom prst="rect">
            <a:avLst/>
          </a:prstGeom>
          <a:noFill/>
        </p:spPr>
        <p:txBody>
          <a:bodyPr wrap="none">
            <a:spAutoFit/>
          </a:bodyPr>
          <a:lstStyle/>
          <a:p>
            <a:r>
              <a:rPr sz="2700" b="1">
                <a:solidFill>
                  <a:srgbClr val="0F3F6F"/>
                </a:solidFill>
                <a:latin typeface="Aptos Narrow"/>
              </a:rPr>
              <a:t>Case study 1: Bảo trì dự đoán tại nhà máy CNC</a:t>
            </a:r>
          </a:p>
        </p:txBody>
      </p:sp>
      <p:sp>
        <p:nvSpPr>
          <p:cNvPr id="7" name="TextBox 6"/>
          <p:cNvSpPr txBox="1"/>
          <p:nvPr/>
        </p:nvSpPr>
        <p:spPr>
          <a:xfrm>
            <a:off x="11475720" y="6492240"/>
            <a:ext cx="384048" cy="182880"/>
          </a:xfrm>
          <a:prstGeom prst="rect">
            <a:avLst/>
          </a:prstGeom>
          <a:noFill/>
        </p:spPr>
        <p:txBody>
          <a:bodyPr wrap="none">
            <a:spAutoFit/>
          </a:bodyPr>
          <a:lstStyle/>
          <a:p>
            <a:pPr algn="r"/>
            <a:r>
              <a:rPr sz="800">
                <a:solidFill>
                  <a:srgbClr val="5F5F5F"/>
                </a:solidFill>
                <a:latin typeface="Aptos"/>
              </a:rPr>
              <a:t>32</a:t>
            </a:r>
          </a:p>
        </p:txBody>
      </p:sp>
      <p:pic>
        <p:nvPicPr>
          <p:cNvPr id="8" name="Picture 7" descr="body-22.png"/>
          <p:cNvPicPr>
            <a:picLocks noChangeAspect="1"/>
          </p:cNvPicPr>
          <p:nvPr/>
        </p:nvPicPr>
        <p:blipFill>
          <a:blip r:embed="rId2"/>
          <a:stretch>
            <a:fillRect/>
          </a:stretch>
        </p:blipFill>
        <p:spPr>
          <a:xfrm>
            <a:off x="1397186" y="969264"/>
            <a:ext cx="9083683" cy="5605272"/>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210312"/>
          </a:xfrm>
          <a:prstGeom prst="rect">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Parallelogram 2"/>
          <p:cNvSpPr/>
          <p:nvPr/>
        </p:nvSpPr>
        <p:spPr>
          <a:xfrm>
            <a:off x="8339327" y="0"/>
            <a:ext cx="640080" cy="210312"/>
          </a:xfrm>
          <a:prstGeom prst="parallelogram">
            <a:avLst/>
          </a:prstGeom>
          <a:solidFill>
            <a:srgbClr val="8497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Parallelogram 3"/>
          <p:cNvSpPr/>
          <p:nvPr/>
        </p:nvSpPr>
        <p:spPr>
          <a:xfrm>
            <a:off x="8732520" y="0"/>
            <a:ext cx="969264" cy="1005840"/>
          </a:xfrm>
          <a:prstGeom prst="parallelogram">
            <a:avLst/>
          </a:prstGeom>
          <a:solidFill>
            <a:srgbClr val="85B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Parallelogram 4"/>
          <p:cNvSpPr/>
          <p:nvPr/>
        </p:nvSpPr>
        <p:spPr>
          <a:xfrm>
            <a:off x="9747504" y="0"/>
            <a:ext cx="1005840" cy="1005840"/>
          </a:xfrm>
          <a:prstGeom prst="parallelogram">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30352" y="347472"/>
            <a:ext cx="8321040" cy="512064"/>
          </a:xfrm>
          <a:prstGeom prst="rect">
            <a:avLst/>
          </a:prstGeom>
          <a:noFill/>
        </p:spPr>
        <p:txBody>
          <a:bodyPr wrap="none">
            <a:spAutoFit/>
          </a:bodyPr>
          <a:lstStyle/>
          <a:p>
            <a:r>
              <a:rPr sz="2700" b="1">
                <a:solidFill>
                  <a:srgbClr val="0F3F6F"/>
                </a:solidFill>
                <a:latin typeface="Aptos Narrow"/>
              </a:rPr>
              <a:t>Case study 2: Kiểm soát chất lượng bằng Computer Vision</a:t>
            </a:r>
          </a:p>
        </p:txBody>
      </p:sp>
      <p:sp>
        <p:nvSpPr>
          <p:cNvPr id="7" name="TextBox 6"/>
          <p:cNvSpPr txBox="1"/>
          <p:nvPr/>
        </p:nvSpPr>
        <p:spPr>
          <a:xfrm>
            <a:off x="11475720" y="6492240"/>
            <a:ext cx="384048" cy="182880"/>
          </a:xfrm>
          <a:prstGeom prst="rect">
            <a:avLst/>
          </a:prstGeom>
          <a:noFill/>
        </p:spPr>
        <p:txBody>
          <a:bodyPr wrap="none">
            <a:spAutoFit/>
          </a:bodyPr>
          <a:lstStyle/>
          <a:p>
            <a:pPr algn="r"/>
            <a:r>
              <a:rPr sz="800">
                <a:solidFill>
                  <a:srgbClr val="5F5F5F"/>
                </a:solidFill>
                <a:latin typeface="Aptos"/>
              </a:rPr>
              <a:t>33</a:t>
            </a:r>
          </a:p>
        </p:txBody>
      </p:sp>
      <p:pic>
        <p:nvPicPr>
          <p:cNvPr id="8" name="Picture 7" descr="body-23.png"/>
          <p:cNvPicPr>
            <a:picLocks noChangeAspect="1"/>
          </p:cNvPicPr>
          <p:nvPr/>
        </p:nvPicPr>
        <p:blipFill>
          <a:blip r:embed="rId2"/>
          <a:stretch>
            <a:fillRect/>
          </a:stretch>
        </p:blipFill>
        <p:spPr>
          <a:xfrm>
            <a:off x="1397186" y="969264"/>
            <a:ext cx="9083683" cy="5605272"/>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210312"/>
          </a:xfrm>
          <a:prstGeom prst="rect">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Parallelogram 2"/>
          <p:cNvSpPr/>
          <p:nvPr/>
        </p:nvSpPr>
        <p:spPr>
          <a:xfrm>
            <a:off x="8339327" y="0"/>
            <a:ext cx="640080" cy="210312"/>
          </a:xfrm>
          <a:prstGeom prst="parallelogram">
            <a:avLst/>
          </a:prstGeom>
          <a:solidFill>
            <a:srgbClr val="8497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Parallelogram 3"/>
          <p:cNvSpPr/>
          <p:nvPr/>
        </p:nvSpPr>
        <p:spPr>
          <a:xfrm>
            <a:off x="8732520" y="0"/>
            <a:ext cx="969264" cy="1005840"/>
          </a:xfrm>
          <a:prstGeom prst="parallelogram">
            <a:avLst/>
          </a:prstGeom>
          <a:solidFill>
            <a:srgbClr val="85B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Parallelogram 4"/>
          <p:cNvSpPr/>
          <p:nvPr/>
        </p:nvSpPr>
        <p:spPr>
          <a:xfrm>
            <a:off x="9747504" y="0"/>
            <a:ext cx="1005840" cy="1005840"/>
          </a:xfrm>
          <a:prstGeom prst="parallelogram">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30352" y="347472"/>
            <a:ext cx="8321040" cy="512064"/>
          </a:xfrm>
          <a:prstGeom prst="rect">
            <a:avLst/>
          </a:prstGeom>
          <a:noFill/>
        </p:spPr>
        <p:txBody>
          <a:bodyPr wrap="none">
            <a:spAutoFit/>
          </a:bodyPr>
          <a:lstStyle/>
          <a:p>
            <a:r>
              <a:rPr sz="2700" b="1">
                <a:solidFill>
                  <a:srgbClr val="0F3F6F"/>
                </a:solidFill>
                <a:latin typeface="Aptos Narrow"/>
              </a:rPr>
              <a:t>Case study 3: Tối ưu năng lượng trong nhà máy</a:t>
            </a:r>
          </a:p>
        </p:txBody>
      </p:sp>
      <p:sp>
        <p:nvSpPr>
          <p:cNvPr id="7" name="TextBox 6"/>
          <p:cNvSpPr txBox="1"/>
          <p:nvPr/>
        </p:nvSpPr>
        <p:spPr>
          <a:xfrm>
            <a:off x="11475720" y="6492240"/>
            <a:ext cx="384048" cy="182880"/>
          </a:xfrm>
          <a:prstGeom prst="rect">
            <a:avLst/>
          </a:prstGeom>
          <a:noFill/>
        </p:spPr>
        <p:txBody>
          <a:bodyPr wrap="none">
            <a:spAutoFit/>
          </a:bodyPr>
          <a:lstStyle/>
          <a:p>
            <a:pPr algn="r"/>
            <a:r>
              <a:rPr sz="800">
                <a:solidFill>
                  <a:srgbClr val="5F5F5F"/>
                </a:solidFill>
                <a:latin typeface="Aptos"/>
              </a:rPr>
              <a:t>34</a:t>
            </a:r>
          </a:p>
        </p:txBody>
      </p:sp>
      <p:sp>
        <p:nvSpPr>
          <p:cNvPr id="8" name="Rounded Rectangle 7"/>
          <p:cNvSpPr/>
          <p:nvPr/>
        </p:nvSpPr>
        <p:spPr>
          <a:xfrm>
            <a:off x="685800" y="987552"/>
            <a:ext cx="10698480" cy="502920"/>
          </a:xfrm>
          <a:prstGeom prst="roundRect">
            <a:avLst/>
          </a:prstGeom>
          <a:solidFill>
            <a:srgbClr val="E7EEF5"/>
          </a:solidFill>
          <a:ln>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i="1">
                <a:solidFill>
                  <a:srgbClr val="0F3F6F"/>
                </a:solidFill>
                <a:latin typeface="Aptos"/>
              </a:rPr>
              <a:t>Đây là một dạng ứng dụng rất phổ biến vì chi phí năng lượng ảnh hưởng trực tiếp đến lợi nhuận.</a:t>
            </a:r>
          </a:p>
        </p:txBody>
      </p:sp>
      <p:sp>
        <p:nvSpPr>
          <p:cNvPr id="9" name="TextBox 8"/>
          <p:cNvSpPr txBox="1"/>
          <p:nvPr/>
        </p:nvSpPr>
        <p:spPr>
          <a:xfrm>
            <a:off x="868680" y="1691640"/>
            <a:ext cx="10195560" cy="4434840"/>
          </a:xfrm>
          <a:prstGeom prst="rect">
            <a:avLst/>
          </a:prstGeom>
          <a:noFill/>
        </p:spPr>
        <p:txBody>
          <a:bodyPr wrap="square">
            <a:spAutoFit/>
          </a:bodyPr>
          <a:lstStyle/>
          <a:p>
            <a:pPr>
              <a:spcAft>
                <a:spcPts val="600"/>
              </a:spcAft>
            </a:pPr>
            <a:r>
              <a:rPr sz="2000" b="1">
                <a:solidFill>
                  <a:srgbClr val="435266"/>
                </a:solidFill>
                <a:latin typeface="Aptos"/>
              </a:rPr>
              <a:t>Bối cảnh: nhà máy có nhiều khu vực tiêu thụ điện, khí nén và nước làm mát nhưng khó xác định nơi gây lãng phí.</a:t>
            </a:r>
          </a:p>
          <a:p>
            <a:pPr>
              <a:spcAft>
                <a:spcPts val="600"/>
              </a:spcAft>
            </a:pPr>
            <a:r>
              <a:rPr sz="2000" b="1">
                <a:solidFill>
                  <a:srgbClr val="435266"/>
                </a:solidFill>
                <a:latin typeface="Aptos"/>
              </a:rPr>
              <a:t>Dữ liệu đầu vào: đồng hồ điện, nhiệt độ môi trường, ca sản xuất, loại sản phẩm, trạng thái máy.</a:t>
            </a:r>
          </a:p>
          <a:p>
            <a:pPr>
              <a:spcAft>
                <a:spcPts val="600"/>
              </a:spcAft>
            </a:pPr>
            <a:r>
              <a:rPr sz="2000" b="1">
                <a:solidFill>
                  <a:srgbClr val="435266"/>
                </a:solidFill>
                <a:latin typeface="Aptos"/>
              </a:rPr>
              <a:t>Cách làm: thu thập dữ liệu theo thời gian thực, xây dashboard tiêu hao theo line/ca/máy, phát hiện các đỉnh tiêu thụ bất thường.</a:t>
            </a:r>
          </a:p>
          <a:p>
            <a:pPr>
              <a:spcAft>
                <a:spcPts val="600"/>
              </a:spcAft>
            </a:pPr>
            <a:r>
              <a:rPr sz="2000" b="1">
                <a:solidFill>
                  <a:srgbClr val="435266"/>
                </a:solidFill>
                <a:latin typeface="Aptos"/>
              </a:rPr>
              <a:t>Kết quả mong đợi: giảm tiêu hao năng lượng, hỗ trợ lập kế hoạch vận hành và tiết kiệm chi phí.</a:t>
            </a:r>
          </a:p>
          <a:p>
            <a:pPr>
              <a:spcAft>
                <a:spcPts val="600"/>
              </a:spcAft>
            </a:pPr>
            <a:r>
              <a:rPr sz="2000" b="1">
                <a:solidFill>
                  <a:srgbClr val="435266"/>
                </a:solidFill>
                <a:latin typeface="Aptos"/>
              </a:rPr>
              <a:t>Thông điệp: Big Data không chỉ phục vụ chất lượng hay bảo trì mà còn hỗ trợ mục tiêu phát triển bền vững.</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210312"/>
          </a:xfrm>
          <a:prstGeom prst="rect">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Parallelogram 2"/>
          <p:cNvSpPr/>
          <p:nvPr/>
        </p:nvSpPr>
        <p:spPr>
          <a:xfrm>
            <a:off x="8339327" y="0"/>
            <a:ext cx="640080" cy="210312"/>
          </a:xfrm>
          <a:prstGeom prst="parallelogram">
            <a:avLst/>
          </a:prstGeom>
          <a:solidFill>
            <a:srgbClr val="8497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Parallelogram 3"/>
          <p:cNvSpPr/>
          <p:nvPr/>
        </p:nvSpPr>
        <p:spPr>
          <a:xfrm>
            <a:off x="8732520" y="0"/>
            <a:ext cx="969264" cy="1005840"/>
          </a:xfrm>
          <a:prstGeom prst="parallelogram">
            <a:avLst/>
          </a:prstGeom>
          <a:solidFill>
            <a:srgbClr val="85B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Parallelogram 4"/>
          <p:cNvSpPr/>
          <p:nvPr/>
        </p:nvSpPr>
        <p:spPr>
          <a:xfrm>
            <a:off x="9747504" y="0"/>
            <a:ext cx="1005840" cy="1005840"/>
          </a:xfrm>
          <a:prstGeom prst="parallelogram">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30352" y="347472"/>
            <a:ext cx="8321040" cy="512064"/>
          </a:xfrm>
          <a:prstGeom prst="rect">
            <a:avLst/>
          </a:prstGeom>
          <a:noFill/>
        </p:spPr>
        <p:txBody>
          <a:bodyPr wrap="none">
            <a:spAutoFit/>
          </a:bodyPr>
          <a:lstStyle/>
          <a:p>
            <a:r>
              <a:rPr sz="2700" b="1">
                <a:solidFill>
                  <a:srgbClr val="0F3F6F"/>
                </a:solidFill>
                <a:latin typeface="Aptos Narrow"/>
              </a:rPr>
              <a:t>Chuyển đổi số &amp; Ra quyết định dựa trên dữ liệu</a:t>
            </a:r>
          </a:p>
        </p:txBody>
      </p:sp>
      <p:sp>
        <p:nvSpPr>
          <p:cNvPr id="7" name="TextBox 6"/>
          <p:cNvSpPr txBox="1"/>
          <p:nvPr/>
        </p:nvSpPr>
        <p:spPr>
          <a:xfrm>
            <a:off x="11475720" y="6492240"/>
            <a:ext cx="384048" cy="182880"/>
          </a:xfrm>
          <a:prstGeom prst="rect">
            <a:avLst/>
          </a:prstGeom>
          <a:noFill/>
        </p:spPr>
        <p:txBody>
          <a:bodyPr wrap="none">
            <a:spAutoFit/>
          </a:bodyPr>
          <a:lstStyle/>
          <a:p>
            <a:pPr algn="r"/>
            <a:r>
              <a:rPr sz="800">
                <a:solidFill>
                  <a:srgbClr val="5F5F5F"/>
                </a:solidFill>
                <a:latin typeface="Aptos"/>
              </a:rPr>
              <a:t>35</a:t>
            </a:r>
          </a:p>
        </p:txBody>
      </p:sp>
      <p:pic>
        <p:nvPicPr>
          <p:cNvPr id="8" name="Picture 7" descr="body-24.png"/>
          <p:cNvPicPr>
            <a:picLocks noChangeAspect="1"/>
          </p:cNvPicPr>
          <p:nvPr/>
        </p:nvPicPr>
        <p:blipFill>
          <a:blip r:embed="rId2"/>
          <a:stretch>
            <a:fillRect/>
          </a:stretch>
        </p:blipFill>
        <p:spPr>
          <a:xfrm>
            <a:off x="1397186" y="969264"/>
            <a:ext cx="9083683" cy="5605272"/>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210312"/>
          </a:xfrm>
          <a:prstGeom prst="rect">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Parallelogram 2"/>
          <p:cNvSpPr/>
          <p:nvPr/>
        </p:nvSpPr>
        <p:spPr>
          <a:xfrm>
            <a:off x="8339327" y="0"/>
            <a:ext cx="640080" cy="210312"/>
          </a:xfrm>
          <a:prstGeom prst="parallelogram">
            <a:avLst/>
          </a:prstGeom>
          <a:solidFill>
            <a:srgbClr val="8497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Parallelogram 3"/>
          <p:cNvSpPr/>
          <p:nvPr/>
        </p:nvSpPr>
        <p:spPr>
          <a:xfrm>
            <a:off x="8732520" y="0"/>
            <a:ext cx="969264" cy="1005840"/>
          </a:xfrm>
          <a:prstGeom prst="parallelogram">
            <a:avLst/>
          </a:prstGeom>
          <a:solidFill>
            <a:srgbClr val="85B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Parallelogram 4"/>
          <p:cNvSpPr/>
          <p:nvPr/>
        </p:nvSpPr>
        <p:spPr>
          <a:xfrm>
            <a:off x="9747504" y="0"/>
            <a:ext cx="1005840" cy="1005840"/>
          </a:xfrm>
          <a:prstGeom prst="parallelogram">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30352" y="347472"/>
            <a:ext cx="8321040" cy="512064"/>
          </a:xfrm>
          <a:prstGeom prst="rect">
            <a:avLst/>
          </a:prstGeom>
          <a:noFill/>
        </p:spPr>
        <p:txBody>
          <a:bodyPr wrap="none">
            <a:spAutoFit/>
          </a:bodyPr>
          <a:lstStyle/>
          <a:p>
            <a:r>
              <a:rPr sz="2700" b="1">
                <a:solidFill>
                  <a:srgbClr val="0F3F6F"/>
                </a:solidFill>
                <a:latin typeface="Aptos Narrow"/>
              </a:rPr>
              <a:t>Thách thức khi triển khai Big Data trong công nghiệp</a:t>
            </a:r>
          </a:p>
        </p:txBody>
      </p:sp>
      <p:sp>
        <p:nvSpPr>
          <p:cNvPr id="7" name="TextBox 6"/>
          <p:cNvSpPr txBox="1"/>
          <p:nvPr/>
        </p:nvSpPr>
        <p:spPr>
          <a:xfrm>
            <a:off x="11475720" y="6492240"/>
            <a:ext cx="384048" cy="182880"/>
          </a:xfrm>
          <a:prstGeom prst="rect">
            <a:avLst/>
          </a:prstGeom>
          <a:noFill/>
        </p:spPr>
        <p:txBody>
          <a:bodyPr wrap="none">
            <a:spAutoFit/>
          </a:bodyPr>
          <a:lstStyle/>
          <a:p>
            <a:pPr algn="r"/>
            <a:r>
              <a:rPr sz="800">
                <a:solidFill>
                  <a:srgbClr val="5F5F5F"/>
                </a:solidFill>
                <a:latin typeface="Aptos"/>
              </a:rPr>
              <a:t>36</a:t>
            </a:r>
          </a:p>
        </p:txBody>
      </p:sp>
      <p:pic>
        <p:nvPicPr>
          <p:cNvPr id="8" name="Picture 7" descr="body-25.png"/>
          <p:cNvPicPr>
            <a:picLocks noChangeAspect="1"/>
          </p:cNvPicPr>
          <p:nvPr/>
        </p:nvPicPr>
        <p:blipFill>
          <a:blip r:embed="rId2"/>
          <a:stretch>
            <a:fillRect/>
          </a:stretch>
        </p:blipFill>
        <p:spPr>
          <a:xfrm>
            <a:off x="1397186" y="969264"/>
            <a:ext cx="9083683" cy="5605272"/>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210312"/>
          </a:xfrm>
          <a:prstGeom prst="rect">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Parallelogram 2"/>
          <p:cNvSpPr/>
          <p:nvPr/>
        </p:nvSpPr>
        <p:spPr>
          <a:xfrm>
            <a:off x="8339327" y="0"/>
            <a:ext cx="640080" cy="210312"/>
          </a:xfrm>
          <a:prstGeom prst="parallelogram">
            <a:avLst/>
          </a:prstGeom>
          <a:solidFill>
            <a:srgbClr val="8497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Parallelogram 3"/>
          <p:cNvSpPr/>
          <p:nvPr/>
        </p:nvSpPr>
        <p:spPr>
          <a:xfrm>
            <a:off x="8732520" y="0"/>
            <a:ext cx="969264" cy="1005840"/>
          </a:xfrm>
          <a:prstGeom prst="parallelogram">
            <a:avLst/>
          </a:prstGeom>
          <a:solidFill>
            <a:srgbClr val="85B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Parallelogram 4"/>
          <p:cNvSpPr/>
          <p:nvPr/>
        </p:nvSpPr>
        <p:spPr>
          <a:xfrm>
            <a:off x="9747504" y="0"/>
            <a:ext cx="1005840" cy="1005840"/>
          </a:xfrm>
          <a:prstGeom prst="parallelogram">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8368" y="1389888"/>
            <a:ext cx="2743200" cy="411480"/>
          </a:xfrm>
          <a:prstGeom prst="rect">
            <a:avLst/>
          </a:prstGeom>
          <a:noFill/>
        </p:spPr>
        <p:txBody>
          <a:bodyPr wrap="none">
            <a:spAutoFit/>
          </a:bodyPr>
          <a:lstStyle/>
          <a:p>
            <a:r>
              <a:rPr sz="2200" b="1">
                <a:solidFill>
                  <a:srgbClr val="85B518"/>
                </a:solidFill>
                <a:latin typeface="Aptos Narrow"/>
              </a:rPr>
              <a:t>PHẦN 1.5</a:t>
            </a:r>
          </a:p>
        </p:txBody>
      </p:sp>
      <p:sp>
        <p:nvSpPr>
          <p:cNvPr id="7" name="TextBox 6"/>
          <p:cNvSpPr txBox="1"/>
          <p:nvPr/>
        </p:nvSpPr>
        <p:spPr>
          <a:xfrm>
            <a:off x="658368" y="2011680"/>
            <a:ext cx="10241280" cy="1325880"/>
          </a:xfrm>
          <a:prstGeom prst="rect">
            <a:avLst/>
          </a:prstGeom>
          <a:noFill/>
        </p:spPr>
        <p:txBody>
          <a:bodyPr wrap="none">
            <a:spAutoFit/>
          </a:bodyPr>
          <a:lstStyle/>
          <a:p>
            <a:r>
              <a:rPr sz="3700" b="1">
                <a:solidFill>
                  <a:srgbClr val="0F3F6F"/>
                </a:solidFill>
                <a:latin typeface="Aptos Narrow"/>
              </a:rPr>
              <a:t>Thực hành &amp; Thảo luận</a:t>
            </a:r>
          </a:p>
        </p:txBody>
      </p:sp>
      <p:sp>
        <p:nvSpPr>
          <p:cNvPr id="8" name="TextBox 7"/>
          <p:cNvSpPr txBox="1"/>
          <p:nvPr/>
        </p:nvSpPr>
        <p:spPr>
          <a:xfrm>
            <a:off x="685800" y="3364992"/>
            <a:ext cx="10012680" cy="914400"/>
          </a:xfrm>
          <a:prstGeom prst="rect">
            <a:avLst/>
          </a:prstGeom>
          <a:noFill/>
        </p:spPr>
        <p:txBody>
          <a:bodyPr wrap="none">
            <a:spAutoFit/>
          </a:bodyPr>
          <a:lstStyle/>
          <a:p>
            <a:r>
              <a:rPr sz="1800">
                <a:solidFill>
                  <a:srgbClr val="435266"/>
                </a:solidFill>
                <a:latin typeface="Aptos"/>
              </a:rPr>
              <a:t>Phân tích case study, khai thác dữ liệu thật và thảo luận nhóm</a:t>
            </a:r>
          </a:p>
        </p:txBody>
      </p:sp>
      <p:sp>
        <p:nvSpPr>
          <p:cNvPr id="9" name="Rectangle 8"/>
          <p:cNvSpPr/>
          <p:nvPr/>
        </p:nvSpPr>
        <p:spPr>
          <a:xfrm>
            <a:off x="685800" y="4974336"/>
            <a:ext cx="5212080" cy="50292"/>
          </a:xfrm>
          <a:prstGeom prst="rect">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016752" y="4974336"/>
            <a:ext cx="1143000" cy="50292"/>
          </a:xfrm>
          <a:prstGeom prst="rect">
            <a:avLst/>
          </a:prstGeom>
          <a:solidFill>
            <a:srgbClr val="85B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1475720" y="6492240"/>
            <a:ext cx="384048" cy="182880"/>
          </a:xfrm>
          <a:prstGeom prst="rect">
            <a:avLst/>
          </a:prstGeom>
          <a:noFill/>
        </p:spPr>
        <p:txBody>
          <a:bodyPr wrap="none">
            <a:spAutoFit/>
          </a:bodyPr>
          <a:lstStyle/>
          <a:p>
            <a:pPr algn="r"/>
            <a:r>
              <a:rPr sz="800">
                <a:solidFill>
                  <a:srgbClr val="5F5F5F"/>
                </a:solidFill>
                <a:latin typeface="Aptos"/>
              </a:rPr>
              <a:t>37</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210312"/>
          </a:xfrm>
          <a:prstGeom prst="rect">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Parallelogram 2"/>
          <p:cNvSpPr/>
          <p:nvPr/>
        </p:nvSpPr>
        <p:spPr>
          <a:xfrm>
            <a:off x="8339327" y="0"/>
            <a:ext cx="640080" cy="210312"/>
          </a:xfrm>
          <a:prstGeom prst="parallelogram">
            <a:avLst/>
          </a:prstGeom>
          <a:solidFill>
            <a:srgbClr val="8497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Parallelogram 3"/>
          <p:cNvSpPr/>
          <p:nvPr/>
        </p:nvSpPr>
        <p:spPr>
          <a:xfrm>
            <a:off x="8732520" y="0"/>
            <a:ext cx="969264" cy="1005840"/>
          </a:xfrm>
          <a:prstGeom prst="parallelogram">
            <a:avLst/>
          </a:prstGeom>
          <a:solidFill>
            <a:srgbClr val="85B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Parallelogram 4"/>
          <p:cNvSpPr/>
          <p:nvPr/>
        </p:nvSpPr>
        <p:spPr>
          <a:xfrm>
            <a:off x="9747504" y="0"/>
            <a:ext cx="1005840" cy="1005840"/>
          </a:xfrm>
          <a:prstGeom prst="parallelogram">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30352" y="347472"/>
            <a:ext cx="8321040" cy="512064"/>
          </a:xfrm>
          <a:prstGeom prst="rect">
            <a:avLst/>
          </a:prstGeom>
          <a:noFill/>
        </p:spPr>
        <p:txBody>
          <a:bodyPr wrap="none">
            <a:spAutoFit/>
          </a:bodyPr>
          <a:lstStyle/>
          <a:p>
            <a:r>
              <a:rPr sz="2700" b="1">
                <a:solidFill>
                  <a:srgbClr val="0F3F6F"/>
                </a:solidFill>
                <a:latin typeface="Aptos Narrow"/>
              </a:rPr>
              <a:t>Thực hành 1 — Phân tích Case study doanh nghiệp</a:t>
            </a:r>
          </a:p>
        </p:txBody>
      </p:sp>
      <p:sp>
        <p:nvSpPr>
          <p:cNvPr id="7" name="TextBox 6"/>
          <p:cNvSpPr txBox="1"/>
          <p:nvPr/>
        </p:nvSpPr>
        <p:spPr>
          <a:xfrm>
            <a:off x="11475720" y="6492240"/>
            <a:ext cx="384048" cy="182880"/>
          </a:xfrm>
          <a:prstGeom prst="rect">
            <a:avLst/>
          </a:prstGeom>
          <a:noFill/>
        </p:spPr>
        <p:txBody>
          <a:bodyPr wrap="none">
            <a:spAutoFit/>
          </a:bodyPr>
          <a:lstStyle/>
          <a:p>
            <a:pPr algn="r"/>
            <a:r>
              <a:rPr sz="800">
                <a:solidFill>
                  <a:srgbClr val="5F5F5F"/>
                </a:solidFill>
                <a:latin typeface="Aptos"/>
              </a:rPr>
              <a:t>38</a:t>
            </a:r>
          </a:p>
        </p:txBody>
      </p:sp>
      <p:pic>
        <p:nvPicPr>
          <p:cNvPr id="8" name="Picture 7" descr="body-27.png"/>
          <p:cNvPicPr>
            <a:picLocks noChangeAspect="1"/>
          </p:cNvPicPr>
          <p:nvPr/>
        </p:nvPicPr>
        <p:blipFill>
          <a:blip r:embed="rId2"/>
          <a:stretch>
            <a:fillRect/>
          </a:stretch>
        </p:blipFill>
        <p:spPr>
          <a:xfrm>
            <a:off x="1397186" y="969264"/>
            <a:ext cx="9083683" cy="5605272"/>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210312"/>
          </a:xfrm>
          <a:prstGeom prst="rect">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Parallelogram 2"/>
          <p:cNvSpPr/>
          <p:nvPr/>
        </p:nvSpPr>
        <p:spPr>
          <a:xfrm>
            <a:off x="8339327" y="0"/>
            <a:ext cx="640080" cy="210312"/>
          </a:xfrm>
          <a:prstGeom prst="parallelogram">
            <a:avLst/>
          </a:prstGeom>
          <a:solidFill>
            <a:srgbClr val="8497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Parallelogram 3"/>
          <p:cNvSpPr/>
          <p:nvPr/>
        </p:nvSpPr>
        <p:spPr>
          <a:xfrm>
            <a:off x="8732520" y="0"/>
            <a:ext cx="969264" cy="1005840"/>
          </a:xfrm>
          <a:prstGeom prst="parallelogram">
            <a:avLst/>
          </a:prstGeom>
          <a:solidFill>
            <a:srgbClr val="85B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Parallelogram 4"/>
          <p:cNvSpPr/>
          <p:nvPr/>
        </p:nvSpPr>
        <p:spPr>
          <a:xfrm>
            <a:off x="9747504" y="0"/>
            <a:ext cx="1005840" cy="1005840"/>
          </a:xfrm>
          <a:prstGeom prst="parallelogram">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30352" y="347472"/>
            <a:ext cx="8321040" cy="512064"/>
          </a:xfrm>
          <a:prstGeom prst="rect">
            <a:avLst/>
          </a:prstGeom>
          <a:noFill/>
        </p:spPr>
        <p:txBody>
          <a:bodyPr wrap="none">
            <a:spAutoFit/>
          </a:bodyPr>
          <a:lstStyle/>
          <a:p>
            <a:r>
              <a:rPr sz="2700" b="1">
                <a:solidFill>
                  <a:srgbClr val="0F3F6F"/>
                </a:solidFill>
                <a:latin typeface="Aptos Narrow"/>
              </a:rPr>
              <a:t>Thực hành 2 — Khai thác dataset thực tế</a:t>
            </a:r>
          </a:p>
        </p:txBody>
      </p:sp>
      <p:sp>
        <p:nvSpPr>
          <p:cNvPr id="7" name="TextBox 6"/>
          <p:cNvSpPr txBox="1"/>
          <p:nvPr/>
        </p:nvSpPr>
        <p:spPr>
          <a:xfrm>
            <a:off x="11475720" y="6492240"/>
            <a:ext cx="384048" cy="182880"/>
          </a:xfrm>
          <a:prstGeom prst="rect">
            <a:avLst/>
          </a:prstGeom>
          <a:noFill/>
        </p:spPr>
        <p:txBody>
          <a:bodyPr wrap="none">
            <a:spAutoFit/>
          </a:bodyPr>
          <a:lstStyle/>
          <a:p>
            <a:pPr algn="r"/>
            <a:r>
              <a:rPr sz="800">
                <a:solidFill>
                  <a:srgbClr val="5F5F5F"/>
                </a:solidFill>
                <a:latin typeface="Aptos"/>
              </a:rPr>
              <a:t>39</a:t>
            </a:r>
          </a:p>
        </p:txBody>
      </p:sp>
      <p:pic>
        <p:nvPicPr>
          <p:cNvPr id="8" name="Picture 7" descr="body-28.png"/>
          <p:cNvPicPr>
            <a:picLocks noChangeAspect="1"/>
          </p:cNvPicPr>
          <p:nvPr/>
        </p:nvPicPr>
        <p:blipFill>
          <a:blip r:embed="rId2"/>
          <a:stretch>
            <a:fillRect/>
          </a:stretch>
        </p:blipFill>
        <p:spPr>
          <a:xfrm>
            <a:off x="1397186" y="969264"/>
            <a:ext cx="9083683" cy="5605272"/>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210312"/>
          </a:xfrm>
          <a:prstGeom prst="rect">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Parallelogram 2"/>
          <p:cNvSpPr/>
          <p:nvPr/>
        </p:nvSpPr>
        <p:spPr>
          <a:xfrm>
            <a:off x="8339327" y="0"/>
            <a:ext cx="640080" cy="210312"/>
          </a:xfrm>
          <a:prstGeom prst="parallelogram">
            <a:avLst/>
          </a:prstGeom>
          <a:solidFill>
            <a:srgbClr val="8497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Parallelogram 3"/>
          <p:cNvSpPr/>
          <p:nvPr/>
        </p:nvSpPr>
        <p:spPr>
          <a:xfrm>
            <a:off x="8732520" y="0"/>
            <a:ext cx="969264" cy="1005840"/>
          </a:xfrm>
          <a:prstGeom prst="parallelogram">
            <a:avLst/>
          </a:prstGeom>
          <a:solidFill>
            <a:srgbClr val="85B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Parallelogram 4"/>
          <p:cNvSpPr/>
          <p:nvPr/>
        </p:nvSpPr>
        <p:spPr>
          <a:xfrm>
            <a:off x="9747504" y="0"/>
            <a:ext cx="1005840" cy="1005840"/>
          </a:xfrm>
          <a:prstGeom prst="parallelogram">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30352" y="347472"/>
            <a:ext cx="8321040" cy="512064"/>
          </a:xfrm>
          <a:prstGeom prst="rect">
            <a:avLst/>
          </a:prstGeom>
          <a:noFill/>
        </p:spPr>
        <p:txBody>
          <a:bodyPr wrap="none">
            <a:spAutoFit/>
          </a:bodyPr>
          <a:lstStyle/>
          <a:p>
            <a:r>
              <a:rPr sz="2700" b="1">
                <a:solidFill>
                  <a:srgbClr val="0F3F6F"/>
                </a:solidFill>
                <a:latin typeface="Aptos Narrow"/>
              </a:rPr>
              <a:t>Thảo luận nhóm</a:t>
            </a:r>
          </a:p>
        </p:txBody>
      </p:sp>
      <p:sp>
        <p:nvSpPr>
          <p:cNvPr id="7" name="TextBox 6"/>
          <p:cNvSpPr txBox="1"/>
          <p:nvPr/>
        </p:nvSpPr>
        <p:spPr>
          <a:xfrm>
            <a:off x="11475720" y="6492240"/>
            <a:ext cx="384048" cy="182880"/>
          </a:xfrm>
          <a:prstGeom prst="rect">
            <a:avLst/>
          </a:prstGeom>
          <a:noFill/>
        </p:spPr>
        <p:txBody>
          <a:bodyPr wrap="none">
            <a:spAutoFit/>
          </a:bodyPr>
          <a:lstStyle/>
          <a:p>
            <a:pPr algn="r"/>
            <a:r>
              <a:rPr sz="800">
                <a:solidFill>
                  <a:srgbClr val="5F5F5F"/>
                </a:solidFill>
                <a:latin typeface="Aptos"/>
              </a:rPr>
              <a:t>40</a:t>
            </a:r>
          </a:p>
        </p:txBody>
      </p:sp>
      <p:pic>
        <p:nvPicPr>
          <p:cNvPr id="8" name="Picture 7" descr="body-29.png"/>
          <p:cNvPicPr>
            <a:picLocks noChangeAspect="1"/>
          </p:cNvPicPr>
          <p:nvPr/>
        </p:nvPicPr>
        <p:blipFill>
          <a:blip r:embed="rId2"/>
          <a:stretch>
            <a:fillRect/>
          </a:stretch>
        </p:blipFill>
        <p:spPr>
          <a:xfrm>
            <a:off x="1397186" y="969264"/>
            <a:ext cx="9083683" cy="5605272"/>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210312"/>
          </a:xfrm>
          <a:prstGeom prst="rect">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Parallelogram 2"/>
          <p:cNvSpPr/>
          <p:nvPr/>
        </p:nvSpPr>
        <p:spPr>
          <a:xfrm>
            <a:off x="8339327" y="0"/>
            <a:ext cx="640080" cy="210312"/>
          </a:xfrm>
          <a:prstGeom prst="parallelogram">
            <a:avLst/>
          </a:prstGeom>
          <a:solidFill>
            <a:srgbClr val="8497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Parallelogram 3"/>
          <p:cNvSpPr/>
          <p:nvPr/>
        </p:nvSpPr>
        <p:spPr>
          <a:xfrm>
            <a:off x="8732520" y="0"/>
            <a:ext cx="969264" cy="1005840"/>
          </a:xfrm>
          <a:prstGeom prst="parallelogram">
            <a:avLst/>
          </a:prstGeom>
          <a:solidFill>
            <a:srgbClr val="85B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Parallelogram 4"/>
          <p:cNvSpPr/>
          <p:nvPr/>
        </p:nvSpPr>
        <p:spPr>
          <a:xfrm>
            <a:off x="9747504" y="0"/>
            <a:ext cx="1005840" cy="1005840"/>
          </a:xfrm>
          <a:prstGeom prst="parallelogram">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30352" y="347472"/>
            <a:ext cx="8321040" cy="512064"/>
          </a:xfrm>
          <a:prstGeom prst="rect">
            <a:avLst/>
          </a:prstGeom>
          <a:noFill/>
        </p:spPr>
        <p:txBody>
          <a:bodyPr wrap="none">
            <a:spAutoFit/>
          </a:bodyPr>
          <a:lstStyle/>
          <a:p>
            <a:r>
              <a:rPr sz="2700" b="1">
                <a:solidFill>
                  <a:srgbClr val="0F3F6F"/>
                </a:solidFill>
                <a:latin typeface="Aptos Narrow"/>
              </a:rPr>
              <a:t>Mini quiz &amp; tình huống thảo luận</a:t>
            </a:r>
          </a:p>
        </p:txBody>
      </p:sp>
      <p:sp>
        <p:nvSpPr>
          <p:cNvPr id="7" name="TextBox 6"/>
          <p:cNvSpPr txBox="1"/>
          <p:nvPr/>
        </p:nvSpPr>
        <p:spPr>
          <a:xfrm>
            <a:off x="11475720" y="6492240"/>
            <a:ext cx="384048" cy="182880"/>
          </a:xfrm>
          <a:prstGeom prst="rect">
            <a:avLst/>
          </a:prstGeom>
          <a:noFill/>
        </p:spPr>
        <p:txBody>
          <a:bodyPr wrap="none">
            <a:spAutoFit/>
          </a:bodyPr>
          <a:lstStyle/>
          <a:p>
            <a:pPr algn="r"/>
            <a:r>
              <a:rPr sz="800">
                <a:solidFill>
                  <a:srgbClr val="5F5F5F"/>
                </a:solidFill>
                <a:latin typeface="Aptos"/>
              </a:rPr>
              <a:t>41</a:t>
            </a:r>
          </a:p>
        </p:txBody>
      </p:sp>
      <p:sp>
        <p:nvSpPr>
          <p:cNvPr id="8" name="Rounded Rectangle 7"/>
          <p:cNvSpPr/>
          <p:nvPr/>
        </p:nvSpPr>
        <p:spPr>
          <a:xfrm>
            <a:off x="658368" y="1234440"/>
            <a:ext cx="10972800" cy="4754880"/>
          </a:xfrm>
          <a:prstGeom prst="roundRect">
            <a:avLst/>
          </a:prstGeom>
          <a:solidFill>
            <a:srgbClr val="F0F4F7"/>
          </a:solidFill>
          <a:ln>
            <a:solidFill>
              <a:srgbClr val="DAD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96112" y="1554480"/>
            <a:ext cx="10424160" cy="4251960"/>
          </a:xfrm>
          <a:prstGeom prst="rect">
            <a:avLst/>
          </a:prstGeom>
          <a:noFill/>
        </p:spPr>
        <p:txBody>
          <a:bodyPr wrap="square">
            <a:spAutoFit/>
          </a:bodyPr>
          <a:lstStyle/>
          <a:p>
            <a:pPr>
              <a:spcAft>
                <a:spcPts val="1000"/>
              </a:spcAft>
            </a:pPr>
            <a:r>
              <a:rPr sz="1900" b="1">
                <a:solidFill>
                  <a:srgbClr val="435266"/>
                </a:solidFill>
                <a:latin typeface="Aptos"/>
              </a:rPr>
              <a:t>1) Nếu nhà máy muốn cảnh báo rung động bất thường của động cơ theo thời gian thực, bạn ưu tiên batch hay stream? Vì sao?</a:t>
            </a:r>
          </a:p>
          <a:p>
            <a:pPr>
              <a:spcAft>
                <a:spcPts val="1000"/>
              </a:spcAft>
            </a:pPr>
            <a:r>
              <a:rPr sz="1900" b="1">
                <a:solidFill>
                  <a:srgbClr val="435266"/>
                </a:solidFill>
                <a:latin typeface="Aptos"/>
              </a:rPr>
              <a:t>2) Dữ liệu ảnh camera kiểm tra lỗi thuộc loại dữ liệu nào? Hãy nêu cách nó tạo ra giá trị cho doanh nghiệp.</a:t>
            </a:r>
          </a:p>
          <a:p>
            <a:pPr>
              <a:spcAft>
                <a:spcPts val="1000"/>
              </a:spcAft>
            </a:pPr>
            <a:r>
              <a:rPr sz="1900" b="1">
                <a:solidFill>
                  <a:srgbClr val="435266"/>
                </a:solidFill>
                <a:latin typeface="Aptos"/>
              </a:rPr>
              <a:t>3) Một dashboard cho thấy tỷ lệ lỗi tăng mạnh trong ca đêm. Bạn sẽ cần thêm những nguồn dữ liệu nào để điều tra?</a:t>
            </a:r>
          </a:p>
          <a:p>
            <a:pPr>
              <a:spcAft>
                <a:spcPts val="1000"/>
              </a:spcAft>
            </a:pPr>
            <a:r>
              <a:rPr sz="1900">
                <a:solidFill>
                  <a:srgbClr val="435266"/>
                </a:solidFill>
                <a:latin typeface="Aptos"/>
              </a:rPr>
              <a:t>4) Thảo luận nhóm: vẽ nhanh một pipeline Big Data đơn giản cho bài toán bảo trì dự đoán.</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210312"/>
          </a:xfrm>
          <a:prstGeom prst="rect">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Parallelogram 2"/>
          <p:cNvSpPr/>
          <p:nvPr/>
        </p:nvSpPr>
        <p:spPr>
          <a:xfrm>
            <a:off x="8339327" y="0"/>
            <a:ext cx="640080" cy="210312"/>
          </a:xfrm>
          <a:prstGeom prst="parallelogram">
            <a:avLst/>
          </a:prstGeom>
          <a:solidFill>
            <a:srgbClr val="8497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Parallelogram 3"/>
          <p:cNvSpPr/>
          <p:nvPr/>
        </p:nvSpPr>
        <p:spPr>
          <a:xfrm>
            <a:off x="8732520" y="0"/>
            <a:ext cx="969264" cy="1005840"/>
          </a:xfrm>
          <a:prstGeom prst="parallelogram">
            <a:avLst/>
          </a:prstGeom>
          <a:solidFill>
            <a:srgbClr val="85B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Parallelogram 4"/>
          <p:cNvSpPr/>
          <p:nvPr/>
        </p:nvSpPr>
        <p:spPr>
          <a:xfrm>
            <a:off x="9747504" y="0"/>
            <a:ext cx="1005840" cy="1005840"/>
          </a:xfrm>
          <a:prstGeom prst="parallelogram">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8368" y="1389888"/>
            <a:ext cx="2743200" cy="411480"/>
          </a:xfrm>
          <a:prstGeom prst="rect">
            <a:avLst/>
          </a:prstGeom>
          <a:noFill/>
        </p:spPr>
        <p:txBody>
          <a:bodyPr wrap="none">
            <a:spAutoFit/>
          </a:bodyPr>
          <a:lstStyle/>
          <a:p>
            <a:r>
              <a:rPr sz="2200" b="1">
                <a:solidFill>
                  <a:srgbClr val="85B518"/>
                </a:solidFill>
                <a:latin typeface="Aptos Narrow"/>
              </a:rPr>
              <a:t>PHẦN 1.6</a:t>
            </a:r>
          </a:p>
        </p:txBody>
      </p:sp>
      <p:sp>
        <p:nvSpPr>
          <p:cNvPr id="7" name="TextBox 6"/>
          <p:cNvSpPr txBox="1"/>
          <p:nvPr/>
        </p:nvSpPr>
        <p:spPr>
          <a:xfrm>
            <a:off x="658368" y="2011680"/>
            <a:ext cx="10241280" cy="1325880"/>
          </a:xfrm>
          <a:prstGeom prst="rect">
            <a:avLst/>
          </a:prstGeom>
          <a:noFill/>
        </p:spPr>
        <p:txBody>
          <a:bodyPr wrap="none">
            <a:spAutoFit/>
          </a:bodyPr>
          <a:lstStyle/>
          <a:p>
            <a:r>
              <a:rPr sz="3700" b="1">
                <a:solidFill>
                  <a:srgbClr val="0F3F6F"/>
                </a:solidFill>
                <a:latin typeface="Aptos Narrow"/>
              </a:rPr>
              <a:t>Minh họa hệ thống thực tế</a:t>
            </a:r>
          </a:p>
        </p:txBody>
      </p:sp>
      <p:sp>
        <p:nvSpPr>
          <p:cNvPr id="8" name="TextBox 7"/>
          <p:cNvSpPr txBox="1"/>
          <p:nvPr/>
        </p:nvSpPr>
        <p:spPr>
          <a:xfrm>
            <a:off x="685800" y="3364992"/>
            <a:ext cx="10012680" cy="914400"/>
          </a:xfrm>
          <a:prstGeom prst="rect">
            <a:avLst/>
          </a:prstGeom>
          <a:noFill/>
        </p:spPr>
        <p:txBody>
          <a:bodyPr wrap="none">
            <a:spAutoFit/>
          </a:bodyPr>
          <a:lstStyle/>
          <a:p>
            <a:r>
              <a:rPr sz="1800">
                <a:solidFill>
                  <a:srgbClr val="435266"/>
                </a:solidFill>
                <a:latin typeface="Aptos"/>
              </a:rPr>
              <a:t>Kiến trúc end-to-end của một hệ thống Big Data trong nhà máy thông minh</a:t>
            </a:r>
          </a:p>
        </p:txBody>
      </p:sp>
      <p:sp>
        <p:nvSpPr>
          <p:cNvPr id="9" name="Rectangle 8"/>
          <p:cNvSpPr/>
          <p:nvPr/>
        </p:nvSpPr>
        <p:spPr>
          <a:xfrm>
            <a:off x="685800" y="4974336"/>
            <a:ext cx="5212080" cy="50292"/>
          </a:xfrm>
          <a:prstGeom prst="rect">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016752" y="4974336"/>
            <a:ext cx="1143000" cy="50292"/>
          </a:xfrm>
          <a:prstGeom prst="rect">
            <a:avLst/>
          </a:prstGeom>
          <a:solidFill>
            <a:srgbClr val="85B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1475720" y="6492240"/>
            <a:ext cx="384048" cy="182880"/>
          </a:xfrm>
          <a:prstGeom prst="rect">
            <a:avLst/>
          </a:prstGeom>
          <a:noFill/>
        </p:spPr>
        <p:txBody>
          <a:bodyPr wrap="none">
            <a:spAutoFit/>
          </a:bodyPr>
          <a:lstStyle/>
          <a:p>
            <a:pPr algn="r"/>
            <a:r>
              <a:rPr sz="800">
                <a:solidFill>
                  <a:srgbClr val="5F5F5F"/>
                </a:solidFill>
                <a:latin typeface="Aptos"/>
              </a:rPr>
              <a:t>42</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210312"/>
          </a:xfrm>
          <a:prstGeom prst="rect">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Parallelogram 2"/>
          <p:cNvSpPr/>
          <p:nvPr/>
        </p:nvSpPr>
        <p:spPr>
          <a:xfrm>
            <a:off x="8339327" y="0"/>
            <a:ext cx="640080" cy="210312"/>
          </a:xfrm>
          <a:prstGeom prst="parallelogram">
            <a:avLst/>
          </a:prstGeom>
          <a:solidFill>
            <a:srgbClr val="8497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Parallelogram 3"/>
          <p:cNvSpPr/>
          <p:nvPr/>
        </p:nvSpPr>
        <p:spPr>
          <a:xfrm>
            <a:off x="8732520" y="0"/>
            <a:ext cx="969264" cy="1005840"/>
          </a:xfrm>
          <a:prstGeom prst="parallelogram">
            <a:avLst/>
          </a:prstGeom>
          <a:solidFill>
            <a:srgbClr val="85B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Parallelogram 4"/>
          <p:cNvSpPr/>
          <p:nvPr/>
        </p:nvSpPr>
        <p:spPr>
          <a:xfrm>
            <a:off x="9747504" y="0"/>
            <a:ext cx="1005840" cy="1005840"/>
          </a:xfrm>
          <a:prstGeom prst="parallelogram">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30352" y="347472"/>
            <a:ext cx="8321040" cy="512064"/>
          </a:xfrm>
          <a:prstGeom prst="rect">
            <a:avLst/>
          </a:prstGeom>
          <a:noFill/>
        </p:spPr>
        <p:txBody>
          <a:bodyPr wrap="none">
            <a:spAutoFit/>
          </a:bodyPr>
          <a:lstStyle/>
          <a:p>
            <a:r>
              <a:rPr sz="2700" b="1">
                <a:solidFill>
                  <a:srgbClr val="0F3F6F"/>
                </a:solidFill>
                <a:latin typeface="Aptos Narrow"/>
              </a:rPr>
              <a:t>Hệ thống Big Data trong nhà máy thông minh</a:t>
            </a:r>
          </a:p>
        </p:txBody>
      </p:sp>
      <p:sp>
        <p:nvSpPr>
          <p:cNvPr id="7" name="TextBox 6"/>
          <p:cNvSpPr txBox="1"/>
          <p:nvPr/>
        </p:nvSpPr>
        <p:spPr>
          <a:xfrm>
            <a:off x="11475720" y="6492240"/>
            <a:ext cx="384048" cy="182880"/>
          </a:xfrm>
          <a:prstGeom prst="rect">
            <a:avLst/>
          </a:prstGeom>
          <a:noFill/>
        </p:spPr>
        <p:txBody>
          <a:bodyPr wrap="none">
            <a:spAutoFit/>
          </a:bodyPr>
          <a:lstStyle/>
          <a:p>
            <a:pPr algn="r"/>
            <a:r>
              <a:rPr sz="800">
                <a:solidFill>
                  <a:srgbClr val="5F5F5F"/>
                </a:solidFill>
                <a:latin typeface="Aptos"/>
              </a:rPr>
              <a:t>43</a:t>
            </a:r>
          </a:p>
        </p:txBody>
      </p:sp>
      <p:pic>
        <p:nvPicPr>
          <p:cNvPr id="8" name="Picture 7" descr="body-31.png"/>
          <p:cNvPicPr>
            <a:picLocks noChangeAspect="1"/>
          </p:cNvPicPr>
          <p:nvPr/>
        </p:nvPicPr>
        <p:blipFill>
          <a:blip r:embed="rId2"/>
          <a:stretch>
            <a:fillRect/>
          </a:stretch>
        </p:blipFill>
        <p:spPr>
          <a:xfrm>
            <a:off x="1397186" y="969264"/>
            <a:ext cx="9083683" cy="5605272"/>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210312"/>
          </a:xfrm>
          <a:prstGeom prst="rect">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Parallelogram 2"/>
          <p:cNvSpPr/>
          <p:nvPr/>
        </p:nvSpPr>
        <p:spPr>
          <a:xfrm>
            <a:off x="8339327" y="0"/>
            <a:ext cx="640080" cy="210312"/>
          </a:xfrm>
          <a:prstGeom prst="parallelogram">
            <a:avLst/>
          </a:prstGeom>
          <a:solidFill>
            <a:srgbClr val="8497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Parallelogram 3"/>
          <p:cNvSpPr/>
          <p:nvPr/>
        </p:nvSpPr>
        <p:spPr>
          <a:xfrm>
            <a:off x="8732520" y="0"/>
            <a:ext cx="969264" cy="1005840"/>
          </a:xfrm>
          <a:prstGeom prst="parallelogram">
            <a:avLst/>
          </a:prstGeom>
          <a:solidFill>
            <a:srgbClr val="85B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Parallelogram 4"/>
          <p:cNvSpPr/>
          <p:nvPr/>
        </p:nvSpPr>
        <p:spPr>
          <a:xfrm>
            <a:off x="9747504" y="0"/>
            <a:ext cx="1005840" cy="1005840"/>
          </a:xfrm>
          <a:prstGeom prst="parallelogram">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30352" y="347472"/>
            <a:ext cx="8321040" cy="512064"/>
          </a:xfrm>
          <a:prstGeom prst="rect">
            <a:avLst/>
          </a:prstGeom>
          <a:noFill/>
        </p:spPr>
        <p:txBody>
          <a:bodyPr wrap="none">
            <a:spAutoFit/>
          </a:bodyPr>
          <a:lstStyle/>
          <a:p>
            <a:r>
              <a:rPr sz="2700" b="1">
                <a:solidFill>
                  <a:srgbClr val="0F3F6F"/>
                </a:solidFill>
                <a:latin typeface="Aptos Narrow"/>
              </a:rPr>
              <a:t>Từ cảm biến đến quyết định: luồng giá trị end-to-end</a:t>
            </a:r>
          </a:p>
        </p:txBody>
      </p:sp>
      <p:sp>
        <p:nvSpPr>
          <p:cNvPr id="7" name="TextBox 6"/>
          <p:cNvSpPr txBox="1"/>
          <p:nvPr/>
        </p:nvSpPr>
        <p:spPr>
          <a:xfrm>
            <a:off x="11475720" y="6492240"/>
            <a:ext cx="384048" cy="182880"/>
          </a:xfrm>
          <a:prstGeom prst="rect">
            <a:avLst/>
          </a:prstGeom>
          <a:noFill/>
        </p:spPr>
        <p:txBody>
          <a:bodyPr wrap="none">
            <a:spAutoFit/>
          </a:bodyPr>
          <a:lstStyle/>
          <a:p>
            <a:pPr algn="r"/>
            <a:r>
              <a:rPr sz="800">
                <a:solidFill>
                  <a:srgbClr val="5F5F5F"/>
                </a:solidFill>
                <a:latin typeface="Aptos"/>
              </a:rPr>
              <a:t>44</a:t>
            </a:r>
          </a:p>
        </p:txBody>
      </p:sp>
      <p:sp>
        <p:nvSpPr>
          <p:cNvPr id="8" name="TextBox 7"/>
          <p:cNvSpPr txBox="1"/>
          <p:nvPr/>
        </p:nvSpPr>
        <p:spPr>
          <a:xfrm>
            <a:off x="777240" y="987552"/>
            <a:ext cx="10607040" cy="320040"/>
          </a:xfrm>
          <a:prstGeom prst="rect">
            <a:avLst/>
          </a:prstGeom>
          <a:noFill/>
        </p:spPr>
        <p:txBody>
          <a:bodyPr wrap="none">
            <a:spAutoFit/>
          </a:bodyPr>
          <a:lstStyle/>
          <a:p>
            <a:r>
              <a:rPr sz="1300" i="1">
                <a:solidFill>
                  <a:srgbClr val="0F3F6F"/>
                </a:solidFill>
                <a:latin typeface="Aptos"/>
              </a:rPr>
              <a:t>Điểm quan trọng là vòng lặp dữ liệu phải quay trở lại hành động vận hành — đó mới là nơi Big Data tạo ra giá trị thực.</a:t>
            </a:r>
          </a:p>
        </p:txBody>
      </p:sp>
      <p:sp>
        <p:nvSpPr>
          <p:cNvPr id="9" name="Rounded Rectangle 8"/>
          <p:cNvSpPr/>
          <p:nvPr/>
        </p:nvSpPr>
        <p:spPr>
          <a:xfrm>
            <a:off x="640080" y="1965960"/>
            <a:ext cx="2057400" cy="2468880"/>
          </a:xfrm>
          <a:prstGeom prst="roundRect">
            <a:avLst/>
          </a:prstGeom>
          <a:solidFill>
            <a:srgbClr val="E7EEF5"/>
          </a:solidFill>
          <a:ln>
            <a:solidFill>
              <a:srgbClr val="D6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49808" y="2130552"/>
            <a:ext cx="1837943" cy="402336"/>
          </a:xfrm>
          <a:prstGeom prst="rect">
            <a:avLst/>
          </a:prstGeom>
          <a:noFill/>
        </p:spPr>
        <p:txBody>
          <a:bodyPr wrap="none">
            <a:spAutoFit/>
          </a:bodyPr>
          <a:lstStyle/>
          <a:p>
            <a:r>
              <a:rPr sz="1800" b="1">
                <a:solidFill>
                  <a:srgbClr val="0F3F6F"/>
                </a:solidFill>
                <a:latin typeface="Aptos Narrow"/>
              </a:rPr>
              <a:t>Sense</a:t>
            </a:r>
          </a:p>
        </p:txBody>
      </p:sp>
      <p:sp>
        <p:nvSpPr>
          <p:cNvPr id="11" name="TextBox 10"/>
          <p:cNvSpPr txBox="1"/>
          <p:nvPr/>
        </p:nvSpPr>
        <p:spPr>
          <a:xfrm>
            <a:off x="749808" y="2532888"/>
            <a:ext cx="1837943" cy="1792224"/>
          </a:xfrm>
          <a:prstGeom prst="rect">
            <a:avLst/>
          </a:prstGeom>
          <a:noFill/>
        </p:spPr>
        <p:txBody>
          <a:bodyPr wrap="square">
            <a:spAutoFit/>
          </a:bodyPr>
          <a:lstStyle/>
          <a:p>
            <a:r>
              <a:rPr sz="1450">
                <a:solidFill>
                  <a:srgbClr val="435266"/>
                </a:solidFill>
                <a:latin typeface="Aptos"/>
              </a:rPr>
              <a:t>• Cảm biến, camera, PLC</a:t>
            </a:r>
          </a:p>
          <a:p>
            <a:r>
              <a:rPr sz="1450">
                <a:solidFill>
                  <a:srgbClr val="435266"/>
                </a:solidFill>
                <a:latin typeface="Aptos"/>
              </a:rPr>
              <a:t>• Thu dữ liệu từ máy và môi trường</a:t>
            </a:r>
          </a:p>
        </p:txBody>
      </p:sp>
      <p:cxnSp>
        <p:nvCxnSpPr>
          <p:cNvPr id="12" name="Connector 11"/>
          <p:cNvCxnSpPr/>
          <p:nvPr/>
        </p:nvCxnSpPr>
        <p:spPr>
          <a:xfrm>
            <a:off x="2697480" y="3200400"/>
            <a:ext cx="566928" cy="0"/>
          </a:xfrm>
          <a:prstGeom prst="line">
            <a:avLst/>
          </a:prstGeom>
          <a:ln w="25400">
            <a:solidFill>
              <a:srgbClr val="0F3F6F"/>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355848" y="1965960"/>
            <a:ext cx="2057400" cy="2468880"/>
          </a:xfrm>
          <a:prstGeom prst="roundRect">
            <a:avLst/>
          </a:prstGeom>
          <a:solidFill>
            <a:srgbClr val="E9F3D6"/>
          </a:solidFill>
          <a:ln>
            <a:solidFill>
              <a:srgbClr val="D6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465576" y="2130552"/>
            <a:ext cx="1837943" cy="402336"/>
          </a:xfrm>
          <a:prstGeom prst="rect">
            <a:avLst/>
          </a:prstGeom>
          <a:noFill/>
        </p:spPr>
        <p:txBody>
          <a:bodyPr wrap="none">
            <a:spAutoFit/>
          </a:bodyPr>
          <a:lstStyle/>
          <a:p>
            <a:r>
              <a:rPr sz="1800" b="1">
                <a:solidFill>
                  <a:srgbClr val="0F3F6F"/>
                </a:solidFill>
                <a:latin typeface="Aptos Narrow"/>
              </a:rPr>
              <a:t>Store</a:t>
            </a:r>
          </a:p>
        </p:txBody>
      </p:sp>
      <p:sp>
        <p:nvSpPr>
          <p:cNvPr id="15" name="TextBox 14"/>
          <p:cNvSpPr txBox="1"/>
          <p:nvPr/>
        </p:nvSpPr>
        <p:spPr>
          <a:xfrm>
            <a:off x="3465576" y="2532888"/>
            <a:ext cx="1837943" cy="1792224"/>
          </a:xfrm>
          <a:prstGeom prst="rect">
            <a:avLst/>
          </a:prstGeom>
          <a:noFill/>
        </p:spPr>
        <p:txBody>
          <a:bodyPr wrap="square">
            <a:spAutoFit/>
          </a:bodyPr>
          <a:lstStyle/>
          <a:p>
            <a:r>
              <a:rPr sz="1450">
                <a:solidFill>
                  <a:srgbClr val="435266"/>
                </a:solidFill>
                <a:latin typeface="Aptos"/>
              </a:rPr>
              <a:t>• Lưu trữ vào Data Lake/HDFS</a:t>
            </a:r>
          </a:p>
          <a:p>
            <a:r>
              <a:rPr sz="1450">
                <a:solidFill>
                  <a:srgbClr val="435266"/>
                </a:solidFill>
                <a:latin typeface="Aptos"/>
              </a:rPr>
              <a:t>• Giữ cả dữ liệu thô và dữ liệu sạch</a:t>
            </a:r>
          </a:p>
        </p:txBody>
      </p:sp>
      <p:cxnSp>
        <p:nvCxnSpPr>
          <p:cNvPr id="16" name="Connector 15"/>
          <p:cNvCxnSpPr/>
          <p:nvPr/>
        </p:nvCxnSpPr>
        <p:spPr>
          <a:xfrm>
            <a:off x="5413248" y="3200400"/>
            <a:ext cx="566928" cy="0"/>
          </a:xfrm>
          <a:prstGeom prst="line">
            <a:avLst/>
          </a:prstGeom>
          <a:ln w="25400">
            <a:solidFill>
              <a:srgbClr val="0F3F6F"/>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071616" y="1965960"/>
            <a:ext cx="2057400" cy="2468880"/>
          </a:xfrm>
          <a:prstGeom prst="roundRect">
            <a:avLst/>
          </a:prstGeom>
          <a:solidFill>
            <a:srgbClr val="F0F4F7"/>
          </a:solidFill>
          <a:ln>
            <a:solidFill>
              <a:srgbClr val="D6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181344" y="2130552"/>
            <a:ext cx="1837943" cy="402336"/>
          </a:xfrm>
          <a:prstGeom prst="rect">
            <a:avLst/>
          </a:prstGeom>
          <a:noFill/>
        </p:spPr>
        <p:txBody>
          <a:bodyPr wrap="none">
            <a:spAutoFit/>
          </a:bodyPr>
          <a:lstStyle/>
          <a:p>
            <a:r>
              <a:rPr sz="1800" b="1">
                <a:solidFill>
                  <a:srgbClr val="0F3F6F"/>
                </a:solidFill>
                <a:latin typeface="Aptos Narrow"/>
              </a:rPr>
              <a:t>Analyze</a:t>
            </a:r>
          </a:p>
        </p:txBody>
      </p:sp>
      <p:sp>
        <p:nvSpPr>
          <p:cNvPr id="19" name="TextBox 18"/>
          <p:cNvSpPr txBox="1"/>
          <p:nvPr/>
        </p:nvSpPr>
        <p:spPr>
          <a:xfrm>
            <a:off x="6181344" y="2532888"/>
            <a:ext cx="1837943" cy="1792224"/>
          </a:xfrm>
          <a:prstGeom prst="rect">
            <a:avLst/>
          </a:prstGeom>
          <a:noFill/>
        </p:spPr>
        <p:txBody>
          <a:bodyPr wrap="square">
            <a:spAutoFit/>
          </a:bodyPr>
          <a:lstStyle/>
          <a:p>
            <a:r>
              <a:rPr sz="1450">
                <a:solidFill>
                  <a:srgbClr val="435266"/>
                </a:solidFill>
                <a:latin typeface="Aptos"/>
              </a:rPr>
              <a:t>• Spark/SQL/ML</a:t>
            </a:r>
          </a:p>
          <a:p>
            <a:r>
              <a:rPr sz="1450">
                <a:solidFill>
                  <a:srgbClr val="435266"/>
                </a:solidFill>
                <a:latin typeface="Aptos"/>
              </a:rPr>
              <a:t>• Tạo KPI, phát hiện bất thường, dự báo</a:t>
            </a:r>
          </a:p>
        </p:txBody>
      </p:sp>
      <p:cxnSp>
        <p:nvCxnSpPr>
          <p:cNvPr id="20" name="Connector 19"/>
          <p:cNvCxnSpPr/>
          <p:nvPr/>
        </p:nvCxnSpPr>
        <p:spPr>
          <a:xfrm>
            <a:off x="8129016" y="3200400"/>
            <a:ext cx="566928" cy="0"/>
          </a:xfrm>
          <a:prstGeom prst="line">
            <a:avLst/>
          </a:prstGeom>
          <a:ln w="25400">
            <a:solidFill>
              <a:srgbClr val="0F3F6F"/>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8787384" y="1965960"/>
            <a:ext cx="2057400" cy="2468880"/>
          </a:xfrm>
          <a:prstGeom prst="roundRect">
            <a:avLst/>
          </a:prstGeom>
          <a:solidFill>
            <a:srgbClr val="E7EEF5"/>
          </a:solidFill>
          <a:ln>
            <a:solidFill>
              <a:srgbClr val="D6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897111" y="2130552"/>
            <a:ext cx="1837943" cy="402336"/>
          </a:xfrm>
          <a:prstGeom prst="rect">
            <a:avLst/>
          </a:prstGeom>
          <a:noFill/>
        </p:spPr>
        <p:txBody>
          <a:bodyPr wrap="none">
            <a:spAutoFit/>
          </a:bodyPr>
          <a:lstStyle/>
          <a:p>
            <a:r>
              <a:rPr sz="1800" b="1">
                <a:solidFill>
                  <a:srgbClr val="0F3F6F"/>
                </a:solidFill>
                <a:latin typeface="Aptos Narrow"/>
              </a:rPr>
              <a:t>Act</a:t>
            </a:r>
          </a:p>
        </p:txBody>
      </p:sp>
      <p:sp>
        <p:nvSpPr>
          <p:cNvPr id="23" name="TextBox 22"/>
          <p:cNvSpPr txBox="1"/>
          <p:nvPr/>
        </p:nvSpPr>
        <p:spPr>
          <a:xfrm>
            <a:off x="8897111" y="2532888"/>
            <a:ext cx="1837943" cy="1792224"/>
          </a:xfrm>
          <a:prstGeom prst="rect">
            <a:avLst/>
          </a:prstGeom>
          <a:noFill/>
        </p:spPr>
        <p:txBody>
          <a:bodyPr wrap="square">
            <a:spAutoFit/>
          </a:bodyPr>
          <a:lstStyle/>
          <a:p>
            <a:r>
              <a:rPr sz="1450">
                <a:solidFill>
                  <a:srgbClr val="435266"/>
                </a:solidFill>
                <a:latin typeface="Aptos"/>
              </a:rPr>
              <a:t>• Dashboard/Cảnh báo</a:t>
            </a:r>
          </a:p>
          <a:p>
            <a:r>
              <a:rPr sz="1450">
                <a:solidFill>
                  <a:srgbClr val="435266"/>
                </a:solidFill>
                <a:latin typeface="Aptos"/>
              </a:rPr>
              <a:t>• Bảo trì, điều chỉnh line, quyết định quản trị</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210312"/>
          </a:xfrm>
          <a:prstGeom prst="rect">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Parallelogram 2"/>
          <p:cNvSpPr/>
          <p:nvPr/>
        </p:nvSpPr>
        <p:spPr>
          <a:xfrm>
            <a:off x="8339327" y="0"/>
            <a:ext cx="640080" cy="210312"/>
          </a:xfrm>
          <a:prstGeom prst="parallelogram">
            <a:avLst/>
          </a:prstGeom>
          <a:solidFill>
            <a:srgbClr val="8497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Parallelogram 3"/>
          <p:cNvSpPr/>
          <p:nvPr/>
        </p:nvSpPr>
        <p:spPr>
          <a:xfrm>
            <a:off x="8732520" y="0"/>
            <a:ext cx="969264" cy="1005840"/>
          </a:xfrm>
          <a:prstGeom prst="parallelogram">
            <a:avLst/>
          </a:prstGeom>
          <a:solidFill>
            <a:srgbClr val="85B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Parallelogram 4"/>
          <p:cNvSpPr/>
          <p:nvPr/>
        </p:nvSpPr>
        <p:spPr>
          <a:xfrm>
            <a:off x="9747504" y="0"/>
            <a:ext cx="1005840" cy="1005840"/>
          </a:xfrm>
          <a:prstGeom prst="parallelogram">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30352" y="347472"/>
            <a:ext cx="8321040" cy="512064"/>
          </a:xfrm>
          <a:prstGeom prst="rect">
            <a:avLst/>
          </a:prstGeom>
          <a:noFill/>
        </p:spPr>
        <p:txBody>
          <a:bodyPr wrap="none">
            <a:spAutoFit/>
          </a:bodyPr>
          <a:lstStyle/>
          <a:p>
            <a:r>
              <a:rPr sz="2700" b="1">
                <a:solidFill>
                  <a:srgbClr val="0F3F6F"/>
                </a:solidFill>
                <a:latin typeface="Aptos Narrow"/>
              </a:rPr>
              <a:t>Tóm tắt bài học</a:t>
            </a:r>
          </a:p>
        </p:txBody>
      </p:sp>
      <p:sp>
        <p:nvSpPr>
          <p:cNvPr id="7" name="TextBox 6"/>
          <p:cNvSpPr txBox="1"/>
          <p:nvPr/>
        </p:nvSpPr>
        <p:spPr>
          <a:xfrm>
            <a:off x="11475720" y="6492240"/>
            <a:ext cx="384048" cy="182880"/>
          </a:xfrm>
          <a:prstGeom prst="rect">
            <a:avLst/>
          </a:prstGeom>
          <a:noFill/>
        </p:spPr>
        <p:txBody>
          <a:bodyPr wrap="none">
            <a:spAutoFit/>
          </a:bodyPr>
          <a:lstStyle/>
          <a:p>
            <a:pPr algn="r"/>
            <a:r>
              <a:rPr sz="800">
                <a:solidFill>
                  <a:srgbClr val="5F5F5F"/>
                </a:solidFill>
                <a:latin typeface="Aptos"/>
              </a:rPr>
              <a:t>45</a:t>
            </a:r>
          </a:p>
        </p:txBody>
      </p:sp>
      <p:pic>
        <p:nvPicPr>
          <p:cNvPr id="8" name="Picture 7" descr="body-32.png"/>
          <p:cNvPicPr>
            <a:picLocks noChangeAspect="1"/>
          </p:cNvPicPr>
          <p:nvPr/>
        </p:nvPicPr>
        <p:blipFill>
          <a:blip r:embed="rId2"/>
          <a:stretch>
            <a:fillRect/>
          </a:stretch>
        </p:blipFill>
        <p:spPr>
          <a:xfrm>
            <a:off x="1397186" y="969264"/>
            <a:ext cx="9083683" cy="5605272"/>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210312"/>
          </a:xfrm>
          <a:prstGeom prst="rect">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Parallelogram 2"/>
          <p:cNvSpPr/>
          <p:nvPr/>
        </p:nvSpPr>
        <p:spPr>
          <a:xfrm>
            <a:off x="8339327" y="0"/>
            <a:ext cx="640080" cy="210312"/>
          </a:xfrm>
          <a:prstGeom prst="parallelogram">
            <a:avLst/>
          </a:prstGeom>
          <a:solidFill>
            <a:srgbClr val="8497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Parallelogram 3"/>
          <p:cNvSpPr/>
          <p:nvPr/>
        </p:nvSpPr>
        <p:spPr>
          <a:xfrm>
            <a:off x="8732520" y="0"/>
            <a:ext cx="969264" cy="1005840"/>
          </a:xfrm>
          <a:prstGeom prst="parallelogram">
            <a:avLst/>
          </a:prstGeom>
          <a:solidFill>
            <a:srgbClr val="85B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Parallelogram 4"/>
          <p:cNvSpPr/>
          <p:nvPr/>
        </p:nvSpPr>
        <p:spPr>
          <a:xfrm>
            <a:off x="9747504" y="0"/>
            <a:ext cx="1005840" cy="1005840"/>
          </a:xfrm>
          <a:prstGeom prst="parallelogram">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30352" y="347472"/>
            <a:ext cx="8321040" cy="512064"/>
          </a:xfrm>
          <a:prstGeom prst="rect">
            <a:avLst/>
          </a:prstGeom>
          <a:noFill/>
        </p:spPr>
        <p:txBody>
          <a:bodyPr wrap="none">
            <a:spAutoFit/>
          </a:bodyPr>
          <a:lstStyle/>
          <a:p>
            <a:r>
              <a:rPr sz="2700" b="1">
                <a:solidFill>
                  <a:srgbClr val="0F3F6F"/>
                </a:solidFill>
                <a:latin typeface="Aptos Narrow"/>
              </a:rPr>
              <a:t>Câu hỏi kiểm tra nhanh</a:t>
            </a:r>
          </a:p>
        </p:txBody>
      </p:sp>
      <p:sp>
        <p:nvSpPr>
          <p:cNvPr id="7" name="TextBox 6"/>
          <p:cNvSpPr txBox="1"/>
          <p:nvPr/>
        </p:nvSpPr>
        <p:spPr>
          <a:xfrm>
            <a:off x="11475720" y="6492240"/>
            <a:ext cx="384048" cy="182880"/>
          </a:xfrm>
          <a:prstGeom prst="rect">
            <a:avLst/>
          </a:prstGeom>
          <a:noFill/>
        </p:spPr>
        <p:txBody>
          <a:bodyPr wrap="none">
            <a:spAutoFit/>
          </a:bodyPr>
          <a:lstStyle/>
          <a:p>
            <a:pPr algn="r"/>
            <a:r>
              <a:rPr sz="800">
                <a:solidFill>
                  <a:srgbClr val="5F5F5F"/>
                </a:solidFill>
                <a:latin typeface="Aptos"/>
              </a:rPr>
              <a:t>46</a:t>
            </a:r>
          </a:p>
        </p:txBody>
      </p:sp>
      <p:pic>
        <p:nvPicPr>
          <p:cNvPr id="8" name="Picture 7" descr="body-33.png"/>
          <p:cNvPicPr>
            <a:picLocks noChangeAspect="1"/>
          </p:cNvPicPr>
          <p:nvPr/>
        </p:nvPicPr>
        <p:blipFill>
          <a:blip r:embed="rId2"/>
          <a:stretch>
            <a:fillRect/>
          </a:stretch>
        </p:blipFill>
        <p:spPr>
          <a:xfrm>
            <a:off x="1397186" y="969264"/>
            <a:ext cx="9083683" cy="5605272"/>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210312"/>
          </a:xfrm>
          <a:prstGeom prst="rect">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Parallelogram 2"/>
          <p:cNvSpPr/>
          <p:nvPr/>
        </p:nvSpPr>
        <p:spPr>
          <a:xfrm>
            <a:off x="8339327" y="0"/>
            <a:ext cx="640080" cy="210312"/>
          </a:xfrm>
          <a:prstGeom prst="parallelogram">
            <a:avLst/>
          </a:prstGeom>
          <a:solidFill>
            <a:srgbClr val="8497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Parallelogram 3"/>
          <p:cNvSpPr/>
          <p:nvPr/>
        </p:nvSpPr>
        <p:spPr>
          <a:xfrm>
            <a:off x="8732520" y="0"/>
            <a:ext cx="969264" cy="1005840"/>
          </a:xfrm>
          <a:prstGeom prst="parallelogram">
            <a:avLst/>
          </a:prstGeom>
          <a:solidFill>
            <a:srgbClr val="85B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Parallelogram 4"/>
          <p:cNvSpPr/>
          <p:nvPr/>
        </p:nvSpPr>
        <p:spPr>
          <a:xfrm>
            <a:off x="9747504" y="0"/>
            <a:ext cx="1005840" cy="1005840"/>
          </a:xfrm>
          <a:prstGeom prst="parallelogram">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600200"/>
            <a:ext cx="10241280" cy="868680"/>
          </a:xfrm>
          <a:prstGeom prst="rect">
            <a:avLst/>
          </a:prstGeom>
          <a:noFill/>
        </p:spPr>
        <p:txBody>
          <a:bodyPr wrap="none">
            <a:spAutoFit/>
          </a:bodyPr>
          <a:lstStyle/>
          <a:p>
            <a:pPr algn="ctr"/>
            <a:r>
              <a:rPr sz="4300" b="1">
                <a:solidFill>
                  <a:srgbClr val="0F3F6F"/>
                </a:solidFill>
                <a:latin typeface="Aptos Narrow"/>
              </a:rPr>
              <a:t>Cảm ơn đã theo dõi</a:t>
            </a:r>
          </a:p>
        </p:txBody>
      </p:sp>
      <p:sp>
        <p:nvSpPr>
          <p:cNvPr id="7" name="TextBox 6"/>
          <p:cNvSpPr txBox="1"/>
          <p:nvPr/>
        </p:nvSpPr>
        <p:spPr>
          <a:xfrm>
            <a:off x="960120" y="2743200"/>
            <a:ext cx="10241280" cy="868680"/>
          </a:xfrm>
          <a:prstGeom prst="rect">
            <a:avLst/>
          </a:prstGeom>
          <a:noFill/>
        </p:spPr>
        <p:txBody>
          <a:bodyPr wrap="none">
            <a:spAutoFit/>
          </a:bodyPr>
          <a:lstStyle/>
          <a:p>
            <a:pPr algn="ctr"/>
            <a:r>
              <a:rPr sz="2200" b="1">
                <a:solidFill>
                  <a:srgbClr val="0F3F6F"/>
                </a:solidFill>
                <a:latin typeface="Aptos"/>
              </a:rPr>
              <a:t>Bài tiếp theo:
Xu hướng hiện tại trong Big Data</a:t>
            </a:r>
          </a:p>
        </p:txBody>
      </p:sp>
      <p:sp>
        <p:nvSpPr>
          <p:cNvPr id="8" name="TextBox 7"/>
          <p:cNvSpPr txBox="1"/>
          <p:nvPr/>
        </p:nvSpPr>
        <p:spPr>
          <a:xfrm>
            <a:off x="868680" y="3977639"/>
            <a:ext cx="10469880" cy="1325880"/>
          </a:xfrm>
          <a:prstGeom prst="rect">
            <a:avLst/>
          </a:prstGeom>
          <a:noFill/>
        </p:spPr>
        <p:txBody>
          <a:bodyPr wrap="none">
            <a:spAutoFit/>
          </a:bodyPr>
          <a:lstStyle/>
          <a:p>
            <a:pPr algn="ctr"/>
            <a:r>
              <a:rPr sz="1500">
                <a:solidFill>
                  <a:srgbClr val="435266"/>
                </a:solidFill>
                <a:latin typeface="Aptos"/>
              </a:rPr>
              <a:t>Tài liệu tham khảo: đường link dataset và bài đọc thêm sẽ được chia sẻ trên LMS
Liên hệ giảng viên/trợ giảng nếu cần hỗ trợ khi thực hành với dataset
Chuẩn bị laptop có Python, Jupyter Notebook cho buổi thực hành tiếp theo</a:t>
            </a:r>
          </a:p>
        </p:txBody>
      </p:sp>
      <p:sp>
        <p:nvSpPr>
          <p:cNvPr id="9" name="TextBox 8"/>
          <p:cNvSpPr txBox="1"/>
          <p:nvPr/>
        </p:nvSpPr>
        <p:spPr>
          <a:xfrm>
            <a:off x="11475720" y="6492240"/>
            <a:ext cx="384048" cy="182880"/>
          </a:xfrm>
          <a:prstGeom prst="rect">
            <a:avLst/>
          </a:prstGeom>
          <a:noFill/>
        </p:spPr>
        <p:txBody>
          <a:bodyPr wrap="none">
            <a:spAutoFit/>
          </a:bodyPr>
          <a:lstStyle/>
          <a:p>
            <a:pPr algn="r"/>
            <a:r>
              <a:rPr sz="800">
                <a:solidFill>
                  <a:srgbClr val="5F5F5F"/>
                </a:solidFill>
                <a:latin typeface="Aptos"/>
              </a:rPr>
              <a:t>47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2219</Words>
  <Application>Microsoft Office PowerPoint</Application>
  <PresentationFormat>Widescreen</PresentationFormat>
  <Paragraphs>267</Paragraphs>
  <Slides>47</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47</vt:i4>
      </vt:variant>
    </vt:vector>
  </HeadingPairs>
  <TitlesOfParts>
    <vt:vector size="52" baseType="lpstr">
      <vt:lpstr>Aptos</vt:lpstr>
      <vt:lpstr>Aptos Narrow</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keywords/>
  <dc:description>generated using python-pptx</dc:description>
  <cp:lastModifiedBy>Sơn Vũ Minh</cp:lastModifiedBy>
  <cp:revision>3</cp:revision>
  <dcterms:created xsi:type="dcterms:W3CDTF">2013-01-27T09:14:16Z</dcterms:created>
  <dcterms:modified xsi:type="dcterms:W3CDTF">2026-08-23T09:33:09Z</dcterms:modified>
  <cp:category/>
</cp:coreProperties>
</file>